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76"/>
  </p:notesMasterIdLst>
  <p:sldIdLst>
    <p:sldId id="293" r:id="rId2"/>
    <p:sldId id="463" r:id="rId3"/>
    <p:sldId id="464" r:id="rId4"/>
    <p:sldId id="292" r:id="rId5"/>
    <p:sldId id="455" r:id="rId6"/>
    <p:sldId id="437" r:id="rId7"/>
    <p:sldId id="438" r:id="rId8"/>
    <p:sldId id="275" r:id="rId9"/>
    <p:sldId id="274" r:id="rId10"/>
    <p:sldId id="442" r:id="rId11"/>
    <p:sldId id="439" r:id="rId12"/>
    <p:sldId id="445" r:id="rId13"/>
    <p:sldId id="446" r:id="rId14"/>
    <p:sldId id="465" r:id="rId15"/>
    <p:sldId id="305" r:id="rId16"/>
    <p:sldId id="456" r:id="rId17"/>
    <p:sldId id="312" r:id="rId18"/>
    <p:sldId id="457" r:id="rId19"/>
    <p:sldId id="306" r:id="rId20"/>
    <p:sldId id="307" r:id="rId21"/>
    <p:sldId id="308" r:id="rId22"/>
    <p:sldId id="441" r:id="rId23"/>
    <p:sldId id="270" r:id="rId24"/>
    <p:sldId id="458" r:id="rId25"/>
    <p:sldId id="277" r:id="rId26"/>
    <p:sldId id="453" r:id="rId27"/>
    <p:sldId id="454" r:id="rId28"/>
    <p:sldId id="314" r:id="rId29"/>
    <p:sldId id="317" r:id="rId30"/>
    <p:sldId id="466" r:id="rId31"/>
    <p:sldId id="345" r:id="rId32"/>
    <p:sldId id="346" r:id="rId33"/>
    <p:sldId id="347" r:id="rId34"/>
    <p:sldId id="459" r:id="rId35"/>
    <p:sldId id="348" r:id="rId36"/>
    <p:sldId id="351" r:id="rId37"/>
    <p:sldId id="467" r:id="rId38"/>
    <p:sldId id="352" r:id="rId39"/>
    <p:sldId id="353" r:id="rId40"/>
    <p:sldId id="354" r:id="rId41"/>
    <p:sldId id="460" r:id="rId42"/>
    <p:sldId id="355" r:id="rId43"/>
    <p:sldId id="356" r:id="rId44"/>
    <p:sldId id="468" r:id="rId45"/>
    <p:sldId id="383" r:id="rId46"/>
    <p:sldId id="384" r:id="rId47"/>
    <p:sldId id="385" r:id="rId48"/>
    <p:sldId id="386" r:id="rId49"/>
    <p:sldId id="387" r:id="rId50"/>
    <p:sldId id="461" r:id="rId51"/>
    <p:sldId id="388" r:id="rId52"/>
    <p:sldId id="469" r:id="rId53"/>
    <p:sldId id="391" r:id="rId54"/>
    <p:sldId id="393" r:id="rId55"/>
    <p:sldId id="397" r:id="rId56"/>
    <p:sldId id="462" r:id="rId57"/>
    <p:sldId id="398" r:id="rId58"/>
    <p:sldId id="401" r:id="rId59"/>
    <p:sldId id="403" r:id="rId60"/>
    <p:sldId id="404" r:id="rId61"/>
    <p:sldId id="406" r:id="rId62"/>
    <p:sldId id="407" r:id="rId63"/>
    <p:sldId id="409" r:id="rId64"/>
    <p:sldId id="412" r:id="rId65"/>
    <p:sldId id="413" r:id="rId66"/>
    <p:sldId id="414" r:id="rId67"/>
    <p:sldId id="415" r:id="rId68"/>
    <p:sldId id="416" r:id="rId69"/>
    <p:sldId id="417" r:id="rId70"/>
    <p:sldId id="418" r:id="rId71"/>
    <p:sldId id="423" r:id="rId72"/>
    <p:sldId id="425" r:id="rId73"/>
    <p:sldId id="429" r:id="rId74"/>
    <p:sldId id="435" r:id="rId75"/>
  </p:sldIdLst>
  <p:sldSz cx="9144000" cy="6858000" type="screen4x3"/>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0" d="100"/>
          <a:sy n="100" d="100"/>
        </p:scale>
        <p:origin x="636"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4820"/>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idx="1"/>
          </p:nvPr>
        </p:nvSpPr>
        <p:spPr>
          <a:xfrm>
            <a:off x="3898102" y="0"/>
            <a:ext cx="2982119" cy="464820"/>
          </a:xfrm>
          <a:prstGeom prst="rect">
            <a:avLst/>
          </a:prstGeom>
        </p:spPr>
        <p:txBody>
          <a:bodyPr vert="horz" lIns="92446" tIns="46223" rIns="92446" bIns="46223" rtlCol="0"/>
          <a:lstStyle>
            <a:lvl1pPr algn="r">
              <a:defRPr sz="1200"/>
            </a:lvl1pPr>
          </a:lstStyle>
          <a:p>
            <a:fld id="{1AFF5A8A-91B6-49AF-B502-78DD55FB0E26}" type="datetimeFigureOut">
              <a:rPr lang="en-US" smtClean="0"/>
              <a:pPr/>
              <a:t>5/21/2025</a:t>
            </a:fld>
            <a:endParaRPr lang="en-US"/>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2446" tIns="46223" rIns="92446" bIns="46223" rtlCol="0" anchor="ctr"/>
          <a:lstStyle/>
          <a:p>
            <a:endParaRPr lang="en-US"/>
          </a:p>
        </p:txBody>
      </p:sp>
      <p:sp>
        <p:nvSpPr>
          <p:cNvPr id="5" name="Notes Placeholder 4"/>
          <p:cNvSpPr>
            <a:spLocks noGrp="1"/>
          </p:cNvSpPr>
          <p:nvPr>
            <p:ph type="body" sz="quarter" idx="3"/>
          </p:nvPr>
        </p:nvSpPr>
        <p:spPr>
          <a:xfrm>
            <a:off x="688182" y="4415790"/>
            <a:ext cx="5505450" cy="4183380"/>
          </a:xfrm>
          <a:prstGeom prst="rect">
            <a:avLst/>
          </a:prstGeom>
        </p:spPr>
        <p:txBody>
          <a:bodyPr vert="horz" lIns="92446" tIns="46223" rIns="92446" bIns="4622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2982119" cy="464820"/>
          </a:xfrm>
          <a:prstGeom prst="rect">
            <a:avLst/>
          </a:prstGeom>
        </p:spPr>
        <p:txBody>
          <a:bodyPr vert="horz" lIns="92446" tIns="46223" rIns="92446" bIns="46223" rtlCol="0" anchor="b"/>
          <a:lstStyle>
            <a:lvl1pPr algn="l">
              <a:defRPr sz="1200"/>
            </a:lvl1pPr>
          </a:lstStyle>
          <a:p>
            <a:endParaRPr lang="en-US"/>
          </a:p>
        </p:txBody>
      </p:sp>
      <p:sp>
        <p:nvSpPr>
          <p:cNvPr id="7" name="Slide Number Placeholder 6"/>
          <p:cNvSpPr>
            <a:spLocks noGrp="1"/>
          </p:cNvSpPr>
          <p:nvPr>
            <p:ph type="sldNum" sz="quarter" idx="5"/>
          </p:nvPr>
        </p:nvSpPr>
        <p:spPr>
          <a:xfrm>
            <a:off x="3898102" y="8829967"/>
            <a:ext cx="2982119" cy="464820"/>
          </a:xfrm>
          <a:prstGeom prst="rect">
            <a:avLst/>
          </a:prstGeom>
        </p:spPr>
        <p:txBody>
          <a:bodyPr vert="horz" lIns="92446" tIns="46223" rIns="92446" bIns="46223" rtlCol="0" anchor="b"/>
          <a:lstStyle>
            <a:lvl1pPr algn="r">
              <a:defRPr sz="1200"/>
            </a:lvl1pPr>
          </a:lstStyle>
          <a:p>
            <a:fld id="{B787B330-8172-408B-87BC-B9F455EB7E7E}" type="slidenum">
              <a:rPr lang="en-US" smtClean="0"/>
              <a:pPr/>
              <a:t>‹#›</a:t>
            </a:fld>
            <a:endParaRPr lang="en-US"/>
          </a:p>
        </p:txBody>
      </p:sp>
    </p:spTree>
    <p:extLst>
      <p:ext uri="{BB962C8B-B14F-4D97-AF65-F5344CB8AC3E}">
        <p14:creationId xmlns:p14="http://schemas.microsoft.com/office/powerpoint/2010/main" val="1701137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1</a:t>
            </a:fld>
            <a:endParaRPr lang="en-US"/>
          </a:p>
        </p:txBody>
      </p:sp>
    </p:spTree>
    <p:extLst>
      <p:ext uri="{BB962C8B-B14F-4D97-AF65-F5344CB8AC3E}">
        <p14:creationId xmlns:p14="http://schemas.microsoft.com/office/powerpoint/2010/main" val="20489051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4</a:t>
            </a:fld>
            <a:endParaRPr lang="en-US"/>
          </a:p>
        </p:txBody>
      </p:sp>
    </p:spTree>
    <p:extLst>
      <p:ext uri="{BB962C8B-B14F-4D97-AF65-F5344CB8AC3E}">
        <p14:creationId xmlns:p14="http://schemas.microsoft.com/office/powerpoint/2010/main" val="33079872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5</a:t>
            </a:fld>
            <a:endParaRPr lang="en-US"/>
          </a:p>
        </p:txBody>
      </p:sp>
    </p:spTree>
    <p:extLst>
      <p:ext uri="{BB962C8B-B14F-4D97-AF65-F5344CB8AC3E}">
        <p14:creationId xmlns:p14="http://schemas.microsoft.com/office/powerpoint/2010/main" val="29665845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6</a:t>
            </a:fld>
            <a:endParaRPr lang="en-US"/>
          </a:p>
        </p:txBody>
      </p:sp>
    </p:spTree>
    <p:extLst>
      <p:ext uri="{BB962C8B-B14F-4D97-AF65-F5344CB8AC3E}">
        <p14:creationId xmlns:p14="http://schemas.microsoft.com/office/powerpoint/2010/main" val="1861219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7</a:t>
            </a:fld>
            <a:endParaRPr lang="en-US"/>
          </a:p>
        </p:txBody>
      </p:sp>
    </p:spTree>
    <p:extLst>
      <p:ext uri="{BB962C8B-B14F-4D97-AF65-F5344CB8AC3E}">
        <p14:creationId xmlns:p14="http://schemas.microsoft.com/office/powerpoint/2010/main" val="2596752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8</a:t>
            </a:fld>
            <a:endParaRPr lang="en-US"/>
          </a:p>
        </p:txBody>
      </p:sp>
    </p:spTree>
    <p:extLst>
      <p:ext uri="{BB962C8B-B14F-4D97-AF65-F5344CB8AC3E}">
        <p14:creationId xmlns:p14="http://schemas.microsoft.com/office/powerpoint/2010/main" val="14068080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9</a:t>
            </a:fld>
            <a:endParaRPr lang="en-US"/>
          </a:p>
        </p:txBody>
      </p:sp>
    </p:spTree>
    <p:extLst>
      <p:ext uri="{BB962C8B-B14F-4D97-AF65-F5344CB8AC3E}">
        <p14:creationId xmlns:p14="http://schemas.microsoft.com/office/powerpoint/2010/main" val="22244732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10</a:t>
            </a:fld>
            <a:endParaRPr lang="en-US"/>
          </a:p>
        </p:txBody>
      </p:sp>
    </p:spTree>
    <p:extLst>
      <p:ext uri="{BB962C8B-B14F-4D97-AF65-F5344CB8AC3E}">
        <p14:creationId xmlns:p14="http://schemas.microsoft.com/office/powerpoint/2010/main" val="1132430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11</a:t>
            </a:fld>
            <a:endParaRPr lang="en-US"/>
          </a:p>
        </p:txBody>
      </p:sp>
    </p:spTree>
    <p:extLst>
      <p:ext uri="{BB962C8B-B14F-4D97-AF65-F5344CB8AC3E}">
        <p14:creationId xmlns:p14="http://schemas.microsoft.com/office/powerpoint/2010/main" val="1196973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bwMode="auto">
          <a:noFill/>
          <a:ln>
            <a:solidFill>
              <a:srgbClr val="000000"/>
            </a:solidFill>
            <a:miter lim="800000"/>
            <a:headEnd/>
            <a:tailEnd/>
          </a:ln>
        </p:spPr>
      </p:sp>
      <p:sp>
        <p:nvSpPr>
          <p:cNvPr id="7987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zh-CN"/>
          </a:p>
        </p:txBody>
      </p:sp>
      <p:sp>
        <p:nvSpPr>
          <p:cNvPr id="79876" name="Slide Number Placeholder 3"/>
          <p:cNvSpPr>
            <a:spLocks noGrp="1"/>
          </p:cNvSpPr>
          <p:nvPr>
            <p:ph type="sldNum" sz="quarter" idx="5"/>
          </p:nvPr>
        </p:nvSpPr>
        <p:spPr bwMode="auto">
          <a:noFill/>
          <a:ln>
            <a:miter lim="800000"/>
            <a:headEnd/>
            <a:tailEnd/>
          </a:ln>
        </p:spPr>
        <p:txBody>
          <a:bodyPr/>
          <a:lstStyle/>
          <a:p>
            <a:fld id="{04DA958C-CA31-4257-86ED-29BE7FA24AC6}" type="slidenum">
              <a:rPr lang="en-US" altLang="zh-CN"/>
              <a:pPr/>
              <a:t>12</a:t>
            </a:fld>
            <a:endParaRPr lang="en-US" altLang="zh-CN"/>
          </a:p>
        </p:txBody>
      </p:sp>
    </p:spTree>
    <p:extLst>
      <p:ext uri="{BB962C8B-B14F-4D97-AF65-F5344CB8AC3E}">
        <p14:creationId xmlns:p14="http://schemas.microsoft.com/office/powerpoint/2010/main" val="11660332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p:spPr>
      </p:sp>
      <p:sp>
        <p:nvSpPr>
          <p:cNvPr id="8089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zh-CN"/>
          </a:p>
        </p:txBody>
      </p:sp>
      <p:sp>
        <p:nvSpPr>
          <p:cNvPr id="80900" name="Slide Number Placeholder 3"/>
          <p:cNvSpPr>
            <a:spLocks noGrp="1"/>
          </p:cNvSpPr>
          <p:nvPr>
            <p:ph type="sldNum" sz="quarter" idx="5"/>
          </p:nvPr>
        </p:nvSpPr>
        <p:spPr bwMode="auto">
          <a:noFill/>
          <a:ln>
            <a:miter lim="800000"/>
            <a:headEnd/>
            <a:tailEnd/>
          </a:ln>
        </p:spPr>
        <p:txBody>
          <a:bodyPr/>
          <a:lstStyle/>
          <a:p>
            <a:fld id="{C3A23DCF-9525-49EB-87D5-6FA61660581D}" type="slidenum">
              <a:rPr lang="en-US" altLang="zh-CN"/>
              <a:pPr/>
              <a:t>13</a:t>
            </a:fld>
            <a:endParaRPr lang="en-US" altLang="zh-CN"/>
          </a:p>
        </p:txBody>
      </p:sp>
    </p:spTree>
    <p:extLst>
      <p:ext uri="{BB962C8B-B14F-4D97-AF65-F5344CB8AC3E}">
        <p14:creationId xmlns:p14="http://schemas.microsoft.com/office/powerpoint/2010/main" val="21516682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15</a:t>
            </a:fld>
            <a:endParaRPr lang="en-US"/>
          </a:p>
        </p:txBody>
      </p:sp>
    </p:spTree>
    <p:extLst>
      <p:ext uri="{BB962C8B-B14F-4D97-AF65-F5344CB8AC3E}">
        <p14:creationId xmlns:p14="http://schemas.microsoft.com/office/powerpoint/2010/main" val="21399956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16</a:t>
            </a:fld>
            <a:endParaRPr lang="en-US"/>
          </a:p>
        </p:txBody>
      </p:sp>
    </p:spTree>
    <p:extLst>
      <p:ext uri="{BB962C8B-B14F-4D97-AF65-F5344CB8AC3E}">
        <p14:creationId xmlns:p14="http://schemas.microsoft.com/office/powerpoint/2010/main" val="25737008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17</a:t>
            </a:fld>
            <a:endParaRPr lang="en-US"/>
          </a:p>
        </p:txBody>
      </p:sp>
    </p:spTree>
    <p:extLst>
      <p:ext uri="{BB962C8B-B14F-4D97-AF65-F5344CB8AC3E}">
        <p14:creationId xmlns:p14="http://schemas.microsoft.com/office/powerpoint/2010/main" val="228347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18</a:t>
            </a:fld>
            <a:endParaRPr lang="en-US"/>
          </a:p>
        </p:txBody>
      </p:sp>
    </p:spTree>
    <p:extLst>
      <p:ext uri="{BB962C8B-B14F-4D97-AF65-F5344CB8AC3E}">
        <p14:creationId xmlns:p14="http://schemas.microsoft.com/office/powerpoint/2010/main" val="36095531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19</a:t>
            </a:fld>
            <a:endParaRPr lang="en-US"/>
          </a:p>
        </p:txBody>
      </p:sp>
    </p:spTree>
    <p:extLst>
      <p:ext uri="{BB962C8B-B14F-4D97-AF65-F5344CB8AC3E}">
        <p14:creationId xmlns:p14="http://schemas.microsoft.com/office/powerpoint/2010/main" val="1252099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20</a:t>
            </a:fld>
            <a:endParaRPr lang="en-US"/>
          </a:p>
        </p:txBody>
      </p:sp>
    </p:spTree>
    <p:extLst>
      <p:ext uri="{BB962C8B-B14F-4D97-AF65-F5344CB8AC3E}">
        <p14:creationId xmlns:p14="http://schemas.microsoft.com/office/powerpoint/2010/main" val="39688272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21</a:t>
            </a:fld>
            <a:endParaRPr lang="en-US"/>
          </a:p>
        </p:txBody>
      </p:sp>
    </p:spTree>
    <p:extLst>
      <p:ext uri="{BB962C8B-B14F-4D97-AF65-F5344CB8AC3E}">
        <p14:creationId xmlns:p14="http://schemas.microsoft.com/office/powerpoint/2010/main" val="20504505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22</a:t>
            </a:fld>
            <a:endParaRPr lang="en-US"/>
          </a:p>
        </p:txBody>
      </p:sp>
    </p:spTree>
    <p:extLst>
      <p:ext uri="{BB962C8B-B14F-4D97-AF65-F5344CB8AC3E}">
        <p14:creationId xmlns:p14="http://schemas.microsoft.com/office/powerpoint/2010/main" val="17108159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23</a:t>
            </a:fld>
            <a:endParaRPr lang="en-US"/>
          </a:p>
        </p:txBody>
      </p:sp>
    </p:spTree>
    <p:extLst>
      <p:ext uri="{BB962C8B-B14F-4D97-AF65-F5344CB8AC3E}">
        <p14:creationId xmlns:p14="http://schemas.microsoft.com/office/powerpoint/2010/main" val="23490328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24</a:t>
            </a:fld>
            <a:endParaRPr lang="en-US"/>
          </a:p>
        </p:txBody>
      </p:sp>
    </p:spTree>
    <p:extLst>
      <p:ext uri="{BB962C8B-B14F-4D97-AF65-F5344CB8AC3E}">
        <p14:creationId xmlns:p14="http://schemas.microsoft.com/office/powerpoint/2010/main" val="14495743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25</a:t>
            </a:fld>
            <a:endParaRPr lang="en-US"/>
          </a:p>
        </p:txBody>
      </p:sp>
    </p:spTree>
    <p:extLst>
      <p:ext uri="{BB962C8B-B14F-4D97-AF65-F5344CB8AC3E}">
        <p14:creationId xmlns:p14="http://schemas.microsoft.com/office/powerpoint/2010/main" val="14916159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p:spPr>
      </p:sp>
      <p:sp>
        <p:nvSpPr>
          <p:cNvPr id="4608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zh-CN"/>
          </a:p>
        </p:txBody>
      </p:sp>
      <p:sp>
        <p:nvSpPr>
          <p:cNvPr id="46084" name="Slide Number Placeholder 3"/>
          <p:cNvSpPr>
            <a:spLocks noGrp="1"/>
          </p:cNvSpPr>
          <p:nvPr>
            <p:ph type="sldNum" sz="quarter" idx="5"/>
          </p:nvPr>
        </p:nvSpPr>
        <p:spPr bwMode="auto">
          <a:noFill/>
          <a:ln>
            <a:miter lim="800000"/>
            <a:headEnd/>
            <a:tailEnd/>
          </a:ln>
        </p:spPr>
        <p:txBody>
          <a:bodyPr/>
          <a:lstStyle/>
          <a:p>
            <a:fld id="{C089AE7D-56D6-4726-BB6C-A1826A625EFB}" type="slidenum">
              <a:rPr lang="en-US" altLang="zh-CN"/>
              <a:pPr/>
              <a:t>26</a:t>
            </a:fld>
            <a:endParaRPr lang="en-US" altLang="zh-CN"/>
          </a:p>
        </p:txBody>
      </p:sp>
    </p:spTree>
    <p:extLst>
      <p:ext uri="{BB962C8B-B14F-4D97-AF65-F5344CB8AC3E}">
        <p14:creationId xmlns:p14="http://schemas.microsoft.com/office/powerpoint/2010/main" val="14546349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p:spPr>
      </p:sp>
      <p:sp>
        <p:nvSpPr>
          <p:cNvPr id="4710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zh-CN"/>
          </a:p>
        </p:txBody>
      </p:sp>
      <p:sp>
        <p:nvSpPr>
          <p:cNvPr id="47108" name="Slide Number Placeholder 3"/>
          <p:cNvSpPr>
            <a:spLocks noGrp="1"/>
          </p:cNvSpPr>
          <p:nvPr>
            <p:ph type="sldNum" sz="quarter" idx="5"/>
          </p:nvPr>
        </p:nvSpPr>
        <p:spPr bwMode="auto">
          <a:noFill/>
          <a:ln>
            <a:miter lim="800000"/>
            <a:headEnd/>
            <a:tailEnd/>
          </a:ln>
        </p:spPr>
        <p:txBody>
          <a:bodyPr/>
          <a:lstStyle/>
          <a:p>
            <a:fld id="{97D31118-A6DE-405C-92C2-122F191D4278}" type="slidenum">
              <a:rPr lang="en-US" altLang="zh-CN"/>
              <a:pPr/>
              <a:t>27</a:t>
            </a:fld>
            <a:endParaRPr lang="en-US" altLang="zh-CN"/>
          </a:p>
        </p:txBody>
      </p:sp>
    </p:spTree>
    <p:extLst>
      <p:ext uri="{BB962C8B-B14F-4D97-AF65-F5344CB8AC3E}">
        <p14:creationId xmlns:p14="http://schemas.microsoft.com/office/powerpoint/2010/main" val="17595831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28</a:t>
            </a:fld>
            <a:endParaRPr lang="en-US"/>
          </a:p>
        </p:txBody>
      </p:sp>
    </p:spTree>
    <p:extLst>
      <p:ext uri="{BB962C8B-B14F-4D97-AF65-F5344CB8AC3E}">
        <p14:creationId xmlns:p14="http://schemas.microsoft.com/office/powerpoint/2010/main" val="7143532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29</a:t>
            </a:fld>
            <a:endParaRPr lang="en-US"/>
          </a:p>
        </p:txBody>
      </p:sp>
    </p:spTree>
    <p:extLst>
      <p:ext uri="{BB962C8B-B14F-4D97-AF65-F5344CB8AC3E}">
        <p14:creationId xmlns:p14="http://schemas.microsoft.com/office/powerpoint/2010/main" val="321503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31</a:t>
            </a:fld>
            <a:endParaRPr lang="en-US"/>
          </a:p>
        </p:txBody>
      </p:sp>
    </p:spTree>
    <p:extLst>
      <p:ext uri="{BB962C8B-B14F-4D97-AF65-F5344CB8AC3E}">
        <p14:creationId xmlns:p14="http://schemas.microsoft.com/office/powerpoint/2010/main" val="7378573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32</a:t>
            </a:fld>
            <a:endParaRPr lang="en-US"/>
          </a:p>
        </p:txBody>
      </p:sp>
    </p:spTree>
    <p:extLst>
      <p:ext uri="{BB962C8B-B14F-4D97-AF65-F5344CB8AC3E}">
        <p14:creationId xmlns:p14="http://schemas.microsoft.com/office/powerpoint/2010/main" val="12357519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33</a:t>
            </a:fld>
            <a:endParaRPr lang="en-US"/>
          </a:p>
        </p:txBody>
      </p:sp>
    </p:spTree>
    <p:extLst>
      <p:ext uri="{BB962C8B-B14F-4D97-AF65-F5344CB8AC3E}">
        <p14:creationId xmlns:p14="http://schemas.microsoft.com/office/powerpoint/2010/main" val="33188757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34</a:t>
            </a:fld>
            <a:endParaRPr lang="en-US"/>
          </a:p>
        </p:txBody>
      </p:sp>
    </p:spTree>
    <p:extLst>
      <p:ext uri="{BB962C8B-B14F-4D97-AF65-F5344CB8AC3E}">
        <p14:creationId xmlns:p14="http://schemas.microsoft.com/office/powerpoint/2010/main" val="33773776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35</a:t>
            </a:fld>
            <a:endParaRPr lang="en-US"/>
          </a:p>
        </p:txBody>
      </p:sp>
    </p:spTree>
    <p:extLst>
      <p:ext uri="{BB962C8B-B14F-4D97-AF65-F5344CB8AC3E}">
        <p14:creationId xmlns:p14="http://schemas.microsoft.com/office/powerpoint/2010/main" val="15244616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36</a:t>
            </a:fld>
            <a:endParaRPr lang="en-US"/>
          </a:p>
        </p:txBody>
      </p:sp>
    </p:spTree>
    <p:extLst>
      <p:ext uri="{BB962C8B-B14F-4D97-AF65-F5344CB8AC3E}">
        <p14:creationId xmlns:p14="http://schemas.microsoft.com/office/powerpoint/2010/main" val="31152381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38</a:t>
            </a:fld>
            <a:endParaRPr lang="en-US"/>
          </a:p>
        </p:txBody>
      </p:sp>
    </p:spTree>
    <p:extLst>
      <p:ext uri="{BB962C8B-B14F-4D97-AF65-F5344CB8AC3E}">
        <p14:creationId xmlns:p14="http://schemas.microsoft.com/office/powerpoint/2010/main" val="24681193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39</a:t>
            </a:fld>
            <a:endParaRPr lang="en-US"/>
          </a:p>
        </p:txBody>
      </p:sp>
    </p:spTree>
    <p:extLst>
      <p:ext uri="{BB962C8B-B14F-4D97-AF65-F5344CB8AC3E}">
        <p14:creationId xmlns:p14="http://schemas.microsoft.com/office/powerpoint/2010/main" val="39400074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40</a:t>
            </a:fld>
            <a:endParaRPr lang="en-US"/>
          </a:p>
        </p:txBody>
      </p:sp>
    </p:spTree>
    <p:extLst>
      <p:ext uri="{BB962C8B-B14F-4D97-AF65-F5344CB8AC3E}">
        <p14:creationId xmlns:p14="http://schemas.microsoft.com/office/powerpoint/2010/main" val="28694436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41</a:t>
            </a:fld>
            <a:endParaRPr lang="en-US"/>
          </a:p>
        </p:txBody>
      </p:sp>
    </p:spTree>
    <p:extLst>
      <p:ext uri="{BB962C8B-B14F-4D97-AF65-F5344CB8AC3E}">
        <p14:creationId xmlns:p14="http://schemas.microsoft.com/office/powerpoint/2010/main" val="23770617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42</a:t>
            </a:fld>
            <a:endParaRPr lang="en-US"/>
          </a:p>
        </p:txBody>
      </p:sp>
    </p:spTree>
    <p:extLst>
      <p:ext uri="{BB962C8B-B14F-4D97-AF65-F5344CB8AC3E}">
        <p14:creationId xmlns:p14="http://schemas.microsoft.com/office/powerpoint/2010/main" val="21528116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43</a:t>
            </a:fld>
            <a:endParaRPr lang="en-US"/>
          </a:p>
        </p:txBody>
      </p:sp>
    </p:spTree>
    <p:extLst>
      <p:ext uri="{BB962C8B-B14F-4D97-AF65-F5344CB8AC3E}">
        <p14:creationId xmlns:p14="http://schemas.microsoft.com/office/powerpoint/2010/main" val="9880162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spcBef>
                <a:spcPct val="0"/>
              </a:spcBef>
            </a:pPr>
            <a:endParaRPr lang="zh-CN" altLang="zh-CN">
              <a:latin typeface="Times New Roman" pitchFamily="18" charset="0"/>
            </a:endParaRPr>
          </a:p>
        </p:txBody>
      </p:sp>
      <p:sp>
        <p:nvSpPr>
          <p:cNvPr id="59396" name="Slide Number Placeholder 3"/>
          <p:cNvSpPr>
            <a:spLocks noGrp="1"/>
          </p:cNvSpPr>
          <p:nvPr>
            <p:ph type="sldNum" sz="quarter" idx="5"/>
          </p:nvPr>
        </p:nvSpPr>
        <p:spPr>
          <a:noFill/>
        </p:spPr>
        <p:txBody>
          <a:bodyPr/>
          <a:lstStyle/>
          <a:p>
            <a:fld id="{EC2EF14B-67B9-41E7-9E8C-2154229DD1A5}" type="slidenum">
              <a:rPr lang="en-US" altLang="zh-CN" smtClean="0">
                <a:latin typeface="Times New Roman" pitchFamily="18" charset="0"/>
              </a:rPr>
              <a:pPr/>
              <a:t>45</a:t>
            </a:fld>
            <a:endParaRPr lang="en-US" altLang="zh-CN">
              <a:latin typeface="Times New Roman" pitchFamily="18" charset="0"/>
            </a:endParaRPr>
          </a:p>
        </p:txBody>
      </p:sp>
    </p:spTree>
    <p:extLst>
      <p:ext uri="{BB962C8B-B14F-4D97-AF65-F5344CB8AC3E}">
        <p14:creationId xmlns:p14="http://schemas.microsoft.com/office/powerpoint/2010/main" val="30807864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pPr eaLnBrk="1" hangingPunct="1">
              <a:spcBef>
                <a:spcPct val="0"/>
              </a:spcBef>
            </a:pPr>
            <a:endParaRPr lang="zh-CN" altLang="zh-CN">
              <a:latin typeface="Times New Roman" pitchFamily="18" charset="0"/>
            </a:endParaRPr>
          </a:p>
        </p:txBody>
      </p:sp>
      <p:sp>
        <p:nvSpPr>
          <p:cNvPr id="60420" name="Slide Number Placeholder 3"/>
          <p:cNvSpPr>
            <a:spLocks noGrp="1"/>
          </p:cNvSpPr>
          <p:nvPr>
            <p:ph type="sldNum" sz="quarter" idx="5"/>
          </p:nvPr>
        </p:nvSpPr>
        <p:spPr>
          <a:noFill/>
        </p:spPr>
        <p:txBody>
          <a:bodyPr/>
          <a:lstStyle/>
          <a:p>
            <a:fld id="{03E5F2B1-386C-4E50-92F8-AF8DF4BE00CA}" type="slidenum">
              <a:rPr lang="en-US" altLang="zh-CN" smtClean="0">
                <a:latin typeface="Times New Roman" pitchFamily="18" charset="0"/>
              </a:rPr>
              <a:pPr/>
              <a:t>46</a:t>
            </a:fld>
            <a:endParaRPr lang="en-US" altLang="zh-CN">
              <a:latin typeface="Times New Roman" pitchFamily="18" charset="0"/>
            </a:endParaRPr>
          </a:p>
        </p:txBody>
      </p:sp>
    </p:spTree>
    <p:extLst>
      <p:ext uri="{BB962C8B-B14F-4D97-AF65-F5344CB8AC3E}">
        <p14:creationId xmlns:p14="http://schemas.microsoft.com/office/powerpoint/2010/main" val="30761013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p:spPr>
        <p:txBody>
          <a:bodyPr/>
          <a:lstStyle/>
          <a:p>
            <a:pPr eaLnBrk="1" hangingPunct="1">
              <a:spcBef>
                <a:spcPct val="0"/>
              </a:spcBef>
            </a:pPr>
            <a:endParaRPr lang="zh-CN" altLang="zh-CN">
              <a:latin typeface="Times New Roman" pitchFamily="18" charset="0"/>
            </a:endParaRPr>
          </a:p>
        </p:txBody>
      </p:sp>
      <p:sp>
        <p:nvSpPr>
          <p:cNvPr id="61444" name="Slide Number Placeholder 3"/>
          <p:cNvSpPr>
            <a:spLocks noGrp="1"/>
          </p:cNvSpPr>
          <p:nvPr>
            <p:ph type="sldNum" sz="quarter" idx="5"/>
          </p:nvPr>
        </p:nvSpPr>
        <p:spPr>
          <a:noFill/>
        </p:spPr>
        <p:txBody>
          <a:bodyPr/>
          <a:lstStyle/>
          <a:p>
            <a:fld id="{38BC5A59-52C0-4557-8CD0-86EB4E2FC58E}" type="slidenum">
              <a:rPr lang="en-US" altLang="zh-CN" smtClean="0">
                <a:latin typeface="Times New Roman" pitchFamily="18" charset="0"/>
              </a:rPr>
              <a:pPr/>
              <a:t>47</a:t>
            </a:fld>
            <a:endParaRPr lang="en-US" altLang="zh-CN">
              <a:latin typeface="Times New Roman" pitchFamily="18" charset="0"/>
            </a:endParaRPr>
          </a:p>
        </p:txBody>
      </p:sp>
    </p:spTree>
    <p:extLst>
      <p:ext uri="{BB962C8B-B14F-4D97-AF65-F5344CB8AC3E}">
        <p14:creationId xmlns:p14="http://schemas.microsoft.com/office/powerpoint/2010/main" val="10016854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pPr eaLnBrk="1" hangingPunct="1">
              <a:spcBef>
                <a:spcPct val="0"/>
              </a:spcBef>
            </a:pPr>
            <a:endParaRPr lang="zh-CN" altLang="zh-CN">
              <a:latin typeface="Times New Roman" pitchFamily="18" charset="0"/>
            </a:endParaRPr>
          </a:p>
        </p:txBody>
      </p:sp>
      <p:sp>
        <p:nvSpPr>
          <p:cNvPr id="62468" name="Slide Number Placeholder 3"/>
          <p:cNvSpPr>
            <a:spLocks noGrp="1"/>
          </p:cNvSpPr>
          <p:nvPr>
            <p:ph type="sldNum" sz="quarter" idx="5"/>
          </p:nvPr>
        </p:nvSpPr>
        <p:spPr>
          <a:noFill/>
        </p:spPr>
        <p:txBody>
          <a:bodyPr/>
          <a:lstStyle/>
          <a:p>
            <a:fld id="{FB6FE686-CAD6-4505-BAC1-4144CF174605}" type="slidenum">
              <a:rPr lang="en-US" altLang="zh-CN" smtClean="0">
                <a:latin typeface="Times New Roman" pitchFamily="18" charset="0"/>
              </a:rPr>
              <a:pPr/>
              <a:t>48</a:t>
            </a:fld>
            <a:endParaRPr lang="en-US" altLang="zh-CN">
              <a:latin typeface="Times New Roman" pitchFamily="18" charset="0"/>
            </a:endParaRPr>
          </a:p>
        </p:txBody>
      </p:sp>
    </p:spTree>
    <p:extLst>
      <p:ext uri="{BB962C8B-B14F-4D97-AF65-F5344CB8AC3E}">
        <p14:creationId xmlns:p14="http://schemas.microsoft.com/office/powerpoint/2010/main" val="1033570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p:spPr>
        <p:txBody>
          <a:bodyPr/>
          <a:lstStyle/>
          <a:p>
            <a:pPr eaLnBrk="1" hangingPunct="1">
              <a:spcBef>
                <a:spcPct val="0"/>
              </a:spcBef>
            </a:pPr>
            <a:endParaRPr lang="zh-CN" altLang="zh-CN">
              <a:latin typeface="Times New Roman" pitchFamily="18" charset="0"/>
            </a:endParaRPr>
          </a:p>
        </p:txBody>
      </p:sp>
      <p:sp>
        <p:nvSpPr>
          <p:cNvPr id="63492" name="Slide Number Placeholder 3"/>
          <p:cNvSpPr>
            <a:spLocks noGrp="1"/>
          </p:cNvSpPr>
          <p:nvPr>
            <p:ph type="sldNum" sz="quarter" idx="5"/>
          </p:nvPr>
        </p:nvSpPr>
        <p:spPr>
          <a:noFill/>
        </p:spPr>
        <p:txBody>
          <a:bodyPr/>
          <a:lstStyle/>
          <a:p>
            <a:fld id="{81703A75-6F39-4886-8079-2A376C09CA94}" type="slidenum">
              <a:rPr lang="en-US" altLang="zh-CN" smtClean="0">
                <a:latin typeface="Times New Roman" pitchFamily="18" charset="0"/>
              </a:rPr>
              <a:pPr/>
              <a:t>49</a:t>
            </a:fld>
            <a:endParaRPr lang="en-US" altLang="zh-CN">
              <a:latin typeface="Times New Roman" pitchFamily="18" charset="0"/>
            </a:endParaRPr>
          </a:p>
        </p:txBody>
      </p:sp>
    </p:spTree>
    <p:extLst>
      <p:ext uri="{BB962C8B-B14F-4D97-AF65-F5344CB8AC3E}">
        <p14:creationId xmlns:p14="http://schemas.microsoft.com/office/powerpoint/2010/main" val="2643795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p:spPr>
        <p:txBody>
          <a:bodyPr/>
          <a:lstStyle/>
          <a:p>
            <a:pPr eaLnBrk="1" hangingPunct="1">
              <a:spcBef>
                <a:spcPct val="0"/>
              </a:spcBef>
            </a:pPr>
            <a:endParaRPr lang="zh-CN" altLang="zh-CN">
              <a:latin typeface="Times New Roman" pitchFamily="18" charset="0"/>
            </a:endParaRPr>
          </a:p>
        </p:txBody>
      </p:sp>
      <p:sp>
        <p:nvSpPr>
          <p:cNvPr id="63492" name="Slide Number Placeholder 3"/>
          <p:cNvSpPr>
            <a:spLocks noGrp="1"/>
          </p:cNvSpPr>
          <p:nvPr>
            <p:ph type="sldNum" sz="quarter" idx="5"/>
          </p:nvPr>
        </p:nvSpPr>
        <p:spPr>
          <a:noFill/>
        </p:spPr>
        <p:txBody>
          <a:bodyPr/>
          <a:lstStyle/>
          <a:p>
            <a:fld id="{81703A75-6F39-4886-8079-2A376C09CA94}" type="slidenum">
              <a:rPr lang="en-US" altLang="zh-CN" smtClean="0">
                <a:latin typeface="Times New Roman" pitchFamily="18" charset="0"/>
              </a:rPr>
              <a:pPr/>
              <a:t>50</a:t>
            </a:fld>
            <a:endParaRPr lang="en-US" altLang="zh-CN">
              <a:latin typeface="Times New Roman" pitchFamily="18" charset="0"/>
            </a:endParaRPr>
          </a:p>
        </p:txBody>
      </p:sp>
    </p:spTree>
    <p:extLst>
      <p:ext uri="{BB962C8B-B14F-4D97-AF65-F5344CB8AC3E}">
        <p14:creationId xmlns:p14="http://schemas.microsoft.com/office/powerpoint/2010/main" val="3257761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pPr eaLnBrk="1" hangingPunct="1">
              <a:spcBef>
                <a:spcPct val="0"/>
              </a:spcBef>
            </a:pPr>
            <a:endParaRPr lang="zh-CN" altLang="zh-CN">
              <a:latin typeface="Times New Roman" pitchFamily="18" charset="0"/>
            </a:endParaRPr>
          </a:p>
        </p:txBody>
      </p:sp>
      <p:sp>
        <p:nvSpPr>
          <p:cNvPr id="64516" name="Slide Number Placeholder 3"/>
          <p:cNvSpPr>
            <a:spLocks noGrp="1"/>
          </p:cNvSpPr>
          <p:nvPr>
            <p:ph type="sldNum" sz="quarter" idx="5"/>
          </p:nvPr>
        </p:nvSpPr>
        <p:spPr>
          <a:noFill/>
        </p:spPr>
        <p:txBody>
          <a:bodyPr/>
          <a:lstStyle/>
          <a:p>
            <a:fld id="{D7FD3B5A-E511-420D-B6BD-40BC7A388F24}" type="slidenum">
              <a:rPr lang="en-US" altLang="zh-CN" smtClean="0">
                <a:latin typeface="Times New Roman" pitchFamily="18" charset="0"/>
              </a:rPr>
              <a:pPr/>
              <a:t>51</a:t>
            </a:fld>
            <a:endParaRPr lang="en-US" altLang="zh-CN">
              <a:latin typeface="Times New Roman" pitchFamily="18" charset="0"/>
            </a:endParaRPr>
          </a:p>
        </p:txBody>
      </p:sp>
    </p:spTree>
    <p:extLst>
      <p:ext uri="{BB962C8B-B14F-4D97-AF65-F5344CB8AC3E}">
        <p14:creationId xmlns:p14="http://schemas.microsoft.com/office/powerpoint/2010/main" val="58899134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53</a:t>
            </a:fld>
            <a:endParaRPr lang="en-US"/>
          </a:p>
        </p:txBody>
      </p:sp>
    </p:spTree>
    <p:extLst>
      <p:ext uri="{BB962C8B-B14F-4D97-AF65-F5344CB8AC3E}">
        <p14:creationId xmlns:p14="http://schemas.microsoft.com/office/powerpoint/2010/main" val="133985006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54</a:t>
            </a:fld>
            <a:endParaRPr lang="en-US"/>
          </a:p>
        </p:txBody>
      </p:sp>
    </p:spTree>
    <p:extLst>
      <p:ext uri="{BB962C8B-B14F-4D97-AF65-F5344CB8AC3E}">
        <p14:creationId xmlns:p14="http://schemas.microsoft.com/office/powerpoint/2010/main" val="39825065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55</a:t>
            </a:fld>
            <a:endParaRPr lang="en-US"/>
          </a:p>
        </p:txBody>
      </p:sp>
    </p:spTree>
    <p:extLst>
      <p:ext uri="{BB962C8B-B14F-4D97-AF65-F5344CB8AC3E}">
        <p14:creationId xmlns:p14="http://schemas.microsoft.com/office/powerpoint/2010/main" val="1778143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56</a:t>
            </a:fld>
            <a:endParaRPr lang="en-US"/>
          </a:p>
        </p:txBody>
      </p:sp>
    </p:spTree>
    <p:extLst>
      <p:ext uri="{BB962C8B-B14F-4D97-AF65-F5344CB8AC3E}">
        <p14:creationId xmlns:p14="http://schemas.microsoft.com/office/powerpoint/2010/main" val="9852526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57</a:t>
            </a:fld>
            <a:endParaRPr lang="en-US"/>
          </a:p>
        </p:txBody>
      </p:sp>
    </p:spTree>
    <p:extLst>
      <p:ext uri="{BB962C8B-B14F-4D97-AF65-F5344CB8AC3E}">
        <p14:creationId xmlns:p14="http://schemas.microsoft.com/office/powerpoint/2010/main" val="33864102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58</a:t>
            </a:fld>
            <a:endParaRPr lang="en-US"/>
          </a:p>
        </p:txBody>
      </p:sp>
    </p:spTree>
    <p:extLst>
      <p:ext uri="{BB962C8B-B14F-4D97-AF65-F5344CB8AC3E}">
        <p14:creationId xmlns:p14="http://schemas.microsoft.com/office/powerpoint/2010/main" val="33682873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59</a:t>
            </a:fld>
            <a:endParaRPr lang="en-US"/>
          </a:p>
        </p:txBody>
      </p:sp>
    </p:spTree>
    <p:extLst>
      <p:ext uri="{BB962C8B-B14F-4D97-AF65-F5344CB8AC3E}">
        <p14:creationId xmlns:p14="http://schemas.microsoft.com/office/powerpoint/2010/main" val="132810562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60</a:t>
            </a:fld>
            <a:endParaRPr lang="en-US"/>
          </a:p>
        </p:txBody>
      </p:sp>
    </p:spTree>
    <p:extLst>
      <p:ext uri="{BB962C8B-B14F-4D97-AF65-F5344CB8AC3E}">
        <p14:creationId xmlns:p14="http://schemas.microsoft.com/office/powerpoint/2010/main" val="162192579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61</a:t>
            </a:fld>
            <a:endParaRPr lang="en-US"/>
          </a:p>
        </p:txBody>
      </p:sp>
    </p:spTree>
    <p:extLst>
      <p:ext uri="{BB962C8B-B14F-4D97-AF65-F5344CB8AC3E}">
        <p14:creationId xmlns:p14="http://schemas.microsoft.com/office/powerpoint/2010/main" val="36136333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62</a:t>
            </a:fld>
            <a:endParaRPr lang="en-US"/>
          </a:p>
        </p:txBody>
      </p:sp>
    </p:spTree>
    <p:extLst>
      <p:ext uri="{BB962C8B-B14F-4D97-AF65-F5344CB8AC3E}">
        <p14:creationId xmlns:p14="http://schemas.microsoft.com/office/powerpoint/2010/main" val="48995144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63</a:t>
            </a:fld>
            <a:endParaRPr lang="en-US"/>
          </a:p>
        </p:txBody>
      </p:sp>
    </p:spTree>
    <p:extLst>
      <p:ext uri="{BB962C8B-B14F-4D97-AF65-F5344CB8AC3E}">
        <p14:creationId xmlns:p14="http://schemas.microsoft.com/office/powerpoint/2010/main" val="247790983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64</a:t>
            </a:fld>
            <a:endParaRPr lang="en-US"/>
          </a:p>
        </p:txBody>
      </p:sp>
    </p:spTree>
    <p:extLst>
      <p:ext uri="{BB962C8B-B14F-4D97-AF65-F5344CB8AC3E}">
        <p14:creationId xmlns:p14="http://schemas.microsoft.com/office/powerpoint/2010/main" val="10447319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65</a:t>
            </a:fld>
            <a:endParaRPr lang="en-US"/>
          </a:p>
        </p:txBody>
      </p:sp>
    </p:spTree>
    <p:extLst>
      <p:ext uri="{BB962C8B-B14F-4D97-AF65-F5344CB8AC3E}">
        <p14:creationId xmlns:p14="http://schemas.microsoft.com/office/powerpoint/2010/main" val="279384056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66</a:t>
            </a:fld>
            <a:endParaRPr lang="en-US"/>
          </a:p>
        </p:txBody>
      </p:sp>
    </p:spTree>
    <p:extLst>
      <p:ext uri="{BB962C8B-B14F-4D97-AF65-F5344CB8AC3E}">
        <p14:creationId xmlns:p14="http://schemas.microsoft.com/office/powerpoint/2010/main" val="234915052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67</a:t>
            </a:fld>
            <a:endParaRPr lang="en-US"/>
          </a:p>
        </p:txBody>
      </p:sp>
    </p:spTree>
    <p:extLst>
      <p:ext uri="{BB962C8B-B14F-4D97-AF65-F5344CB8AC3E}">
        <p14:creationId xmlns:p14="http://schemas.microsoft.com/office/powerpoint/2010/main" val="158143018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68</a:t>
            </a:fld>
            <a:endParaRPr lang="en-US"/>
          </a:p>
        </p:txBody>
      </p:sp>
    </p:spTree>
    <p:extLst>
      <p:ext uri="{BB962C8B-B14F-4D97-AF65-F5344CB8AC3E}">
        <p14:creationId xmlns:p14="http://schemas.microsoft.com/office/powerpoint/2010/main" val="80006577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69</a:t>
            </a:fld>
            <a:endParaRPr lang="en-US"/>
          </a:p>
        </p:txBody>
      </p:sp>
    </p:spTree>
    <p:extLst>
      <p:ext uri="{BB962C8B-B14F-4D97-AF65-F5344CB8AC3E}">
        <p14:creationId xmlns:p14="http://schemas.microsoft.com/office/powerpoint/2010/main" val="300594852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70</a:t>
            </a:fld>
            <a:endParaRPr lang="en-US"/>
          </a:p>
        </p:txBody>
      </p:sp>
    </p:spTree>
    <p:extLst>
      <p:ext uri="{BB962C8B-B14F-4D97-AF65-F5344CB8AC3E}">
        <p14:creationId xmlns:p14="http://schemas.microsoft.com/office/powerpoint/2010/main" val="223655568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71</a:t>
            </a:fld>
            <a:endParaRPr lang="en-US"/>
          </a:p>
        </p:txBody>
      </p:sp>
    </p:spTree>
    <p:extLst>
      <p:ext uri="{BB962C8B-B14F-4D97-AF65-F5344CB8AC3E}">
        <p14:creationId xmlns:p14="http://schemas.microsoft.com/office/powerpoint/2010/main" val="20960689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72</a:t>
            </a:fld>
            <a:endParaRPr lang="en-US"/>
          </a:p>
        </p:txBody>
      </p:sp>
    </p:spTree>
    <p:extLst>
      <p:ext uri="{BB962C8B-B14F-4D97-AF65-F5344CB8AC3E}">
        <p14:creationId xmlns:p14="http://schemas.microsoft.com/office/powerpoint/2010/main" val="342105644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73</a:t>
            </a:fld>
            <a:endParaRPr lang="en-US"/>
          </a:p>
        </p:txBody>
      </p:sp>
    </p:spTree>
    <p:extLst>
      <p:ext uri="{BB962C8B-B14F-4D97-AF65-F5344CB8AC3E}">
        <p14:creationId xmlns:p14="http://schemas.microsoft.com/office/powerpoint/2010/main" val="39585855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87B330-8172-408B-87BC-B9F455EB7E7E}" type="slidenum">
              <a:rPr lang="en-US" smtClean="0"/>
              <a:pPr/>
              <a:t>74</a:t>
            </a:fld>
            <a:endParaRPr lang="en-US"/>
          </a:p>
        </p:txBody>
      </p:sp>
    </p:spTree>
    <p:extLst>
      <p:ext uri="{BB962C8B-B14F-4D97-AF65-F5344CB8AC3E}">
        <p14:creationId xmlns:p14="http://schemas.microsoft.com/office/powerpoint/2010/main" val="2247546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96843FE9-08A3-4C13-8D3D-29D43F7B784A}" type="datetimeFigureOut">
              <a:rPr lang="en-US" smtClean="0"/>
              <a:pPr/>
              <a:t>5/21/2025</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E7EB23CF-ED71-4461-B5B6-C54CBA004A59}"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6843FE9-08A3-4C13-8D3D-29D43F7B784A}" type="datetimeFigureOut">
              <a:rPr lang="en-US" smtClean="0"/>
              <a:pPr/>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EB23CF-ED71-4461-B5B6-C54CBA004A5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6843FE9-08A3-4C13-8D3D-29D43F7B784A}" type="datetimeFigureOut">
              <a:rPr lang="en-US" smtClean="0"/>
              <a:pPr/>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EB23CF-ED71-4461-B5B6-C54CBA004A59}"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6843FE9-08A3-4C13-8D3D-29D43F7B784A}" type="datetimeFigureOut">
              <a:rPr lang="en-US" smtClean="0"/>
              <a:pPr/>
              <a:t>5/21/2025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EB23CF-ED71-4461-B5B6-C54CBA004A5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6843FE9-08A3-4C13-8D3D-29D43F7B784A}" type="datetimeFigureOut">
              <a:rPr lang="en-US" smtClean="0"/>
              <a:pPr/>
              <a:t>5/21/2025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7EB23CF-ED71-4461-B5B6-C54CBA004A5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96843FE9-08A3-4C13-8D3D-29D43F7B784A}" type="datetimeFigureOut">
              <a:rPr lang="en-US" smtClean="0"/>
              <a:pPr/>
              <a:t>5/21/2025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7EB23CF-ED71-4461-B5B6-C54CBA004A5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96843FE9-08A3-4C13-8D3D-29D43F7B784A}" type="datetimeFigureOut">
              <a:rPr lang="en-US" smtClean="0"/>
              <a:pPr/>
              <a:t>5/21/2025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7EB23CF-ED71-4461-B5B6-C54CBA004A59}"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6843FE9-08A3-4C13-8D3D-29D43F7B784A}" type="datetimeFigureOut">
              <a:rPr lang="en-US" smtClean="0"/>
              <a:pPr/>
              <a:t>5/21/2025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EB23CF-ED71-4461-B5B6-C54CBA004A5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96843FE9-08A3-4C13-8D3D-29D43F7B784A}" type="datetimeFigureOut">
              <a:rPr lang="en-US" smtClean="0"/>
              <a:pPr/>
              <a:t>5/21/2025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EB23CF-ED71-4461-B5B6-C54CBA004A59}"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6843FE9-08A3-4C13-8D3D-29D43F7B784A}" type="datetimeFigureOut">
              <a:rPr lang="en-US" smtClean="0"/>
              <a:pPr/>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EB23CF-ED71-4461-B5B6-C54CBA004A5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6843FE9-08A3-4C13-8D3D-29D43F7B784A}" type="datetimeFigureOut">
              <a:rPr lang="en-US" smtClean="0"/>
              <a:pPr/>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EB23CF-ED71-4461-B5B6-C54CBA004A59}"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92100"/>
            <a:ext cx="8229600" cy="1384300"/>
          </a:xfrm>
        </p:spPr>
        <p:txBody>
          <a:bodyPr/>
          <a:lstStyle/>
          <a:p>
            <a:r>
              <a:rPr lang="en-US"/>
              <a:t>Click to edit Master title style</a:t>
            </a:r>
          </a:p>
        </p:txBody>
      </p:sp>
      <p:sp>
        <p:nvSpPr>
          <p:cNvPr id="3" name="Text Placeholder 2"/>
          <p:cNvSpPr>
            <a:spLocks noGrp="1"/>
          </p:cNvSpPr>
          <p:nvPr>
            <p:ph type="body" sz="half" idx="1"/>
          </p:nvPr>
        </p:nvSpPr>
        <p:spPr>
          <a:xfrm>
            <a:off x="457200" y="1905000"/>
            <a:ext cx="40386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05000"/>
            <a:ext cx="40386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(c) Telecommunications Consultants India Limited</a:t>
            </a:r>
          </a:p>
        </p:txBody>
      </p:sp>
      <p:sp>
        <p:nvSpPr>
          <p:cNvPr id="6" name="Rectangle 6"/>
          <p:cNvSpPr>
            <a:spLocks noGrp="1" noChangeArrowheads="1"/>
          </p:cNvSpPr>
          <p:nvPr>
            <p:ph type="sldNum" sz="quarter" idx="11"/>
          </p:nvPr>
        </p:nvSpPr>
        <p:spPr>
          <a:ln/>
        </p:spPr>
        <p:txBody>
          <a:bodyPr/>
          <a:lstStyle>
            <a:lvl1pPr>
              <a:defRPr/>
            </a:lvl1pPr>
          </a:lstStyle>
          <a:p>
            <a:pPr>
              <a:defRPr/>
            </a:pPr>
            <a:fld id="{88EAB324-12A4-4D55-BAD2-E36048255CAA}"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96843FE9-08A3-4C13-8D3D-29D43F7B784A}" type="datetimeFigureOut">
              <a:rPr lang="en-US" smtClean="0"/>
              <a:pPr/>
              <a:t>5/21/2025</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E7EB23CF-ED71-4461-B5B6-C54CBA004A59}"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4.emf"/></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53.xml"/><Relationship Id="rId1" Type="http://schemas.openxmlformats.org/officeDocument/2006/relationships/slideLayout" Target="../slideLayouts/slideLayout6.xml"/><Relationship Id="rId4" Type="http://schemas.openxmlformats.org/officeDocument/2006/relationships/image" Target="../media/image7.wmf"/></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504" y="4495800"/>
            <a:ext cx="7498080" cy="2057400"/>
          </a:xfrm>
        </p:spPr>
        <p:txBody>
          <a:bodyPr>
            <a:noAutofit/>
          </a:bodyPr>
          <a:lstStyle/>
          <a:p>
            <a:pPr algn="ctr"/>
            <a:r>
              <a:rPr lang="en-US" sz="2400" dirty="0"/>
              <a:t>By: Gemmachis Teshite (Ass. Prof)</a:t>
            </a:r>
            <a:br>
              <a:rPr lang="en-US" sz="2400" dirty="0"/>
            </a:br>
            <a:r>
              <a:rPr lang="en-US" sz="2400" dirty="0"/>
              <a:t>CCI</a:t>
            </a:r>
            <a:br>
              <a:rPr lang="en-US" sz="2400" dirty="0"/>
            </a:br>
            <a:endParaRPr lang="en-US" sz="2400" dirty="0"/>
          </a:p>
        </p:txBody>
      </p:sp>
      <p:sp>
        <p:nvSpPr>
          <p:cNvPr id="3" name="Content Placeholder 2"/>
          <p:cNvSpPr>
            <a:spLocks noGrp="1"/>
          </p:cNvSpPr>
          <p:nvPr>
            <p:ph idx="1"/>
          </p:nvPr>
        </p:nvSpPr>
        <p:spPr>
          <a:xfrm>
            <a:off x="1225296" y="457200"/>
            <a:ext cx="7638288" cy="4114800"/>
          </a:xfrm>
        </p:spPr>
        <p:txBody>
          <a:bodyPr>
            <a:normAutofit/>
          </a:bodyPr>
          <a:lstStyle/>
          <a:p>
            <a:pPr algn="ctr">
              <a:buNone/>
            </a:pPr>
            <a:r>
              <a:rPr lang="en-US" sz="4800">
                <a:solidFill>
                  <a:srgbClr val="FF0000"/>
                </a:solidFill>
              </a:rPr>
              <a:t>Chapter Five</a:t>
            </a:r>
            <a:endParaRPr lang="en-US" sz="4800" dirty="0">
              <a:solidFill>
                <a:srgbClr val="FF0000"/>
              </a:solidFill>
            </a:endParaRPr>
          </a:p>
          <a:p>
            <a:pPr algn="ctr">
              <a:buNone/>
            </a:pPr>
            <a:endParaRPr lang="en-US" sz="4800" dirty="0"/>
          </a:p>
          <a:p>
            <a:pPr algn="ctr">
              <a:buNone/>
            </a:pPr>
            <a:r>
              <a:rPr lang="en-US" sz="4800" dirty="0"/>
              <a:t>Real Time Operating Systems</a:t>
            </a:r>
          </a:p>
          <a:p>
            <a:pPr algn="ctr">
              <a:buNone/>
            </a:pP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152400"/>
            <a:ext cx="7498080" cy="487680"/>
          </a:xfrm>
        </p:spPr>
        <p:txBody>
          <a:bodyPr>
            <a:normAutofit fontScale="90000"/>
          </a:bodyPr>
          <a:lstStyle/>
          <a:p>
            <a:pPr algn="ctr"/>
            <a:r>
              <a:rPr lang="en-US" dirty="0"/>
              <a:t>Outline</a:t>
            </a:r>
          </a:p>
        </p:txBody>
      </p:sp>
      <p:sp>
        <p:nvSpPr>
          <p:cNvPr id="3" name="Content Placeholder 2"/>
          <p:cNvSpPr>
            <a:spLocks noGrp="1"/>
          </p:cNvSpPr>
          <p:nvPr>
            <p:ph sz="half" idx="1"/>
          </p:nvPr>
        </p:nvSpPr>
        <p:spPr>
          <a:xfrm>
            <a:off x="1066800" y="838200"/>
            <a:ext cx="4209288" cy="5349240"/>
          </a:xfrm>
        </p:spPr>
        <p:txBody>
          <a:bodyPr>
            <a:normAutofit fontScale="92500" lnSpcReduction="10000"/>
          </a:bodyPr>
          <a:lstStyle/>
          <a:p>
            <a:pPr marL="82296" indent="0">
              <a:buNone/>
            </a:pPr>
            <a:r>
              <a:rPr lang="en-US" sz="2000" b="1" dirty="0"/>
              <a:t>4.1: Introduction</a:t>
            </a:r>
          </a:p>
          <a:p>
            <a:r>
              <a:rPr lang="en-US" sz="2000" dirty="0"/>
              <a:t>What is an Operating System</a:t>
            </a:r>
          </a:p>
          <a:p>
            <a:r>
              <a:rPr lang="en-US" sz="2000" dirty="0"/>
              <a:t>Real Time System</a:t>
            </a:r>
          </a:p>
          <a:p>
            <a:r>
              <a:rPr lang="en-US" sz="2000" dirty="0"/>
              <a:t>Types of Real time Systems</a:t>
            </a:r>
          </a:p>
          <a:p>
            <a:r>
              <a:rPr lang="en-US" sz="2000" dirty="0"/>
              <a:t>Real Time Operating System</a:t>
            </a:r>
          </a:p>
          <a:p>
            <a:r>
              <a:rPr lang="en-US" sz="2000" dirty="0"/>
              <a:t>Types of RTOS</a:t>
            </a:r>
          </a:p>
          <a:p>
            <a:r>
              <a:rPr lang="en-US" sz="2000" dirty="0"/>
              <a:t>RTOS and Embedded Systems</a:t>
            </a:r>
          </a:p>
          <a:p>
            <a:r>
              <a:rPr lang="en-US" altLang="zh-CN" sz="2000" dirty="0"/>
              <a:t>When to use RTOS</a:t>
            </a:r>
            <a:endParaRPr lang="en-US" sz="2000" dirty="0"/>
          </a:p>
          <a:p>
            <a:pPr marL="82296" indent="0">
              <a:buNone/>
            </a:pPr>
            <a:r>
              <a:rPr lang="en-US" sz="2000" b="1" dirty="0"/>
              <a:t>4.2: Context switching Mechanisms</a:t>
            </a:r>
          </a:p>
          <a:p>
            <a:r>
              <a:rPr lang="en-US" sz="2000" dirty="0"/>
              <a:t>What is Context Switching?</a:t>
            </a:r>
          </a:p>
          <a:p>
            <a:r>
              <a:rPr lang="en-US" sz="2000" dirty="0"/>
              <a:t>When to switch?</a:t>
            </a:r>
          </a:p>
          <a:p>
            <a:r>
              <a:rPr lang="en-US" sz="2000" dirty="0"/>
              <a:t>Interrupt service routines(ISR)</a:t>
            </a:r>
          </a:p>
          <a:p>
            <a:r>
              <a:rPr lang="en-US" sz="2000" dirty="0"/>
              <a:t>Tasks and Task States</a:t>
            </a:r>
          </a:p>
          <a:p>
            <a:pPr marL="82296" indent="0">
              <a:buNone/>
            </a:pPr>
            <a:r>
              <a:rPr lang="en-US" sz="2000" b="1" dirty="0"/>
              <a:t>4.3. RTOS Kernel</a:t>
            </a:r>
          </a:p>
          <a:p>
            <a:r>
              <a:rPr lang="en-US" sz="2000" dirty="0"/>
              <a:t>RTOS Kernel Functions</a:t>
            </a:r>
          </a:p>
          <a:p>
            <a:pPr marL="82296" indent="0">
              <a:buNone/>
            </a:pPr>
            <a:endParaRPr lang="en-US" sz="2000" dirty="0"/>
          </a:p>
          <a:p>
            <a:endParaRPr lang="en-US" sz="2000" dirty="0"/>
          </a:p>
          <a:p>
            <a:endParaRPr lang="en-US" sz="2000" dirty="0"/>
          </a:p>
        </p:txBody>
      </p:sp>
      <p:sp>
        <p:nvSpPr>
          <p:cNvPr id="4" name="Content Placeholder 3"/>
          <p:cNvSpPr>
            <a:spLocks noGrp="1"/>
          </p:cNvSpPr>
          <p:nvPr>
            <p:ph sz="half" idx="2"/>
          </p:nvPr>
        </p:nvSpPr>
        <p:spPr>
          <a:xfrm>
            <a:off x="5276088" y="838200"/>
            <a:ext cx="3657600" cy="5349240"/>
          </a:xfrm>
        </p:spPr>
        <p:txBody>
          <a:bodyPr>
            <a:normAutofit fontScale="92500" lnSpcReduction="10000"/>
          </a:bodyPr>
          <a:lstStyle/>
          <a:p>
            <a:pPr marL="82296" indent="0">
              <a:buNone/>
            </a:pPr>
            <a:r>
              <a:rPr lang="en-US" sz="2000" b="1" dirty="0"/>
              <a:t>4.4. Scheduling Policies</a:t>
            </a:r>
          </a:p>
          <a:p>
            <a:r>
              <a:rPr lang="en-US" sz="2000" dirty="0"/>
              <a:t>Scheduling Parameters</a:t>
            </a:r>
          </a:p>
          <a:p>
            <a:r>
              <a:rPr lang="en-US" sz="2000" dirty="0"/>
              <a:t>Scheduling Algorithms in RTOS</a:t>
            </a:r>
          </a:p>
          <a:p>
            <a:pPr marL="82296" indent="0">
              <a:buNone/>
            </a:pPr>
            <a:r>
              <a:rPr lang="en-US" sz="2000" b="1" dirty="0"/>
              <a:t>4.5. Message passing and shared memory   communications (</a:t>
            </a:r>
            <a:r>
              <a:rPr lang="en-US" altLang="zh-CN" sz="2000" b="1" dirty="0"/>
              <a:t>RTOS Events)</a:t>
            </a:r>
          </a:p>
          <a:p>
            <a:r>
              <a:rPr lang="en-US" altLang="zh-CN" sz="2000" dirty="0"/>
              <a:t>Signal Event based communication</a:t>
            </a:r>
          </a:p>
          <a:p>
            <a:r>
              <a:rPr lang="en-US" altLang="zh-CN" sz="2000" dirty="0"/>
              <a:t>Message Event based communication</a:t>
            </a:r>
          </a:p>
          <a:p>
            <a:r>
              <a:rPr lang="en-US" altLang="zh-CN" sz="2000" dirty="0"/>
              <a:t>Semaphores</a:t>
            </a:r>
          </a:p>
          <a:p>
            <a:r>
              <a:rPr lang="en-US" altLang="zh-CN" sz="2000" dirty="0"/>
              <a:t>Task Interrupts</a:t>
            </a:r>
          </a:p>
          <a:p>
            <a:pPr marL="82296" indent="0">
              <a:buNone/>
            </a:pPr>
            <a:r>
              <a:rPr lang="en-US" sz="2000" b="1" dirty="0"/>
              <a:t>4.6. Inter-process communication(IPC)</a:t>
            </a:r>
          </a:p>
          <a:p>
            <a:r>
              <a:rPr lang="en-US" sz="2000" dirty="0"/>
              <a:t>What is IPC?</a:t>
            </a:r>
          </a:p>
          <a:p>
            <a:r>
              <a:rPr lang="en-US" sz="2000" dirty="0"/>
              <a:t>Two ways of IPC</a:t>
            </a:r>
          </a:p>
        </p:txBody>
      </p:sp>
    </p:spTree>
    <p:extLst>
      <p:ext uri="{BB962C8B-B14F-4D97-AF65-F5344CB8AC3E}">
        <p14:creationId xmlns:p14="http://schemas.microsoft.com/office/powerpoint/2010/main" val="3482522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2560" y="359898"/>
            <a:ext cx="7406640" cy="1087902"/>
          </a:xfrm>
        </p:spPr>
        <p:txBody>
          <a:bodyPr/>
          <a:lstStyle/>
          <a:p>
            <a:r>
              <a:rPr lang="en-US" sz="4400" b="1" dirty="0"/>
              <a:t>4.1: Introduction</a:t>
            </a:r>
            <a:endParaRPr lang="en-US" dirty="0"/>
          </a:p>
        </p:txBody>
      </p:sp>
      <p:sp>
        <p:nvSpPr>
          <p:cNvPr id="3" name="Subtitle 2"/>
          <p:cNvSpPr>
            <a:spLocks noGrp="1"/>
          </p:cNvSpPr>
          <p:nvPr>
            <p:ph type="subTitle" idx="1"/>
          </p:nvPr>
        </p:nvSpPr>
        <p:spPr>
          <a:xfrm>
            <a:off x="1432560" y="1850064"/>
            <a:ext cx="7406640" cy="3941136"/>
          </a:xfrm>
        </p:spPr>
        <p:txBody>
          <a:bodyPr>
            <a:normAutofit/>
          </a:bodyPr>
          <a:lstStyle/>
          <a:p>
            <a:pPr marL="484632" indent="-457200">
              <a:buFont typeface="Arial" panose="020B0604020202020204" pitchFamily="34" charset="0"/>
              <a:buChar char="•"/>
            </a:pPr>
            <a:r>
              <a:rPr lang="en-US" dirty="0"/>
              <a:t>What is an Operating System</a:t>
            </a:r>
          </a:p>
          <a:p>
            <a:pPr marL="484632" indent="-457200">
              <a:buFont typeface="Arial" panose="020B0604020202020204" pitchFamily="34" charset="0"/>
              <a:buChar char="•"/>
            </a:pPr>
            <a:r>
              <a:rPr lang="en-US" dirty="0"/>
              <a:t>Real Time System</a:t>
            </a:r>
          </a:p>
          <a:p>
            <a:pPr marL="484632" indent="-457200">
              <a:buFont typeface="Arial" panose="020B0604020202020204" pitchFamily="34" charset="0"/>
              <a:buChar char="•"/>
            </a:pPr>
            <a:r>
              <a:rPr lang="en-US" dirty="0"/>
              <a:t>Types of Real time Systems</a:t>
            </a:r>
          </a:p>
          <a:p>
            <a:pPr marL="484632" indent="-457200">
              <a:buFont typeface="Arial" panose="020B0604020202020204" pitchFamily="34" charset="0"/>
              <a:buChar char="•"/>
            </a:pPr>
            <a:r>
              <a:rPr lang="en-US" dirty="0"/>
              <a:t>Real Time Operating System</a:t>
            </a:r>
          </a:p>
          <a:p>
            <a:pPr marL="484632" indent="-457200">
              <a:buFont typeface="Arial" panose="020B0604020202020204" pitchFamily="34" charset="0"/>
              <a:buChar char="•"/>
            </a:pPr>
            <a:r>
              <a:rPr lang="en-US" dirty="0"/>
              <a:t>Types of RTOS</a:t>
            </a:r>
          </a:p>
          <a:p>
            <a:pPr marL="484632" indent="-457200">
              <a:buFont typeface="Arial" panose="020B0604020202020204" pitchFamily="34" charset="0"/>
              <a:buChar char="•"/>
            </a:pPr>
            <a:r>
              <a:rPr lang="en-US" dirty="0"/>
              <a:t>RTOS and Embedded Systems</a:t>
            </a:r>
          </a:p>
          <a:p>
            <a:pPr marL="484632" indent="-457200">
              <a:buFont typeface="Arial" panose="020B0604020202020204" pitchFamily="34" charset="0"/>
              <a:buChar char="•"/>
            </a:pPr>
            <a:r>
              <a:rPr lang="en-US" altLang="zh-CN" dirty="0"/>
              <a:t>When to use RTOS</a:t>
            </a:r>
            <a:endParaRPr lang="en-US" dirty="0"/>
          </a:p>
          <a:p>
            <a:endParaRPr lang="en-US" dirty="0"/>
          </a:p>
        </p:txBody>
      </p:sp>
    </p:spTree>
    <p:extLst>
      <p:ext uri="{BB962C8B-B14F-4D97-AF65-F5344CB8AC3E}">
        <p14:creationId xmlns:p14="http://schemas.microsoft.com/office/powerpoint/2010/main" val="733783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9144000" cy="838200"/>
          </a:xfrm>
        </p:spPr>
        <p:txBody>
          <a:bodyPr>
            <a:normAutofit fontScale="90000"/>
          </a:bodyPr>
          <a:lstStyle/>
          <a:p>
            <a:r>
              <a:rPr lang="en-US" sz="4400" dirty="0"/>
              <a:t>4.1 Introduction - </a:t>
            </a:r>
            <a:r>
              <a:rPr lang="en-US" sz="3600" dirty="0"/>
              <a:t>What is an Operating System?</a:t>
            </a:r>
            <a:endParaRPr lang="en-US" dirty="0"/>
          </a:p>
        </p:txBody>
      </p:sp>
      <p:sp>
        <p:nvSpPr>
          <p:cNvPr id="3" name="Content Placeholder 2"/>
          <p:cNvSpPr>
            <a:spLocks noGrp="1"/>
          </p:cNvSpPr>
          <p:nvPr>
            <p:ph idx="1"/>
          </p:nvPr>
        </p:nvSpPr>
        <p:spPr>
          <a:xfrm>
            <a:off x="838200" y="838200"/>
            <a:ext cx="8382000" cy="5867400"/>
          </a:xfrm>
        </p:spPr>
        <p:txBody>
          <a:bodyPr>
            <a:noAutofit/>
          </a:bodyPr>
          <a:lstStyle/>
          <a:p>
            <a:pPr>
              <a:buFont typeface="Wingdings" pitchFamily="2" charset="2"/>
              <a:buChar char="v"/>
            </a:pPr>
            <a:r>
              <a:rPr lang="en-US" sz="2400" dirty="0"/>
              <a:t>An </a:t>
            </a:r>
            <a:r>
              <a:rPr lang="en-US" sz="2400" dirty="0">
                <a:solidFill>
                  <a:srgbClr val="FF0000"/>
                </a:solidFill>
              </a:rPr>
              <a:t>operating system </a:t>
            </a:r>
            <a:r>
              <a:rPr lang="en-US" sz="2400" dirty="0"/>
              <a:t>is a layer of software which takes care of technical aspects of a computer's operation. </a:t>
            </a:r>
          </a:p>
          <a:p>
            <a:pPr>
              <a:buFont typeface="Wingdings" pitchFamily="2" charset="2"/>
              <a:buChar char="v"/>
            </a:pPr>
            <a:r>
              <a:rPr lang="en-US" sz="2400" dirty="0"/>
              <a:t>It shields the user of the machine from the </a:t>
            </a:r>
            <a:r>
              <a:rPr lang="en-US" sz="2400" dirty="0">
                <a:solidFill>
                  <a:srgbClr val="FF0000"/>
                </a:solidFill>
              </a:rPr>
              <a:t>low-level details</a:t>
            </a:r>
            <a:r>
              <a:rPr lang="en-US" sz="2400" dirty="0"/>
              <a:t> of the machine's operation and provides frequently needed facilities. </a:t>
            </a:r>
          </a:p>
          <a:p>
            <a:pPr>
              <a:buFont typeface="Wingdings" pitchFamily="2" charset="2"/>
              <a:buChar char="v"/>
            </a:pPr>
            <a:r>
              <a:rPr lang="en-US" sz="2400" dirty="0"/>
              <a:t>You can think of it as being the </a:t>
            </a:r>
            <a:r>
              <a:rPr lang="en-US" sz="2400" dirty="0">
                <a:solidFill>
                  <a:srgbClr val="FF0000"/>
                </a:solidFill>
              </a:rPr>
              <a:t>software which is already installed on a machine</a:t>
            </a:r>
            <a:r>
              <a:rPr lang="en-US" sz="2400" dirty="0"/>
              <a:t>, before you add anything of your own. </a:t>
            </a:r>
          </a:p>
          <a:p>
            <a:pPr>
              <a:buFont typeface="Wingdings" pitchFamily="2" charset="2"/>
              <a:buChar char="v"/>
            </a:pPr>
            <a:r>
              <a:rPr lang="en-US" sz="2400" dirty="0"/>
              <a:t>Normally the operating system has a number of key elements: </a:t>
            </a:r>
          </a:p>
          <a:p>
            <a:pPr lvl="2">
              <a:buFont typeface="Wingdings" pitchFamily="2" charset="2"/>
              <a:buChar char="Ø"/>
            </a:pPr>
            <a:r>
              <a:rPr lang="en-US" dirty="0"/>
              <a:t>a </a:t>
            </a:r>
            <a:r>
              <a:rPr lang="en-US" i="1" dirty="0">
                <a:solidFill>
                  <a:srgbClr val="FF0000"/>
                </a:solidFill>
              </a:rPr>
              <a:t>technical layer of software</a:t>
            </a:r>
            <a:r>
              <a:rPr lang="en-US" dirty="0"/>
              <a:t> for driving the hardware of the computer, like disk drives, the keyboard and the screen; </a:t>
            </a:r>
          </a:p>
          <a:p>
            <a:pPr lvl="2">
              <a:buFont typeface="Wingdings" pitchFamily="2" charset="2"/>
              <a:buChar char="Ø"/>
            </a:pPr>
            <a:r>
              <a:rPr lang="en-US" dirty="0"/>
              <a:t>a </a:t>
            </a:r>
            <a:r>
              <a:rPr lang="en-US" i="1" dirty="0">
                <a:solidFill>
                  <a:srgbClr val="FF0000"/>
                </a:solidFill>
              </a:rPr>
              <a:t>file system</a:t>
            </a:r>
            <a:r>
              <a:rPr lang="en-US" dirty="0"/>
              <a:t> which provides a way of organizing files logically, and </a:t>
            </a:r>
          </a:p>
          <a:p>
            <a:pPr lvl="2">
              <a:buFont typeface="Wingdings" pitchFamily="2" charset="2"/>
              <a:buChar char="Ø"/>
            </a:pPr>
            <a:r>
              <a:rPr lang="en-US" dirty="0"/>
              <a:t> a simple </a:t>
            </a:r>
            <a:r>
              <a:rPr lang="en-US" i="1" dirty="0">
                <a:solidFill>
                  <a:srgbClr val="FF0000"/>
                </a:solidFill>
              </a:rPr>
              <a:t>command language</a:t>
            </a:r>
            <a:r>
              <a:rPr lang="en-US" dirty="0">
                <a:solidFill>
                  <a:srgbClr val="FF0000"/>
                </a:solidFill>
              </a:rPr>
              <a:t> </a:t>
            </a:r>
            <a:r>
              <a:rPr lang="en-US" dirty="0"/>
              <a:t>which enables users to run their own programs and to manipulate their files in a simple way.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990600"/>
            <a:ext cx="8915400" cy="5715000"/>
          </a:xfrm>
        </p:spPr>
        <p:txBody>
          <a:bodyPr>
            <a:noAutofit/>
          </a:bodyPr>
          <a:lstStyle/>
          <a:p>
            <a:pPr>
              <a:buFont typeface="Wingdings" pitchFamily="2" charset="2"/>
              <a:buChar char="v"/>
            </a:pPr>
            <a:r>
              <a:rPr lang="en-US" dirty="0"/>
              <a:t>Generally, operating systems:</a:t>
            </a:r>
          </a:p>
          <a:p>
            <a:pPr marL="568325" lvl="1" indent="-282575">
              <a:lnSpc>
                <a:spcPct val="90000"/>
              </a:lnSpc>
              <a:spcBef>
                <a:spcPct val="20000"/>
              </a:spcBef>
              <a:buFont typeface="Wingdings" pitchFamily="2" charset="2"/>
              <a:buChar char="§"/>
            </a:pPr>
            <a:r>
              <a:rPr lang="en-US" sz="3200" dirty="0"/>
              <a:t>Provide an </a:t>
            </a:r>
            <a:r>
              <a:rPr lang="en-US" sz="3200" dirty="0">
                <a:solidFill>
                  <a:srgbClr val="FF0000"/>
                </a:solidFill>
              </a:rPr>
              <a:t>abstraction </a:t>
            </a:r>
            <a:r>
              <a:rPr lang="en-US" sz="3200" dirty="0"/>
              <a:t>over hardware</a:t>
            </a:r>
          </a:p>
          <a:p>
            <a:pPr marL="1025525" lvl="3" indent="-282575">
              <a:lnSpc>
                <a:spcPct val="90000"/>
              </a:lnSpc>
              <a:buFont typeface="Wingdings" pitchFamily="2" charset="2"/>
              <a:buChar char="§"/>
            </a:pPr>
            <a:r>
              <a:rPr lang="en-US" sz="2800" dirty="0"/>
              <a:t>Standard interfaces to a variety of HW</a:t>
            </a:r>
          </a:p>
          <a:p>
            <a:pPr marL="568325" lvl="1" indent="-282575">
              <a:lnSpc>
                <a:spcPct val="90000"/>
              </a:lnSpc>
              <a:spcBef>
                <a:spcPct val="20000"/>
              </a:spcBef>
              <a:buFont typeface="Wingdings" pitchFamily="2" charset="2"/>
              <a:buChar char="§"/>
            </a:pPr>
            <a:r>
              <a:rPr lang="en-US" sz="3200" dirty="0"/>
              <a:t>Provide a </a:t>
            </a:r>
            <a:r>
              <a:rPr lang="en-US" sz="3200" dirty="0">
                <a:solidFill>
                  <a:srgbClr val="FF0000"/>
                </a:solidFill>
              </a:rPr>
              <a:t>user interface </a:t>
            </a:r>
          </a:p>
          <a:p>
            <a:pPr marL="1025525" lvl="3" indent="-282575">
              <a:lnSpc>
                <a:spcPct val="90000"/>
              </a:lnSpc>
              <a:buFont typeface="Wingdings" pitchFamily="2" charset="2"/>
              <a:buChar char="§"/>
            </a:pPr>
            <a:r>
              <a:rPr lang="en-US" sz="2800" dirty="0"/>
              <a:t>not required, but most do</a:t>
            </a:r>
          </a:p>
          <a:p>
            <a:pPr marL="568325" lvl="1" indent="-282575">
              <a:lnSpc>
                <a:spcPct val="90000"/>
              </a:lnSpc>
              <a:spcBef>
                <a:spcPct val="20000"/>
              </a:spcBef>
              <a:buFont typeface="Wingdings" pitchFamily="2" charset="2"/>
              <a:buChar char="§"/>
            </a:pPr>
            <a:r>
              <a:rPr lang="en-US" sz="3200" dirty="0"/>
              <a:t>Provide an </a:t>
            </a:r>
            <a:r>
              <a:rPr lang="en-US" sz="3200" dirty="0">
                <a:solidFill>
                  <a:srgbClr val="FF0000"/>
                </a:solidFill>
              </a:rPr>
              <a:t>Application </a:t>
            </a:r>
            <a:r>
              <a:rPr lang="en-US" sz="3200" dirty="0" err="1">
                <a:solidFill>
                  <a:srgbClr val="FF0000"/>
                </a:solidFill>
              </a:rPr>
              <a:t>Prog’g</a:t>
            </a:r>
            <a:r>
              <a:rPr lang="en-US" sz="3200" dirty="0">
                <a:solidFill>
                  <a:srgbClr val="FF0000"/>
                </a:solidFill>
              </a:rPr>
              <a:t> Interface</a:t>
            </a:r>
          </a:p>
          <a:p>
            <a:pPr marL="568325" lvl="1" indent="-282575">
              <a:lnSpc>
                <a:spcPct val="90000"/>
              </a:lnSpc>
              <a:spcBef>
                <a:spcPct val="20000"/>
              </a:spcBef>
              <a:buFont typeface="Wingdings" pitchFamily="2" charset="2"/>
              <a:buChar char="§"/>
            </a:pPr>
            <a:r>
              <a:rPr lang="en-US" sz="3200" dirty="0">
                <a:solidFill>
                  <a:srgbClr val="FF0000"/>
                </a:solidFill>
              </a:rPr>
              <a:t>Manage</a:t>
            </a:r>
            <a:r>
              <a:rPr lang="en-US" sz="3200" dirty="0"/>
              <a:t> resource sharing</a:t>
            </a:r>
          </a:p>
          <a:p>
            <a:pPr marL="1025525" lvl="3" indent="-282575">
              <a:lnSpc>
                <a:spcPct val="90000"/>
              </a:lnSpc>
              <a:buFont typeface="Wingdings" pitchFamily="2" charset="2"/>
              <a:buChar char="§"/>
            </a:pPr>
            <a:r>
              <a:rPr lang="en-US" sz="2800" dirty="0"/>
              <a:t>CPU, disk drives, network, sound, video, </a:t>
            </a:r>
          </a:p>
          <a:p>
            <a:pPr marL="1025525" lvl="3" indent="-282575">
              <a:lnSpc>
                <a:spcPct val="90000"/>
              </a:lnSpc>
              <a:buNone/>
            </a:pPr>
            <a:r>
              <a:rPr lang="en-US" sz="2800" dirty="0"/>
              <a:t>   keyboard, mouse, ...</a:t>
            </a:r>
          </a:p>
          <a:p>
            <a:pPr marL="568325" lvl="1" indent="-282575">
              <a:lnSpc>
                <a:spcPct val="90000"/>
              </a:lnSpc>
              <a:spcBef>
                <a:spcPct val="20000"/>
              </a:spcBef>
              <a:buFont typeface="Wingdings" pitchFamily="2" charset="2"/>
              <a:buChar char="§"/>
            </a:pPr>
            <a:r>
              <a:rPr lang="en-US" sz="3200" dirty="0"/>
              <a:t>Key objectives depend on OS </a:t>
            </a:r>
          </a:p>
          <a:p>
            <a:pPr marL="1025525" lvl="3" indent="-282575">
              <a:lnSpc>
                <a:spcPct val="90000"/>
              </a:lnSpc>
              <a:buFont typeface="Wingdings" pitchFamily="2" charset="2"/>
              <a:buChar char="§"/>
            </a:pPr>
            <a:r>
              <a:rPr lang="en-US" sz="2800" dirty="0"/>
              <a:t>e.g., Linux vs. Windows vs. PalmOS </a:t>
            </a:r>
          </a:p>
        </p:txBody>
      </p:sp>
      <p:sp>
        <p:nvSpPr>
          <p:cNvPr id="5" name="Title 1"/>
          <p:cNvSpPr>
            <a:spLocks noGrp="1"/>
          </p:cNvSpPr>
          <p:nvPr>
            <p:ph type="title"/>
          </p:nvPr>
        </p:nvSpPr>
        <p:spPr>
          <a:xfrm>
            <a:off x="152400" y="0"/>
            <a:ext cx="9144000" cy="838200"/>
          </a:xfrm>
        </p:spPr>
        <p:txBody>
          <a:bodyPr>
            <a:normAutofit fontScale="90000"/>
          </a:bodyPr>
          <a:lstStyle/>
          <a:p>
            <a:r>
              <a:rPr lang="en-US" sz="4400" dirty="0"/>
              <a:t>4.1 Introduction - </a:t>
            </a:r>
            <a:r>
              <a:rPr lang="en-US" sz="3600" dirty="0"/>
              <a:t>What is an Operating System?</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0"/>
            <a:ext cx="7406640" cy="859302"/>
          </a:xfrm>
        </p:spPr>
        <p:txBody>
          <a:bodyPr/>
          <a:lstStyle/>
          <a:p>
            <a:r>
              <a:rPr lang="en-US" sz="4400" dirty="0"/>
              <a:t>Real Time System</a:t>
            </a:r>
            <a:endParaRPr lang="en-US" dirty="0"/>
          </a:p>
        </p:txBody>
      </p:sp>
      <p:sp>
        <p:nvSpPr>
          <p:cNvPr id="3" name="Subtitle 2"/>
          <p:cNvSpPr>
            <a:spLocks noGrp="1"/>
          </p:cNvSpPr>
          <p:nvPr>
            <p:ph type="subTitle" idx="1"/>
          </p:nvPr>
        </p:nvSpPr>
        <p:spPr>
          <a:xfrm>
            <a:off x="1143000" y="859302"/>
            <a:ext cx="7772400" cy="5998698"/>
          </a:xfrm>
        </p:spPr>
        <p:txBody>
          <a:bodyPr>
            <a:noAutofit/>
          </a:bodyPr>
          <a:lstStyle/>
          <a:p>
            <a:r>
              <a:rPr lang="en-US" sz="2300" dirty="0"/>
              <a:t>What </a:t>
            </a:r>
            <a:r>
              <a:rPr lang="en-US" sz="2300" i="1" dirty="0"/>
              <a:t>is</a:t>
            </a:r>
            <a:r>
              <a:rPr lang="en-US" sz="2300" dirty="0"/>
              <a:t> real-time?</a:t>
            </a:r>
          </a:p>
          <a:p>
            <a:pPr marL="533400" indent="-533400">
              <a:lnSpc>
                <a:spcPct val="90000"/>
              </a:lnSpc>
              <a:buFont typeface="Wingdings" pitchFamily="2" charset="2"/>
              <a:buChar char="v"/>
            </a:pPr>
            <a:r>
              <a:rPr lang="en-US" sz="2300" dirty="0">
                <a:solidFill>
                  <a:srgbClr val="FF0000"/>
                </a:solidFill>
              </a:rPr>
              <a:t>Real Time</a:t>
            </a:r>
            <a:r>
              <a:rPr lang="en-US" sz="2300" dirty="0"/>
              <a:t>:  correctness is partially a function of time </a:t>
            </a:r>
          </a:p>
          <a:p>
            <a:pPr marL="533400" indent="-533400">
              <a:lnSpc>
                <a:spcPct val="90000"/>
              </a:lnSpc>
              <a:buFont typeface="Wingdings" pitchFamily="2" charset="2"/>
              <a:buChar char="v"/>
            </a:pPr>
            <a:r>
              <a:rPr lang="en-US" sz="2300" dirty="0"/>
              <a:t>i.e. Correctness of output depends on </a:t>
            </a:r>
            <a:r>
              <a:rPr lang="en-US" sz="2300" dirty="0">
                <a:solidFill>
                  <a:srgbClr val="FF0000"/>
                </a:solidFill>
              </a:rPr>
              <a:t>timing</a:t>
            </a:r>
            <a:r>
              <a:rPr lang="en-US" sz="2300" dirty="0"/>
              <a:t> as well as </a:t>
            </a:r>
            <a:r>
              <a:rPr lang="en-US" sz="2300" dirty="0">
                <a:solidFill>
                  <a:srgbClr val="FF0000"/>
                </a:solidFill>
              </a:rPr>
              <a:t>result</a:t>
            </a:r>
          </a:p>
          <a:p>
            <a:pPr marL="533400" indent="-533400">
              <a:lnSpc>
                <a:spcPct val="90000"/>
              </a:lnSpc>
              <a:buFont typeface="Wingdings" pitchFamily="2" charset="2"/>
              <a:buChar char="v"/>
            </a:pPr>
            <a:r>
              <a:rPr lang="en-US" sz="2300" dirty="0"/>
              <a:t>A system is said to be </a:t>
            </a:r>
            <a:r>
              <a:rPr lang="en-US" sz="2300" b="1" dirty="0"/>
              <a:t>Real Time </a:t>
            </a:r>
            <a:r>
              <a:rPr lang="en-US" sz="2300" dirty="0"/>
              <a:t>if it is required to complete it’s work &amp; deliver it’s services on time.</a:t>
            </a:r>
          </a:p>
          <a:p>
            <a:pPr marL="533400" indent="-533400">
              <a:lnSpc>
                <a:spcPct val="90000"/>
              </a:lnSpc>
              <a:buFont typeface="Wingdings" pitchFamily="2" charset="2"/>
              <a:buChar char="v"/>
            </a:pPr>
            <a:r>
              <a:rPr lang="en-US" sz="2300" dirty="0"/>
              <a:t>Example – Flight Control System, Real Time Monitors</a:t>
            </a:r>
          </a:p>
          <a:p>
            <a:pPr marL="800100" lvl="1" indent="-342900" algn="l">
              <a:buFont typeface="Arial" panose="020B0604020202020204" pitchFamily="34" charset="0"/>
              <a:buChar char="•"/>
            </a:pPr>
            <a:r>
              <a:rPr lang="en-US" sz="2300" dirty="0"/>
              <a:t>“Real time system means that the system is subjected to </a:t>
            </a:r>
            <a:r>
              <a:rPr lang="en-US" sz="2300" dirty="0">
                <a:solidFill>
                  <a:srgbClr val="FF0000"/>
                </a:solidFill>
              </a:rPr>
              <a:t>real time</a:t>
            </a:r>
            <a:r>
              <a:rPr lang="en-US" sz="2300" dirty="0"/>
              <a:t>, i.e., response should be guaranteed within a specified </a:t>
            </a:r>
            <a:r>
              <a:rPr lang="en-US" sz="2300" dirty="0">
                <a:solidFill>
                  <a:srgbClr val="FF0000"/>
                </a:solidFill>
              </a:rPr>
              <a:t>timing constraint </a:t>
            </a:r>
            <a:r>
              <a:rPr lang="en-US" sz="2300" dirty="0"/>
              <a:t>or system should meet the specified </a:t>
            </a:r>
            <a:r>
              <a:rPr lang="en-US" sz="2300" dirty="0">
                <a:solidFill>
                  <a:srgbClr val="FF0000"/>
                </a:solidFill>
              </a:rPr>
              <a:t>deadline</a:t>
            </a:r>
            <a:r>
              <a:rPr lang="en-US" sz="2300" dirty="0"/>
              <a:t>.”</a:t>
            </a:r>
            <a:endParaRPr lang="en-US" sz="2300" dirty="0">
              <a:solidFill>
                <a:srgbClr val="FF0000"/>
              </a:solidFill>
            </a:endParaRPr>
          </a:p>
          <a:p>
            <a:pPr marL="800100" lvl="1" indent="-342900" algn="l">
              <a:buFont typeface="Arial" panose="020B0604020202020204" pitchFamily="34" charset="0"/>
              <a:buChar char="•"/>
            </a:pPr>
            <a:r>
              <a:rPr lang="en-US" sz="2300" dirty="0">
                <a:solidFill>
                  <a:srgbClr val="FF0000"/>
                </a:solidFill>
              </a:rPr>
              <a:t>All tasks in that system must execute on time.</a:t>
            </a:r>
            <a:endParaRPr lang="en-US" sz="2300" dirty="0">
              <a:solidFill>
                <a:srgbClr val="000000"/>
              </a:solidFill>
            </a:endParaRPr>
          </a:p>
          <a:p>
            <a:pPr marL="27432" lvl="1" algn="l">
              <a:spcBef>
                <a:spcPts val="600"/>
              </a:spcBef>
              <a:buSzPct val="80000"/>
            </a:pPr>
            <a:r>
              <a:rPr lang="en-US" sz="2300" dirty="0">
                <a:solidFill>
                  <a:srgbClr val="000000"/>
                </a:solidFill>
              </a:rPr>
              <a:t>Therefore:</a:t>
            </a:r>
          </a:p>
          <a:p>
            <a:pPr marL="27432" lvl="1" algn="l">
              <a:spcBef>
                <a:spcPts val="600"/>
              </a:spcBef>
              <a:buSzPct val="80000"/>
            </a:pPr>
            <a:r>
              <a:rPr lang="en-US" sz="2300" b="1" i="1" dirty="0">
                <a:solidFill>
                  <a:srgbClr val="000000"/>
                </a:solidFill>
              </a:rPr>
              <a:t>Real time means that correctness of result depends on both </a:t>
            </a:r>
            <a:r>
              <a:rPr lang="en-US" sz="2300" b="1" i="1" dirty="0">
                <a:solidFill>
                  <a:srgbClr val="FF0000"/>
                </a:solidFill>
              </a:rPr>
              <a:t>functional correctness </a:t>
            </a:r>
            <a:r>
              <a:rPr lang="en-US" sz="2300" b="1" i="1" dirty="0">
                <a:solidFill>
                  <a:srgbClr val="000000"/>
                </a:solidFill>
              </a:rPr>
              <a:t>and </a:t>
            </a:r>
            <a:r>
              <a:rPr lang="en-US" sz="2300" b="1" i="1" dirty="0">
                <a:solidFill>
                  <a:srgbClr val="FF0000"/>
                </a:solidFill>
              </a:rPr>
              <a:t>time</a:t>
            </a:r>
            <a:r>
              <a:rPr lang="en-US" sz="2300" b="1" i="1" dirty="0">
                <a:solidFill>
                  <a:srgbClr val="000000"/>
                </a:solidFill>
              </a:rPr>
              <a:t> that the result is delivered.</a:t>
            </a:r>
          </a:p>
          <a:p>
            <a:endParaRPr lang="en-US" sz="2300" dirty="0"/>
          </a:p>
          <a:p>
            <a:endParaRPr lang="en-US" sz="2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Types of Real Time Systems</a:t>
            </a:r>
            <a:endParaRPr lang="en-US" dirty="0"/>
          </a:p>
        </p:txBody>
      </p:sp>
      <p:sp>
        <p:nvSpPr>
          <p:cNvPr id="3" name="Content Placeholder 2"/>
          <p:cNvSpPr>
            <a:spLocks noGrp="1"/>
          </p:cNvSpPr>
          <p:nvPr>
            <p:ph idx="1"/>
          </p:nvPr>
        </p:nvSpPr>
        <p:spPr>
          <a:xfrm>
            <a:off x="990600" y="1600200"/>
            <a:ext cx="7943088" cy="4876800"/>
          </a:xfrm>
        </p:spPr>
        <p:txBody>
          <a:bodyPr>
            <a:normAutofit fontScale="92500" lnSpcReduction="10000"/>
          </a:bodyPr>
          <a:lstStyle/>
          <a:p>
            <a:pPr>
              <a:lnSpc>
                <a:spcPct val="90000"/>
              </a:lnSpc>
            </a:pPr>
            <a:r>
              <a:rPr lang="en-US" sz="2800" dirty="0">
                <a:solidFill>
                  <a:srgbClr val="FF0000"/>
                </a:solidFill>
              </a:rPr>
              <a:t>Hard Real Time System</a:t>
            </a:r>
          </a:p>
          <a:p>
            <a:pPr lvl="1">
              <a:lnSpc>
                <a:spcPct val="90000"/>
              </a:lnSpc>
            </a:pPr>
            <a:r>
              <a:rPr lang="en-US" sz="2400" b="1" dirty="0"/>
              <a:t>Absolute deadline</a:t>
            </a:r>
            <a:r>
              <a:rPr lang="en-US" sz="2400" dirty="0"/>
              <a:t>, beyond which answer is </a:t>
            </a:r>
            <a:r>
              <a:rPr lang="en-US" sz="2400" b="1" dirty="0"/>
              <a:t>useless</a:t>
            </a:r>
          </a:p>
          <a:p>
            <a:pPr lvl="1">
              <a:lnSpc>
                <a:spcPct val="90000"/>
              </a:lnSpc>
            </a:pPr>
            <a:r>
              <a:rPr lang="en-US" sz="2400" dirty="0"/>
              <a:t>May include </a:t>
            </a:r>
            <a:r>
              <a:rPr lang="en-US" sz="2400" b="1" dirty="0"/>
              <a:t>minimum </a:t>
            </a:r>
            <a:r>
              <a:rPr lang="en-US" sz="2400" dirty="0"/>
              <a:t>time as well as </a:t>
            </a:r>
            <a:r>
              <a:rPr lang="en-US" sz="2400" b="1" dirty="0"/>
              <a:t>maximum</a:t>
            </a:r>
            <a:r>
              <a:rPr lang="en-US" sz="2400" dirty="0"/>
              <a:t> time </a:t>
            </a:r>
          </a:p>
          <a:p>
            <a:pPr lvl="1">
              <a:lnSpc>
                <a:spcPct val="90000"/>
              </a:lnSpc>
            </a:pPr>
            <a:r>
              <a:rPr lang="en-US" sz="2400" dirty="0"/>
              <a:t>Failure to meet deadlines is </a:t>
            </a:r>
            <a:r>
              <a:rPr lang="en-US" sz="2400" b="1" dirty="0"/>
              <a:t>fatal</a:t>
            </a:r>
          </a:p>
          <a:p>
            <a:pPr lvl="2">
              <a:lnSpc>
                <a:spcPct val="90000"/>
              </a:lnSpc>
            </a:pPr>
            <a:r>
              <a:rPr lang="en-US" sz="1800" dirty="0"/>
              <a:t>example : Flight Control System</a:t>
            </a:r>
          </a:p>
          <a:p>
            <a:pPr lvl="2">
              <a:lnSpc>
                <a:spcPct val="90000"/>
              </a:lnSpc>
              <a:buNone/>
            </a:pPr>
            <a:endParaRPr lang="en-US" sz="1800" dirty="0"/>
          </a:p>
          <a:p>
            <a:pPr>
              <a:lnSpc>
                <a:spcPct val="90000"/>
              </a:lnSpc>
            </a:pPr>
            <a:r>
              <a:rPr lang="en-US" sz="2800" dirty="0">
                <a:solidFill>
                  <a:srgbClr val="FF0000"/>
                </a:solidFill>
              </a:rPr>
              <a:t>Soft Real Time System</a:t>
            </a:r>
          </a:p>
          <a:p>
            <a:pPr lvl="1">
              <a:lnSpc>
                <a:spcPct val="90000"/>
              </a:lnSpc>
            </a:pPr>
            <a:r>
              <a:rPr lang="en-US" sz="2600" b="1" dirty="0"/>
              <a:t>Approximate deadline</a:t>
            </a:r>
          </a:p>
          <a:p>
            <a:pPr lvl="1">
              <a:lnSpc>
                <a:spcPct val="90000"/>
              </a:lnSpc>
            </a:pPr>
            <a:r>
              <a:rPr lang="en-US" sz="2600" dirty="0"/>
              <a:t>Utility of answer </a:t>
            </a:r>
            <a:r>
              <a:rPr lang="en-US" sz="2600" b="1" dirty="0"/>
              <a:t>degrades</a:t>
            </a:r>
            <a:r>
              <a:rPr lang="en-US" sz="2600" dirty="0"/>
              <a:t> with </a:t>
            </a:r>
            <a:r>
              <a:rPr lang="en-US" sz="2600" b="1" dirty="0"/>
              <a:t>time difference </a:t>
            </a:r>
            <a:r>
              <a:rPr lang="en-US" sz="2600" dirty="0"/>
              <a:t>from deadline</a:t>
            </a:r>
          </a:p>
          <a:p>
            <a:pPr lvl="1">
              <a:lnSpc>
                <a:spcPct val="90000"/>
              </a:lnSpc>
            </a:pPr>
            <a:r>
              <a:rPr lang="en-US" sz="2600" dirty="0"/>
              <a:t>Late completion of jobs is </a:t>
            </a:r>
            <a:r>
              <a:rPr lang="en-US" sz="2600" b="1" dirty="0"/>
              <a:t>undesirable but not fatal</a:t>
            </a:r>
            <a:r>
              <a:rPr lang="en-US" sz="2600" dirty="0"/>
              <a:t>.</a:t>
            </a:r>
          </a:p>
          <a:p>
            <a:pPr lvl="1">
              <a:lnSpc>
                <a:spcPct val="90000"/>
              </a:lnSpc>
            </a:pPr>
            <a:r>
              <a:rPr lang="en-US" sz="2600" dirty="0"/>
              <a:t>System </a:t>
            </a:r>
            <a:r>
              <a:rPr lang="en-US" sz="2600" b="1" dirty="0"/>
              <a:t>performance degrades </a:t>
            </a:r>
            <a:r>
              <a:rPr lang="en-US" sz="2600" dirty="0"/>
              <a:t>as more &amp; more jobs miss deadlines</a:t>
            </a:r>
          </a:p>
          <a:p>
            <a:pPr lvl="2">
              <a:lnSpc>
                <a:spcPct val="90000"/>
              </a:lnSpc>
            </a:pPr>
            <a:r>
              <a:rPr lang="en-US" sz="2000" dirty="0"/>
              <a:t>Example: Online Databases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76200"/>
            <a:ext cx="8001000" cy="1143000"/>
          </a:xfrm>
        </p:spPr>
        <p:txBody>
          <a:bodyPr>
            <a:normAutofit/>
          </a:bodyPr>
          <a:lstStyle/>
          <a:p>
            <a:r>
              <a:rPr lang="en-US" sz="3600" dirty="0"/>
              <a:t>Definition- Real Time Operating System</a:t>
            </a:r>
          </a:p>
        </p:txBody>
      </p:sp>
      <p:sp>
        <p:nvSpPr>
          <p:cNvPr id="3" name="Content Placeholder 2"/>
          <p:cNvSpPr>
            <a:spLocks noGrp="1"/>
          </p:cNvSpPr>
          <p:nvPr>
            <p:ph idx="1"/>
          </p:nvPr>
        </p:nvSpPr>
        <p:spPr>
          <a:xfrm>
            <a:off x="1066800" y="1219200"/>
            <a:ext cx="7866888" cy="5410200"/>
          </a:xfrm>
        </p:spPr>
        <p:txBody>
          <a:bodyPr>
            <a:normAutofit fontScale="92500" lnSpcReduction="20000"/>
          </a:bodyPr>
          <a:lstStyle/>
          <a:p>
            <a:r>
              <a:rPr lang="en-US" dirty="0"/>
              <a:t>A </a:t>
            </a:r>
            <a:r>
              <a:rPr lang="en-US" dirty="0">
                <a:solidFill>
                  <a:srgbClr val="FF0000"/>
                </a:solidFill>
              </a:rPr>
              <a:t>real-time operating system </a:t>
            </a:r>
            <a:r>
              <a:rPr lang="en-US" dirty="0"/>
              <a:t>(RTOS) is an operating system that guarantees a certain capability within a specified </a:t>
            </a:r>
            <a:r>
              <a:rPr lang="en-US" dirty="0">
                <a:solidFill>
                  <a:srgbClr val="FF0000"/>
                </a:solidFill>
              </a:rPr>
              <a:t>time constraint</a:t>
            </a:r>
            <a:r>
              <a:rPr lang="en-US" dirty="0"/>
              <a:t>.</a:t>
            </a:r>
          </a:p>
          <a:p>
            <a:r>
              <a:rPr lang="en-US" dirty="0"/>
              <a:t>An RTOS is an operating systems in which the </a:t>
            </a:r>
            <a:r>
              <a:rPr lang="en-US" dirty="0">
                <a:solidFill>
                  <a:srgbClr val="FF0000"/>
                </a:solidFill>
              </a:rPr>
              <a:t>maximum time</a:t>
            </a:r>
            <a:r>
              <a:rPr lang="en-US" dirty="0"/>
              <a:t> from an input stimulus to an output response can be </a:t>
            </a:r>
            <a:r>
              <a:rPr lang="en-US" dirty="0">
                <a:solidFill>
                  <a:srgbClr val="FF0000"/>
                </a:solidFill>
              </a:rPr>
              <a:t>definitely determined</a:t>
            </a:r>
            <a:r>
              <a:rPr lang="en-US" dirty="0"/>
              <a:t>.</a:t>
            </a:r>
          </a:p>
          <a:p>
            <a:r>
              <a:rPr lang="en-US" dirty="0"/>
              <a:t>It is a </a:t>
            </a:r>
            <a:r>
              <a:rPr lang="en-US" dirty="0">
                <a:solidFill>
                  <a:srgbClr val="FF0000"/>
                </a:solidFill>
              </a:rPr>
              <a:t>multitasking</a:t>
            </a:r>
            <a:r>
              <a:rPr lang="en-US" dirty="0"/>
              <a:t> operating system intended for real-time applications with </a:t>
            </a:r>
            <a:r>
              <a:rPr lang="en-US" dirty="0">
                <a:solidFill>
                  <a:srgbClr val="FF0000"/>
                </a:solidFill>
              </a:rPr>
              <a:t>fixed deadlines</a:t>
            </a:r>
            <a:r>
              <a:rPr lang="en-US" dirty="0"/>
              <a:t> </a:t>
            </a:r>
          </a:p>
          <a:p>
            <a:pPr>
              <a:buNone/>
            </a:pPr>
            <a:r>
              <a:rPr lang="en-US" dirty="0"/>
              <a:t>	(real-time computing). </a:t>
            </a:r>
          </a:p>
          <a:p>
            <a:r>
              <a:rPr lang="en-US" dirty="0"/>
              <a:t>Such applications include </a:t>
            </a:r>
            <a:r>
              <a:rPr lang="en-US" dirty="0">
                <a:solidFill>
                  <a:srgbClr val="FF0000"/>
                </a:solidFill>
              </a:rPr>
              <a:t>embedded systems</a:t>
            </a:r>
            <a:r>
              <a:rPr lang="en-US" dirty="0"/>
              <a:t>:</a:t>
            </a:r>
          </a:p>
          <a:p>
            <a:pPr lvl="1"/>
            <a:r>
              <a:rPr lang="en-US" dirty="0"/>
              <a:t>programmable thermostats, household appliance controllers, industrial robots, spacecraft, industrial control, and scientific research equipment.</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RTOS</a:t>
            </a:r>
          </a:p>
        </p:txBody>
      </p:sp>
      <p:sp>
        <p:nvSpPr>
          <p:cNvPr id="3" name="Content Placeholder 2"/>
          <p:cNvSpPr>
            <a:spLocks noGrp="1"/>
          </p:cNvSpPr>
          <p:nvPr>
            <p:ph idx="1"/>
          </p:nvPr>
        </p:nvSpPr>
        <p:spPr/>
        <p:txBody>
          <a:bodyPr>
            <a:normAutofit/>
          </a:bodyPr>
          <a:lstStyle/>
          <a:p>
            <a:r>
              <a:rPr lang="en-US" dirty="0"/>
              <a:t>An RTOS may be either </a:t>
            </a:r>
          </a:p>
          <a:p>
            <a:pPr lvl="1"/>
            <a:r>
              <a:rPr lang="en-US" dirty="0"/>
              <a:t>event-driven or </a:t>
            </a:r>
          </a:p>
          <a:p>
            <a:pPr lvl="1"/>
            <a:r>
              <a:rPr lang="en-US" dirty="0"/>
              <a:t>time-sharing. </a:t>
            </a:r>
          </a:p>
          <a:p>
            <a:r>
              <a:rPr lang="en-US" dirty="0"/>
              <a:t>An </a:t>
            </a:r>
            <a:r>
              <a:rPr lang="en-US" dirty="0">
                <a:solidFill>
                  <a:srgbClr val="FF0000"/>
                </a:solidFill>
              </a:rPr>
              <a:t>event-driven</a:t>
            </a:r>
            <a:r>
              <a:rPr lang="en-US" dirty="0"/>
              <a:t> RTOS is a system that changes state only in response to an incoming event. </a:t>
            </a:r>
          </a:p>
          <a:p>
            <a:r>
              <a:rPr lang="en-US" dirty="0"/>
              <a:t>A </a:t>
            </a:r>
            <a:r>
              <a:rPr lang="en-US" dirty="0">
                <a:solidFill>
                  <a:srgbClr val="FF0000"/>
                </a:solidFill>
              </a:rPr>
              <a:t>time-sharing </a:t>
            </a:r>
            <a:r>
              <a:rPr lang="en-US" dirty="0"/>
              <a:t>RTOS is a system that changes state as a function of time</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74638"/>
            <a:ext cx="7790688" cy="1143000"/>
          </a:xfrm>
        </p:spPr>
        <p:txBody>
          <a:bodyPr>
            <a:normAutofit fontScale="90000"/>
          </a:bodyPr>
          <a:lstStyle/>
          <a:p>
            <a:r>
              <a:rPr lang="en-US" sz="4400" dirty="0"/>
              <a:t>Role of an OS in Real Time Systems</a:t>
            </a:r>
            <a:endParaRPr lang="en-US" dirty="0"/>
          </a:p>
        </p:txBody>
      </p:sp>
      <p:sp>
        <p:nvSpPr>
          <p:cNvPr id="3" name="Content Placeholder 2"/>
          <p:cNvSpPr>
            <a:spLocks noGrp="1"/>
          </p:cNvSpPr>
          <p:nvPr>
            <p:ph idx="1"/>
          </p:nvPr>
        </p:nvSpPr>
        <p:spPr/>
        <p:txBody>
          <a:bodyPr/>
          <a:lstStyle/>
          <a:p>
            <a:r>
              <a:rPr lang="en-US" sz="2800" b="1" dirty="0"/>
              <a:t>Standalone Applications</a:t>
            </a:r>
          </a:p>
          <a:p>
            <a:pPr lvl="1"/>
            <a:r>
              <a:rPr lang="en-US" sz="2400" dirty="0"/>
              <a:t>Often no OS involved</a:t>
            </a:r>
          </a:p>
          <a:p>
            <a:pPr lvl="1"/>
            <a:r>
              <a:rPr lang="en-US" sz="2400" dirty="0"/>
              <a:t>Micro controller based Embedded Systems </a:t>
            </a:r>
          </a:p>
          <a:p>
            <a:pPr lvl="1">
              <a:buNone/>
            </a:pPr>
            <a:endParaRPr lang="en-US" sz="2400" dirty="0"/>
          </a:p>
          <a:p>
            <a:r>
              <a:rPr lang="en-US" sz="2800" b="1" dirty="0"/>
              <a:t>Some Real Time Applications are huge &amp; complex</a:t>
            </a:r>
          </a:p>
          <a:p>
            <a:pPr lvl="1"/>
            <a:r>
              <a:rPr lang="en-US" sz="2400" dirty="0"/>
              <a:t>Multiple threads	</a:t>
            </a:r>
          </a:p>
          <a:p>
            <a:pPr lvl="1"/>
            <a:r>
              <a:rPr lang="en-US" sz="2400" dirty="0"/>
              <a:t>Complicated Synchronization Requirements</a:t>
            </a:r>
          </a:p>
          <a:p>
            <a:pPr lvl="1"/>
            <a:r>
              <a:rPr lang="en-US" sz="2400" dirty="0"/>
              <a:t>Filesystem / Network / Windowing support</a:t>
            </a:r>
          </a:p>
          <a:p>
            <a:pPr lvl="1"/>
            <a:r>
              <a:rPr lang="en-US" sz="2400" dirty="0"/>
              <a:t>OS primitives reduce the software design time</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0"/>
            <a:ext cx="7498080" cy="1143000"/>
          </a:xfrm>
        </p:spPr>
        <p:txBody>
          <a:bodyPr/>
          <a:lstStyle/>
          <a:p>
            <a:r>
              <a:rPr lang="en-US" dirty="0"/>
              <a:t>RTOS and Embedded Systems</a:t>
            </a:r>
          </a:p>
        </p:txBody>
      </p:sp>
      <p:sp>
        <p:nvSpPr>
          <p:cNvPr id="3" name="Content Placeholder 2"/>
          <p:cNvSpPr>
            <a:spLocks noGrp="1"/>
          </p:cNvSpPr>
          <p:nvPr>
            <p:ph idx="1"/>
          </p:nvPr>
        </p:nvSpPr>
        <p:spPr>
          <a:xfrm>
            <a:off x="972312" y="1066800"/>
            <a:ext cx="8171688" cy="5791200"/>
          </a:xfrm>
        </p:spPr>
        <p:txBody>
          <a:bodyPr>
            <a:normAutofit fontScale="77500" lnSpcReduction="20000"/>
          </a:bodyPr>
          <a:lstStyle/>
          <a:p>
            <a:pPr>
              <a:buFont typeface="Wingdings" pitchFamily="2" charset="2"/>
              <a:buChar char="v"/>
            </a:pPr>
            <a:r>
              <a:rPr lang="en-US" dirty="0"/>
              <a:t>Embedded systems interface with the outside world through </a:t>
            </a:r>
            <a:r>
              <a:rPr lang="en-US" dirty="0">
                <a:solidFill>
                  <a:srgbClr val="FF0000"/>
                </a:solidFill>
              </a:rPr>
              <a:t>unusual interfaces </a:t>
            </a:r>
            <a:r>
              <a:rPr lang="en-US" dirty="0"/>
              <a:t>such as sensors, actuators and specialized </a:t>
            </a:r>
            <a:br>
              <a:rPr lang="en-US" dirty="0"/>
            </a:br>
            <a:r>
              <a:rPr lang="en-US" dirty="0"/>
              <a:t>communication links(not using mouse, keyboard and graphic user interface).  </a:t>
            </a:r>
          </a:p>
          <a:p>
            <a:pPr>
              <a:buNone/>
            </a:pPr>
            <a:endParaRPr lang="en-US" dirty="0"/>
          </a:p>
          <a:p>
            <a:pPr>
              <a:buFont typeface="Wingdings" pitchFamily="2" charset="2"/>
              <a:buChar char="v"/>
            </a:pPr>
            <a:r>
              <a:rPr lang="en-US" dirty="0"/>
              <a:t>Real-time and embedded systems operate in </a:t>
            </a:r>
            <a:r>
              <a:rPr lang="en-US" dirty="0">
                <a:solidFill>
                  <a:srgbClr val="FF0000"/>
                </a:solidFill>
              </a:rPr>
              <a:t>constrained environments </a:t>
            </a:r>
            <a:r>
              <a:rPr lang="en-US" dirty="0"/>
              <a:t>in which computer memory and processing  power are limited. </a:t>
            </a:r>
          </a:p>
          <a:p>
            <a:pPr>
              <a:buNone/>
            </a:pPr>
            <a:endParaRPr lang="en-US" dirty="0"/>
          </a:p>
          <a:p>
            <a:pPr>
              <a:buFont typeface="Wingdings" pitchFamily="2" charset="2"/>
              <a:buChar char="v"/>
            </a:pPr>
            <a:r>
              <a:rPr lang="en-US" dirty="0"/>
              <a:t>They often need to provide their services </a:t>
            </a:r>
            <a:r>
              <a:rPr lang="en-US" dirty="0">
                <a:solidFill>
                  <a:srgbClr val="FF0000"/>
                </a:solidFill>
              </a:rPr>
              <a:t>within strict time deadlines</a:t>
            </a:r>
            <a:r>
              <a:rPr lang="en-US" dirty="0"/>
              <a:t> to their users and to the surrounding world.  </a:t>
            </a:r>
          </a:p>
          <a:p>
            <a:pPr>
              <a:buNone/>
            </a:pPr>
            <a:endParaRPr lang="en-US" dirty="0"/>
          </a:p>
          <a:p>
            <a:pPr>
              <a:buFont typeface="Wingdings" pitchFamily="2" charset="2"/>
              <a:buChar char="v"/>
            </a:pPr>
            <a:r>
              <a:rPr lang="en-US" dirty="0"/>
              <a:t> It is these </a:t>
            </a:r>
            <a:r>
              <a:rPr lang="en-US" dirty="0">
                <a:solidFill>
                  <a:srgbClr val="FF0000"/>
                </a:solidFill>
              </a:rPr>
              <a:t>memory</a:t>
            </a:r>
            <a:r>
              <a:rPr lang="en-US" dirty="0"/>
              <a:t>, </a:t>
            </a:r>
            <a:r>
              <a:rPr lang="en-US" dirty="0">
                <a:solidFill>
                  <a:srgbClr val="FF0000"/>
                </a:solidFill>
              </a:rPr>
              <a:t>speed</a:t>
            </a:r>
            <a:r>
              <a:rPr lang="en-US" dirty="0"/>
              <a:t> and </a:t>
            </a:r>
            <a:r>
              <a:rPr lang="en-US" dirty="0">
                <a:solidFill>
                  <a:srgbClr val="FF0000"/>
                </a:solidFill>
              </a:rPr>
              <a:t>timing</a:t>
            </a:r>
            <a:r>
              <a:rPr lang="en-US" dirty="0"/>
              <a:t> constraints that dictate the use of real-time operating systems in embedded software.</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1435608" y="0"/>
            <a:ext cx="7498080" cy="1143000"/>
          </a:xfrm>
        </p:spPr>
        <p:txBody>
          <a:bodyPr/>
          <a:lstStyle/>
          <a:p>
            <a:pPr eaLnBrk="1" hangingPunct="1"/>
            <a:r>
              <a:rPr lang="en-US" altLang="zh-CN" sz="3600" dirty="0"/>
              <a:t>When to use RTOS</a:t>
            </a:r>
          </a:p>
        </p:txBody>
      </p:sp>
      <p:sp>
        <p:nvSpPr>
          <p:cNvPr id="38915" name="Content Placeholder 2"/>
          <p:cNvSpPr>
            <a:spLocks noGrp="1"/>
          </p:cNvSpPr>
          <p:nvPr>
            <p:ph idx="1"/>
          </p:nvPr>
        </p:nvSpPr>
        <p:spPr>
          <a:xfrm>
            <a:off x="1143000" y="990600"/>
            <a:ext cx="7790688" cy="5867400"/>
          </a:xfrm>
        </p:spPr>
        <p:txBody>
          <a:bodyPr>
            <a:normAutofit/>
          </a:bodyPr>
          <a:lstStyle/>
          <a:p>
            <a:pPr eaLnBrk="1" hangingPunct="1"/>
            <a:r>
              <a:rPr lang="en-US" altLang="zh-CN" dirty="0"/>
              <a:t>Large projects </a:t>
            </a:r>
            <a:r>
              <a:rPr lang="en-US" altLang="zh-CN" dirty="0">
                <a:solidFill>
                  <a:srgbClr val="FF0000"/>
                </a:solidFill>
              </a:rPr>
              <a:t>benefit </a:t>
            </a:r>
            <a:r>
              <a:rPr lang="en-US" altLang="zh-CN" dirty="0"/>
              <a:t>from using an RTOS</a:t>
            </a:r>
          </a:p>
          <a:p>
            <a:pPr lvl="1" eaLnBrk="1" hangingPunct="1"/>
            <a:r>
              <a:rPr lang="en-US" altLang="zh-CN" sz="3200" dirty="0"/>
              <a:t>Standardized system functions makes coding easier</a:t>
            </a:r>
          </a:p>
          <a:p>
            <a:pPr lvl="2"/>
            <a:r>
              <a:rPr lang="en-US" altLang="zh-CN" dirty="0"/>
              <a:t>(task switching, task communication, etc.)</a:t>
            </a:r>
          </a:p>
          <a:p>
            <a:pPr lvl="1" eaLnBrk="1" hangingPunct="1">
              <a:buNone/>
            </a:pPr>
            <a:endParaRPr lang="en-US" altLang="zh-CN" sz="3200" dirty="0"/>
          </a:p>
          <a:p>
            <a:pPr lvl="1" eaLnBrk="1" hangingPunct="1"/>
            <a:r>
              <a:rPr lang="en-US" altLang="zh-CN" sz="3200" dirty="0"/>
              <a:t>Tasks makes large systems more </a:t>
            </a:r>
            <a:r>
              <a:rPr lang="en-US" altLang="zh-CN" sz="3200" dirty="0">
                <a:solidFill>
                  <a:srgbClr val="FF0000"/>
                </a:solidFill>
              </a:rPr>
              <a:t>modular</a:t>
            </a:r>
            <a:r>
              <a:rPr lang="en-US" altLang="zh-CN" sz="3200" dirty="0"/>
              <a:t> and easier to debug</a:t>
            </a:r>
          </a:p>
          <a:p>
            <a:pPr lvl="1" eaLnBrk="1" hangingPunct="1">
              <a:buNone/>
            </a:pPr>
            <a:endParaRPr lang="en-US" altLang="zh-CN" sz="3200" dirty="0"/>
          </a:p>
          <a:p>
            <a:pPr lvl="1" eaLnBrk="1" hangingPunct="1"/>
            <a:r>
              <a:rPr lang="en-US" altLang="zh-CN" sz="3200" dirty="0"/>
              <a:t>Generally when a system has a dozen or more tasks that all have </a:t>
            </a:r>
            <a:r>
              <a:rPr lang="en-US" altLang="zh-CN" sz="3200" dirty="0">
                <a:solidFill>
                  <a:srgbClr val="FF0000"/>
                </a:solidFill>
              </a:rPr>
              <a:t>timing constraints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1435608" y="-76200"/>
            <a:ext cx="7498080" cy="1143000"/>
          </a:xfrm>
        </p:spPr>
        <p:txBody>
          <a:bodyPr/>
          <a:lstStyle/>
          <a:p>
            <a:pPr eaLnBrk="1" hangingPunct="1"/>
            <a:r>
              <a:rPr lang="en-US" altLang="zh-CN" sz="3600" dirty="0"/>
              <a:t>Contd.</a:t>
            </a:r>
          </a:p>
        </p:txBody>
      </p:sp>
      <p:sp>
        <p:nvSpPr>
          <p:cNvPr id="39939" name="Content Placeholder 2"/>
          <p:cNvSpPr>
            <a:spLocks noGrp="1"/>
          </p:cNvSpPr>
          <p:nvPr>
            <p:ph idx="1"/>
          </p:nvPr>
        </p:nvSpPr>
        <p:spPr>
          <a:xfrm>
            <a:off x="1295400" y="990600"/>
            <a:ext cx="7638288" cy="5562600"/>
          </a:xfrm>
        </p:spPr>
        <p:txBody>
          <a:bodyPr/>
          <a:lstStyle/>
          <a:p>
            <a:pPr eaLnBrk="1" hangingPunct="1"/>
            <a:r>
              <a:rPr lang="en-US" altLang="zh-CN" sz="2800" dirty="0">
                <a:solidFill>
                  <a:srgbClr val="FF0000"/>
                </a:solidFill>
              </a:rPr>
              <a:t>Ultra-compact</a:t>
            </a:r>
            <a:r>
              <a:rPr lang="en-US" altLang="zh-CN" sz="2800" dirty="0"/>
              <a:t> systems may be better off without using an RTOS</a:t>
            </a:r>
          </a:p>
          <a:p>
            <a:pPr eaLnBrk="1" hangingPunct="1">
              <a:buNone/>
            </a:pPr>
            <a:endParaRPr lang="en-US" altLang="zh-CN" sz="2800" dirty="0"/>
          </a:p>
          <a:p>
            <a:pPr lvl="1" eaLnBrk="1" hangingPunct="1"/>
            <a:r>
              <a:rPr lang="en-US" altLang="zh-CN" dirty="0"/>
              <a:t>Small systems are easier to code from scratch and can incorporate processor optimizations, making the system more efficient than one using RTOS</a:t>
            </a:r>
          </a:p>
          <a:p>
            <a:pPr lvl="1" eaLnBrk="1" hangingPunct="1"/>
            <a:endParaRPr lang="en-US" altLang="zh-CN" dirty="0"/>
          </a:p>
          <a:p>
            <a:pPr lvl="1" eaLnBrk="1" hangingPunct="1"/>
            <a:r>
              <a:rPr lang="en-US" altLang="zh-CN" dirty="0"/>
              <a:t>A full-featured RTOS may not fit within the size limits of an ultra-compact system.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23035" y="990600"/>
            <a:ext cx="7406640" cy="1472184"/>
          </a:xfrm>
        </p:spPr>
        <p:txBody>
          <a:bodyPr>
            <a:noAutofit/>
          </a:bodyPr>
          <a:lstStyle/>
          <a:p>
            <a:r>
              <a:rPr lang="en-US" sz="3200" b="1" dirty="0"/>
              <a:t>4.2: Context switching Mechanisms</a:t>
            </a:r>
            <a:br>
              <a:rPr lang="en-US" sz="3200" b="1" dirty="0"/>
            </a:br>
            <a:endParaRPr lang="en-US" sz="3200" dirty="0"/>
          </a:p>
        </p:txBody>
      </p:sp>
      <p:sp>
        <p:nvSpPr>
          <p:cNvPr id="3" name="Subtitle 2"/>
          <p:cNvSpPr>
            <a:spLocks noGrp="1"/>
          </p:cNvSpPr>
          <p:nvPr>
            <p:ph type="subTitle" idx="1"/>
          </p:nvPr>
        </p:nvSpPr>
        <p:spPr>
          <a:xfrm>
            <a:off x="1442085" y="2667000"/>
            <a:ext cx="7406640" cy="3941136"/>
          </a:xfrm>
        </p:spPr>
        <p:txBody>
          <a:bodyPr>
            <a:normAutofit/>
          </a:bodyPr>
          <a:lstStyle/>
          <a:p>
            <a:pPr marL="484632" indent="-457200">
              <a:buFont typeface="Arial" panose="020B0604020202020204" pitchFamily="34" charset="0"/>
              <a:buChar char="•"/>
            </a:pPr>
            <a:r>
              <a:rPr lang="en-US" sz="2800" dirty="0"/>
              <a:t>What is Context Switching?</a:t>
            </a:r>
          </a:p>
          <a:p>
            <a:pPr marL="484632" indent="-457200">
              <a:buFont typeface="Arial" panose="020B0604020202020204" pitchFamily="34" charset="0"/>
              <a:buChar char="•"/>
            </a:pPr>
            <a:r>
              <a:rPr lang="en-US" sz="2800" dirty="0"/>
              <a:t>When to switch?</a:t>
            </a:r>
          </a:p>
          <a:p>
            <a:pPr marL="484632" indent="-457200">
              <a:buFont typeface="Arial" panose="020B0604020202020204" pitchFamily="34" charset="0"/>
              <a:buChar char="•"/>
            </a:pPr>
            <a:r>
              <a:rPr lang="en-US" sz="2800" dirty="0"/>
              <a:t>Interrupt service routines(ISR)</a:t>
            </a:r>
          </a:p>
          <a:p>
            <a:pPr marL="484632" indent="-457200">
              <a:buFont typeface="Arial" panose="020B0604020202020204" pitchFamily="34" charset="0"/>
              <a:buChar char="•"/>
            </a:pPr>
            <a:r>
              <a:rPr lang="en-US" sz="2800" dirty="0"/>
              <a:t>Tasks and Task States</a:t>
            </a:r>
          </a:p>
          <a:p>
            <a:endParaRPr lang="en-US" dirty="0"/>
          </a:p>
        </p:txBody>
      </p:sp>
    </p:spTree>
    <p:extLst>
      <p:ext uri="{BB962C8B-B14F-4D97-AF65-F5344CB8AC3E}">
        <p14:creationId xmlns:p14="http://schemas.microsoft.com/office/powerpoint/2010/main" val="2955672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639762"/>
          </a:xfrm>
        </p:spPr>
        <p:txBody>
          <a:bodyPr>
            <a:normAutofit fontScale="90000"/>
          </a:bodyPr>
          <a:lstStyle/>
          <a:p>
            <a:r>
              <a:rPr lang="en-US" dirty="0"/>
              <a:t>4.2 Context switching Mechanisms</a:t>
            </a:r>
            <a:br>
              <a:rPr lang="en-US" dirty="0"/>
            </a:br>
            <a:r>
              <a:rPr lang="en-US" dirty="0"/>
              <a:t>4.2.1 What is Context Switching?</a:t>
            </a:r>
          </a:p>
        </p:txBody>
      </p:sp>
      <p:sp>
        <p:nvSpPr>
          <p:cNvPr id="3" name="Content Placeholder 2"/>
          <p:cNvSpPr>
            <a:spLocks noGrp="1"/>
          </p:cNvSpPr>
          <p:nvPr>
            <p:ph idx="1"/>
          </p:nvPr>
        </p:nvSpPr>
        <p:spPr>
          <a:xfrm>
            <a:off x="1143000" y="1295400"/>
            <a:ext cx="7790688" cy="5334000"/>
          </a:xfrm>
        </p:spPr>
        <p:txBody>
          <a:bodyPr>
            <a:normAutofit/>
          </a:bodyPr>
          <a:lstStyle/>
          <a:p>
            <a:pPr>
              <a:lnSpc>
                <a:spcPct val="90000"/>
              </a:lnSpc>
            </a:pPr>
            <a:r>
              <a:rPr lang="en-US" sz="2800" dirty="0">
                <a:solidFill>
                  <a:srgbClr val="FF0000"/>
                </a:solidFill>
              </a:rPr>
              <a:t>Context switching </a:t>
            </a:r>
            <a:r>
              <a:rPr lang="en-US" sz="2800" dirty="0"/>
              <a:t>is the process of </a:t>
            </a:r>
            <a:r>
              <a:rPr lang="en-US" sz="2800" b="1" dirty="0"/>
              <a:t>saving</a:t>
            </a:r>
            <a:r>
              <a:rPr lang="en-US" sz="2800" dirty="0"/>
              <a:t> and </a:t>
            </a:r>
            <a:r>
              <a:rPr lang="en-US" sz="2800" b="1" dirty="0"/>
              <a:t>restoring </a:t>
            </a:r>
            <a:r>
              <a:rPr lang="en-US" sz="2800" dirty="0"/>
              <a:t>sufficient information for a real-time task so that it can be </a:t>
            </a:r>
            <a:r>
              <a:rPr lang="en-US" sz="2800" b="1" dirty="0"/>
              <a:t>resumed after being interrupted</a:t>
            </a:r>
            <a:r>
              <a:rPr lang="en-US" sz="2800" dirty="0"/>
              <a:t>.  </a:t>
            </a:r>
          </a:p>
          <a:p>
            <a:pPr>
              <a:lnSpc>
                <a:spcPct val="90000"/>
              </a:lnSpc>
            </a:pPr>
            <a:r>
              <a:rPr lang="en-US" sz="2800" dirty="0"/>
              <a:t>The context is ordinarily saved to a </a:t>
            </a:r>
            <a:r>
              <a:rPr lang="en-US" sz="2800" dirty="0">
                <a:solidFill>
                  <a:srgbClr val="FF0000"/>
                </a:solidFill>
              </a:rPr>
              <a:t>stack data </a:t>
            </a:r>
            <a:r>
              <a:rPr lang="en-US" sz="2800" dirty="0"/>
              <a:t>structure.</a:t>
            </a:r>
          </a:p>
          <a:p>
            <a:r>
              <a:rPr lang="en-US" sz="2800" dirty="0"/>
              <a:t>This enables multiple processes to share a single CPU. </a:t>
            </a:r>
          </a:p>
          <a:p>
            <a:r>
              <a:rPr lang="en-US" sz="2800" dirty="0"/>
              <a:t>The context switch is an </a:t>
            </a:r>
            <a:r>
              <a:rPr lang="en-US" sz="2800" b="1" dirty="0"/>
              <a:t>essential feature </a:t>
            </a:r>
            <a:r>
              <a:rPr lang="en-US" sz="2800" dirty="0"/>
              <a:t>of a multitasking operating system. </a:t>
            </a:r>
          </a:p>
          <a:p>
            <a:r>
              <a:rPr lang="en-US" sz="2800" dirty="0"/>
              <a:t>What constitutes the context is determined by the </a:t>
            </a:r>
            <a:r>
              <a:rPr lang="en-US" sz="2800" b="1" dirty="0"/>
              <a:t>processor</a:t>
            </a:r>
            <a:r>
              <a:rPr lang="en-US" sz="2800" dirty="0"/>
              <a:t> and the </a:t>
            </a:r>
            <a:r>
              <a:rPr lang="en-US" sz="2800" b="1" dirty="0"/>
              <a:t>operating system</a:t>
            </a:r>
            <a:r>
              <a:rPr lang="en-US" sz="2800" dirty="0"/>
              <a:t>. </a:t>
            </a:r>
          </a:p>
          <a:p>
            <a:endParaRPr lang="en-US" sz="2800" dirty="0"/>
          </a:p>
          <a:p>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639762"/>
          </a:xfrm>
        </p:spPr>
        <p:txBody>
          <a:bodyPr>
            <a:normAutofit fontScale="90000"/>
          </a:bodyPr>
          <a:lstStyle/>
          <a:p>
            <a:r>
              <a:rPr lang="en-US" dirty="0"/>
              <a:t>Context Switching…</a:t>
            </a:r>
          </a:p>
        </p:txBody>
      </p:sp>
      <p:sp>
        <p:nvSpPr>
          <p:cNvPr id="3" name="Content Placeholder 2"/>
          <p:cNvSpPr>
            <a:spLocks noGrp="1"/>
          </p:cNvSpPr>
          <p:nvPr>
            <p:ph idx="1"/>
          </p:nvPr>
        </p:nvSpPr>
        <p:spPr>
          <a:xfrm>
            <a:off x="1143000" y="1295400"/>
            <a:ext cx="7790688" cy="5334000"/>
          </a:xfrm>
        </p:spPr>
        <p:txBody>
          <a:bodyPr>
            <a:normAutofit fontScale="92500"/>
          </a:bodyPr>
          <a:lstStyle/>
          <a:p>
            <a:r>
              <a:rPr lang="en-US" dirty="0"/>
              <a:t>Switching from one process to another </a:t>
            </a:r>
            <a:r>
              <a:rPr lang="en-US" dirty="0">
                <a:solidFill>
                  <a:srgbClr val="FF0000"/>
                </a:solidFill>
              </a:rPr>
              <a:t>requires</a:t>
            </a:r>
            <a:r>
              <a:rPr lang="en-US" dirty="0"/>
              <a:t> a certain amount of </a:t>
            </a:r>
            <a:r>
              <a:rPr lang="en-US" dirty="0">
                <a:solidFill>
                  <a:srgbClr val="FF0000"/>
                </a:solidFill>
              </a:rPr>
              <a:t>time</a:t>
            </a:r>
            <a:r>
              <a:rPr lang="en-US" dirty="0"/>
              <a:t> for doing the administration.</a:t>
            </a:r>
          </a:p>
          <a:p>
            <a:pPr lvl="1"/>
            <a:r>
              <a:rPr lang="en-US" dirty="0"/>
              <a:t>saving and loading registers and memory maps, updating various tables and list etc.</a:t>
            </a:r>
          </a:p>
          <a:p>
            <a:r>
              <a:rPr lang="en-US" dirty="0">
                <a:solidFill>
                  <a:srgbClr val="FF0000"/>
                </a:solidFill>
              </a:rPr>
              <a:t>Context switching time </a:t>
            </a:r>
            <a:r>
              <a:rPr lang="en-US" dirty="0"/>
              <a:t>is a major contributor to response time and therefore must be minimized. </a:t>
            </a:r>
          </a:p>
          <a:p>
            <a:r>
              <a:rPr lang="en-US" dirty="0"/>
              <a:t>The </a:t>
            </a:r>
            <a:r>
              <a:rPr lang="en-US" dirty="0">
                <a:solidFill>
                  <a:srgbClr val="FF0000"/>
                </a:solidFill>
              </a:rPr>
              <a:t>rule</a:t>
            </a:r>
            <a:r>
              <a:rPr lang="en-US" dirty="0"/>
              <a:t> for saving context is </a:t>
            </a:r>
            <a:r>
              <a:rPr lang="en-US" dirty="0">
                <a:solidFill>
                  <a:srgbClr val="FF0000"/>
                </a:solidFill>
              </a:rPr>
              <a:t>simple</a:t>
            </a:r>
            <a:r>
              <a:rPr lang="en-US" dirty="0"/>
              <a:t>:  </a:t>
            </a:r>
          </a:p>
          <a:p>
            <a:pPr lvl="1"/>
            <a:r>
              <a:rPr lang="en-US" i="1" dirty="0"/>
              <a:t>save the minimum amount of information necessary to safely restore any process after it has been interrupted</a:t>
            </a:r>
            <a:r>
              <a:rPr lang="en-US" dirty="0"/>
              <a:t>.</a:t>
            </a:r>
          </a:p>
          <a:p>
            <a:endParaRPr lang="en-US" dirty="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a:xfrm>
            <a:off x="1435608" y="274638"/>
            <a:ext cx="7498080" cy="715962"/>
          </a:xfrm>
        </p:spPr>
        <p:txBody>
          <a:bodyPr>
            <a:normAutofit fontScale="90000"/>
          </a:bodyPr>
          <a:lstStyle/>
          <a:p>
            <a:pPr eaLnBrk="1" hangingPunct="1"/>
            <a:r>
              <a:rPr lang="en-US" dirty="0"/>
              <a:t>Context switching….</a:t>
            </a:r>
          </a:p>
        </p:txBody>
      </p:sp>
      <p:sp>
        <p:nvSpPr>
          <p:cNvPr id="22533" name="Rectangle 3"/>
          <p:cNvSpPr>
            <a:spLocks noGrp="1" noChangeArrowheads="1"/>
          </p:cNvSpPr>
          <p:nvPr>
            <p:ph type="body" idx="1"/>
          </p:nvPr>
        </p:nvSpPr>
        <p:spPr>
          <a:xfrm>
            <a:off x="1143000" y="990600"/>
            <a:ext cx="7696200" cy="5867400"/>
          </a:xfrm>
        </p:spPr>
        <p:txBody>
          <a:bodyPr>
            <a:normAutofit lnSpcReduction="10000"/>
          </a:bodyPr>
          <a:lstStyle/>
          <a:p>
            <a:pPr>
              <a:lnSpc>
                <a:spcPct val="80000"/>
              </a:lnSpc>
            </a:pPr>
            <a:r>
              <a:rPr lang="en-US" sz="2800" dirty="0"/>
              <a:t>A context switch can mean: </a:t>
            </a:r>
          </a:p>
          <a:p>
            <a:pPr marL="859536" lvl="1" indent="-457200">
              <a:lnSpc>
                <a:spcPct val="80000"/>
              </a:lnSpc>
              <a:buFont typeface="+mj-lt"/>
              <a:buAutoNum type="arabicPeriod"/>
            </a:pPr>
            <a:r>
              <a:rPr lang="en-US" sz="2400" dirty="0"/>
              <a:t>a </a:t>
            </a:r>
            <a:r>
              <a:rPr lang="en-US" sz="2400" dirty="0">
                <a:solidFill>
                  <a:srgbClr val="FF0000"/>
                </a:solidFill>
              </a:rPr>
              <a:t>register</a:t>
            </a:r>
            <a:r>
              <a:rPr lang="en-US" sz="2400" dirty="0"/>
              <a:t> context switch, </a:t>
            </a:r>
          </a:p>
          <a:p>
            <a:pPr marL="859536" lvl="1" indent="-457200">
              <a:lnSpc>
                <a:spcPct val="80000"/>
              </a:lnSpc>
              <a:buFont typeface="+mj-lt"/>
              <a:buAutoNum type="arabicPeriod"/>
            </a:pPr>
            <a:r>
              <a:rPr lang="en-US" sz="2400" dirty="0"/>
              <a:t>a </a:t>
            </a:r>
            <a:r>
              <a:rPr lang="en-US" sz="2400" dirty="0">
                <a:solidFill>
                  <a:srgbClr val="FF0000"/>
                </a:solidFill>
              </a:rPr>
              <a:t>task</a:t>
            </a:r>
            <a:r>
              <a:rPr lang="en-US" sz="2400" dirty="0"/>
              <a:t> context switch, </a:t>
            </a:r>
          </a:p>
          <a:p>
            <a:pPr marL="859536" lvl="1" indent="-457200">
              <a:lnSpc>
                <a:spcPct val="80000"/>
              </a:lnSpc>
              <a:buFont typeface="+mj-lt"/>
              <a:buAutoNum type="arabicPeriod"/>
            </a:pPr>
            <a:r>
              <a:rPr lang="en-US" sz="2400" dirty="0"/>
              <a:t>a </a:t>
            </a:r>
            <a:r>
              <a:rPr lang="en-US" sz="2400" dirty="0">
                <a:solidFill>
                  <a:srgbClr val="FF0000"/>
                </a:solidFill>
              </a:rPr>
              <a:t>thread</a:t>
            </a:r>
            <a:r>
              <a:rPr lang="en-US" sz="2400" dirty="0"/>
              <a:t> context switch, or </a:t>
            </a:r>
          </a:p>
          <a:p>
            <a:pPr marL="859536" lvl="1" indent="-457200">
              <a:lnSpc>
                <a:spcPct val="80000"/>
              </a:lnSpc>
              <a:buFont typeface="+mj-lt"/>
              <a:buAutoNum type="arabicPeriod"/>
            </a:pPr>
            <a:r>
              <a:rPr lang="en-US" sz="2400" dirty="0"/>
              <a:t>a </a:t>
            </a:r>
            <a:r>
              <a:rPr lang="en-US" sz="2400" dirty="0">
                <a:solidFill>
                  <a:srgbClr val="FF0000"/>
                </a:solidFill>
              </a:rPr>
              <a:t>process</a:t>
            </a:r>
            <a:r>
              <a:rPr lang="en-US" sz="2400" dirty="0"/>
              <a:t> context switch. </a:t>
            </a:r>
          </a:p>
          <a:p>
            <a:pPr eaLnBrk="1" hangingPunct="1">
              <a:lnSpc>
                <a:spcPct val="80000"/>
              </a:lnSpc>
            </a:pPr>
            <a:r>
              <a:rPr lang="en-US" sz="2800" dirty="0"/>
              <a:t>That is, Context usually includes:</a:t>
            </a:r>
          </a:p>
          <a:p>
            <a:pPr lvl="1" eaLnBrk="1" hangingPunct="1">
              <a:lnSpc>
                <a:spcPct val="80000"/>
              </a:lnSpc>
            </a:pPr>
            <a:r>
              <a:rPr lang="en-US" dirty="0"/>
              <a:t>contents of </a:t>
            </a:r>
            <a:r>
              <a:rPr lang="en-US" dirty="0">
                <a:solidFill>
                  <a:srgbClr val="FF0000"/>
                </a:solidFill>
              </a:rPr>
              <a:t>general registers</a:t>
            </a:r>
          </a:p>
          <a:p>
            <a:pPr lvl="1" eaLnBrk="1" hangingPunct="1">
              <a:lnSpc>
                <a:spcPct val="80000"/>
              </a:lnSpc>
            </a:pPr>
            <a:r>
              <a:rPr lang="en-US" dirty="0"/>
              <a:t>contents of the </a:t>
            </a:r>
            <a:r>
              <a:rPr lang="en-US" dirty="0">
                <a:solidFill>
                  <a:srgbClr val="FF0000"/>
                </a:solidFill>
              </a:rPr>
              <a:t>program counter</a:t>
            </a:r>
          </a:p>
          <a:p>
            <a:pPr lvl="1" eaLnBrk="1" hangingPunct="1">
              <a:lnSpc>
                <a:spcPct val="80000"/>
              </a:lnSpc>
            </a:pPr>
            <a:r>
              <a:rPr lang="en-US" dirty="0"/>
              <a:t>contents of </a:t>
            </a:r>
            <a:r>
              <a:rPr lang="en-US" dirty="0">
                <a:solidFill>
                  <a:srgbClr val="FF0000"/>
                </a:solidFill>
              </a:rPr>
              <a:t>coprocessor registers</a:t>
            </a:r>
            <a:r>
              <a:rPr lang="en-US" dirty="0"/>
              <a:t> (if present)</a:t>
            </a:r>
          </a:p>
          <a:p>
            <a:pPr lvl="1" eaLnBrk="1" hangingPunct="1">
              <a:lnSpc>
                <a:spcPct val="80000"/>
              </a:lnSpc>
            </a:pPr>
            <a:r>
              <a:rPr lang="en-US" dirty="0">
                <a:solidFill>
                  <a:srgbClr val="FF0000"/>
                </a:solidFill>
              </a:rPr>
              <a:t>memory</a:t>
            </a:r>
            <a:r>
              <a:rPr lang="en-US" dirty="0"/>
              <a:t> page register</a:t>
            </a:r>
          </a:p>
          <a:p>
            <a:pPr lvl="1" eaLnBrk="1" hangingPunct="1">
              <a:lnSpc>
                <a:spcPct val="80000"/>
              </a:lnSpc>
            </a:pPr>
            <a:r>
              <a:rPr lang="en-US" dirty="0"/>
              <a:t>images of </a:t>
            </a:r>
            <a:r>
              <a:rPr lang="en-US" dirty="0">
                <a:solidFill>
                  <a:srgbClr val="FF0000"/>
                </a:solidFill>
              </a:rPr>
              <a:t>memory-mapped I/O locations </a:t>
            </a:r>
            <a:r>
              <a:rPr lang="en-US" dirty="0"/>
              <a:t>(mirror images)</a:t>
            </a:r>
          </a:p>
          <a:p>
            <a:pPr eaLnBrk="1" hangingPunct="1">
              <a:lnSpc>
                <a:spcPct val="80000"/>
              </a:lnSpc>
            </a:pPr>
            <a:r>
              <a:rPr lang="en-US" sz="2800" b="1" dirty="0"/>
              <a:t>Interrupts</a:t>
            </a:r>
            <a:r>
              <a:rPr lang="en-US" sz="2800" dirty="0"/>
              <a:t> are </a:t>
            </a:r>
            <a:r>
              <a:rPr lang="en-US" sz="2800" b="1" dirty="0"/>
              <a:t>disabled</a:t>
            </a:r>
            <a:r>
              <a:rPr lang="en-US" sz="2800" dirty="0"/>
              <a:t> during context-switching.  </a:t>
            </a:r>
          </a:p>
          <a:p>
            <a:pPr lvl="1">
              <a:lnSpc>
                <a:spcPct val="80000"/>
              </a:lnSpc>
            </a:pPr>
            <a:r>
              <a:rPr lang="en-US" sz="2400" dirty="0"/>
              <a:t>Sometimes a </a:t>
            </a:r>
            <a:r>
              <a:rPr lang="en-US" sz="2400" dirty="0">
                <a:solidFill>
                  <a:srgbClr val="FF0000"/>
                </a:solidFill>
              </a:rPr>
              <a:t>partial context switch </a:t>
            </a:r>
            <a:r>
              <a:rPr lang="en-US" sz="2400" dirty="0"/>
              <a:t>is used to handle a burst of interrupts, to detect spurious interrupts, or to handle a time-overloaded condition.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a:xfrm>
            <a:off x="1435608" y="274638"/>
            <a:ext cx="7498080" cy="715962"/>
          </a:xfrm>
        </p:spPr>
        <p:txBody>
          <a:bodyPr>
            <a:normAutofit fontScale="90000"/>
          </a:bodyPr>
          <a:lstStyle/>
          <a:p>
            <a:pPr eaLnBrk="1" hangingPunct="1"/>
            <a:r>
              <a:rPr lang="en-US" dirty="0"/>
              <a:t>Context switching….</a:t>
            </a:r>
          </a:p>
        </p:txBody>
      </p:sp>
      <p:sp>
        <p:nvSpPr>
          <p:cNvPr id="22533" name="Rectangle 3"/>
          <p:cNvSpPr>
            <a:spLocks noGrp="1" noChangeArrowheads="1"/>
          </p:cNvSpPr>
          <p:nvPr>
            <p:ph type="body" idx="1"/>
          </p:nvPr>
        </p:nvSpPr>
        <p:spPr>
          <a:xfrm>
            <a:off x="1143000" y="990600"/>
            <a:ext cx="7696200" cy="5867400"/>
          </a:xfrm>
        </p:spPr>
        <p:txBody>
          <a:bodyPr>
            <a:normAutofit/>
          </a:bodyPr>
          <a:lstStyle/>
          <a:p>
            <a:pPr eaLnBrk="1" hangingPunct="1">
              <a:lnSpc>
                <a:spcPct val="80000"/>
              </a:lnSpc>
            </a:pPr>
            <a:r>
              <a:rPr lang="en-US" dirty="0"/>
              <a:t>The stack model for context switching is used mostly in </a:t>
            </a:r>
            <a:r>
              <a:rPr lang="en-US" dirty="0">
                <a:solidFill>
                  <a:srgbClr val="FF0000"/>
                </a:solidFill>
              </a:rPr>
              <a:t>embedded systems </a:t>
            </a:r>
            <a:r>
              <a:rPr lang="en-US" dirty="0"/>
              <a:t>where the </a:t>
            </a:r>
            <a:r>
              <a:rPr lang="en-US" dirty="0">
                <a:solidFill>
                  <a:srgbClr val="FF0000"/>
                </a:solidFill>
              </a:rPr>
              <a:t>number</a:t>
            </a:r>
            <a:r>
              <a:rPr lang="en-US" dirty="0"/>
              <a:t> of real-time or interrupt-driven tasks is </a:t>
            </a:r>
            <a:r>
              <a:rPr lang="en-US" dirty="0">
                <a:solidFill>
                  <a:srgbClr val="FF0000"/>
                </a:solidFill>
              </a:rPr>
              <a:t>fixed</a:t>
            </a:r>
            <a:r>
              <a:rPr lang="en-US" dirty="0"/>
              <a:t>. </a:t>
            </a:r>
          </a:p>
          <a:p>
            <a:pPr eaLnBrk="1" hangingPunct="1">
              <a:lnSpc>
                <a:spcPct val="80000"/>
              </a:lnSpc>
            </a:pPr>
            <a:r>
              <a:rPr lang="en-US" dirty="0"/>
              <a:t>In the stack model, each interrupt handler is associated with a hardware interrupt and is invoked by the CPU, which vectors to the instruction stored at the appropriate interrupt-handler location.  </a:t>
            </a:r>
          </a:p>
          <a:p>
            <a:pPr eaLnBrk="1" hangingPunct="1">
              <a:lnSpc>
                <a:spcPct val="80000"/>
              </a:lnSpc>
            </a:pPr>
            <a:r>
              <a:rPr lang="en-US" dirty="0"/>
              <a:t>The context is then saved to a specially </a:t>
            </a:r>
            <a:r>
              <a:rPr lang="en-US" dirty="0">
                <a:solidFill>
                  <a:srgbClr val="FF0000"/>
                </a:solidFill>
              </a:rPr>
              <a:t>designated memory </a:t>
            </a:r>
            <a:r>
              <a:rPr lang="en-US" dirty="0"/>
              <a:t>area that can be static, in the case of a </a:t>
            </a:r>
            <a:r>
              <a:rPr lang="en-US" dirty="0">
                <a:solidFill>
                  <a:srgbClr val="FF0000"/>
                </a:solidFill>
              </a:rPr>
              <a:t>single-interrupt </a:t>
            </a:r>
            <a:r>
              <a:rPr lang="en-US" dirty="0"/>
              <a:t>system, or a </a:t>
            </a:r>
            <a:r>
              <a:rPr lang="en-US" dirty="0">
                <a:solidFill>
                  <a:srgbClr val="FF0000"/>
                </a:solidFill>
              </a:rPr>
              <a:t>stack</a:t>
            </a:r>
            <a:r>
              <a:rPr lang="en-US" dirty="0"/>
              <a:t>, in the case of a </a:t>
            </a:r>
            <a:r>
              <a:rPr lang="en-US" dirty="0">
                <a:solidFill>
                  <a:srgbClr val="FF0000"/>
                </a:solidFill>
              </a:rPr>
              <a:t>multiple-interrupt</a:t>
            </a:r>
            <a:r>
              <a:rPr lang="en-US" dirty="0"/>
              <a:t> system.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0"/>
            <a:ext cx="7498080" cy="1143000"/>
          </a:xfrm>
        </p:spPr>
        <p:txBody>
          <a:bodyPr>
            <a:normAutofit/>
          </a:bodyPr>
          <a:lstStyle/>
          <a:p>
            <a:r>
              <a:rPr lang="en-US" dirty="0"/>
              <a:t>4.2.2 When to switch?</a:t>
            </a:r>
          </a:p>
        </p:txBody>
      </p:sp>
      <p:sp>
        <p:nvSpPr>
          <p:cNvPr id="3" name="Content Placeholder 2"/>
          <p:cNvSpPr>
            <a:spLocks noGrp="1"/>
          </p:cNvSpPr>
          <p:nvPr>
            <p:ph idx="1"/>
          </p:nvPr>
        </p:nvSpPr>
        <p:spPr>
          <a:xfrm>
            <a:off x="990600" y="990600"/>
            <a:ext cx="8153400" cy="5867400"/>
          </a:xfrm>
        </p:spPr>
        <p:txBody>
          <a:bodyPr>
            <a:normAutofit fontScale="85000" lnSpcReduction="20000"/>
          </a:bodyPr>
          <a:lstStyle/>
          <a:p>
            <a:pPr>
              <a:buNone/>
            </a:pPr>
            <a:r>
              <a:rPr lang="en-US" dirty="0"/>
              <a:t>There are </a:t>
            </a:r>
            <a:r>
              <a:rPr lang="en-US" dirty="0">
                <a:solidFill>
                  <a:srgbClr val="FF0000"/>
                </a:solidFill>
              </a:rPr>
              <a:t>three</a:t>
            </a:r>
            <a:r>
              <a:rPr lang="en-US" dirty="0"/>
              <a:t> situations where a context switch needs to occur. They are:</a:t>
            </a:r>
          </a:p>
          <a:p>
            <a:pPr>
              <a:buNone/>
            </a:pPr>
            <a:r>
              <a:rPr lang="en-US" dirty="0"/>
              <a:t>1. </a:t>
            </a:r>
            <a:r>
              <a:rPr lang="en-US" dirty="0">
                <a:solidFill>
                  <a:srgbClr val="FF0000"/>
                </a:solidFill>
              </a:rPr>
              <a:t>Multitasking</a:t>
            </a:r>
            <a:endParaRPr lang="en-US" b="1" dirty="0">
              <a:solidFill>
                <a:srgbClr val="FF0000"/>
              </a:solidFill>
            </a:endParaRPr>
          </a:p>
          <a:p>
            <a:r>
              <a:rPr lang="en-US" dirty="0"/>
              <a:t>Most commonly, within some scheduling scheme, one process needs to be switched out of the CPU so another process can run. This context switch can be triggered by the process making itself unrunnable, such as by waiting for an I/O or synchronization operation to complete. </a:t>
            </a:r>
          </a:p>
          <a:p>
            <a:r>
              <a:rPr lang="en-US" dirty="0"/>
              <a:t>On a </a:t>
            </a:r>
            <a:r>
              <a:rPr lang="en-US" dirty="0">
                <a:solidFill>
                  <a:srgbClr val="FF0000"/>
                </a:solidFill>
              </a:rPr>
              <a:t>pre-emptive</a:t>
            </a:r>
            <a:r>
              <a:rPr lang="en-US" dirty="0"/>
              <a:t> multitasking system, the scheduler may also switch out processes which are still runnable. To prevent other processes from being starved of CPU time, preemptive schedulers often configure a timer interrupt to fire when a process exceeds its time slice. This interrupt ensures that the scheduler will gain control to perform a context switch.</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9510" y="-6716"/>
            <a:ext cx="7498080" cy="1143000"/>
          </a:xfrm>
        </p:spPr>
        <p:txBody>
          <a:bodyPr/>
          <a:lstStyle/>
          <a:p>
            <a:r>
              <a:rPr lang="en-US" dirty="0"/>
              <a:t>When to switch?</a:t>
            </a:r>
          </a:p>
        </p:txBody>
      </p:sp>
      <p:sp>
        <p:nvSpPr>
          <p:cNvPr id="3" name="Content Placeholder 2"/>
          <p:cNvSpPr>
            <a:spLocks noGrp="1"/>
          </p:cNvSpPr>
          <p:nvPr>
            <p:ph idx="1"/>
          </p:nvPr>
        </p:nvSpPr>
        <p:spPr>
          <a:xfrm>
            <a:off x="1066800" y="990600"/>
            <a:ext cx="7866888" cy="5486400"/>
          </a:xfrm>
        </p:spPr>
        <p:txBody>
          <a:bodyPr>
            <a:normAutofit fontScale="92500" lnSpcReduction="20000"/>
          </a:bodyPr>
          <a:lstStyle/>
          <a:p>
            <a:pPr>
              <a:buNone/>
            </a:pPr>
            <a:r>
              <a:rPr lang="en-US" dirty="0"/>
              <a:t>2. </a:t>
            </a:r>
            <a:r>
              <a:rPr lang="en-US" dirty="0">
                <a:solidFill>
                  <a:srgbClr val="FF0000"/>
                </a:solidFill>
              </a:rPr>
              <a:t>Interrupt handling</a:t>
            </a:r>
            <a:endParaRPr lang="en-US" b="1" dirty="0">
              <a:solidFill>
                <a:srgbClr val="FF0000"/>
              </a:solidFill>
            </a:endParaRPr>
          </a:p>
          <a:p>
            <a:r>
              <a:rPr lang="en-US" dirty="0"/>
              <a:t>Modern architectures are </a:t>
            </a:r>
            <a:r>
              <a:rPr lang="en-US" dirty="0">
                <a:solidFill>
                  <a:srgbClr val="FF0000"/>
                </a:solidFill>
              </a:rPr>
              <a:t>interrupt driven</a:t>
            </a:r>
            <a:r>
              <a:rPr lang="en-US" dirty="0"/>
              <a:t>.</a:t>
            </a:r>
          </a:p>
          <a:p>
            <a:r>
              <a:rPr lang="en-US" dirty="0"/>
              <a:t>This means that if the CPU requests data from a disk, for example, it does not need to busy-wait until the read is over; it can issue the request and continue with some other execution. </a:t>
            </a:r>
          </a:p>
          <a:p>
            <a:r>
              <a:rPr lang="en-US" dirty="0"/>
              <a:t>When the read is over, the CPU can be </a:t>
            </a:r>
            <a:r>
              <a:rPr lang="en-US" i="1" dirty="0"/>
              <a:t>interrupted</a:t>
            </a:r>
            <a:r>
              <a:rPr lang="en-US" dirty="0"/>
              <a:t> and presented with the read. </a:t>
            </a:r>
          </a:p>
          <a:p>
            <a:r>
              <a:rPr lang="en-US" dirty="0"/>
              <a:t>For interrupts, a program called an </a:t>
            </a:r>
            <a:r>
              <a:rPr lang="en-US" i="1" dirty="0">
                <a:solidFill>
                  <a:srgbClr val="FF0000"/>
                </a:solidFill>
              </a:rPr>
              <a:t>interrupt handler</a:t>
            </a:r>
            <a:r>
              <a:rPr lang="en-US" dirty="0"/>
              <a:t> is installed, and it is the interrupt handler that handles the interrupt from the disk.</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498080" cy="1143000"/>
          </a:xfrm>
        </p:spPr>
        <p:txBody>
          <a:bodyPr/>
          <a:lstStyle/>
          <a:p>
            <a:r>
              <a:rPr lang="en-US" dirty="0"/>
              <a:t>When to switch?</a:t>
            </a:r>
          </a:p>
        </p:txBody>
      </p:sp>
      <p:sp>
        <p:nvSpPr>
          <p:cNvPr id="3" name="Content Placeholder 2"/>
          <p:cNvSpPr>
            <a:spLocks noGrp="1"/>
          </p:cNvSpPr>
          <p:nvPr>
            <p:ph idx="1"/>
          </p:nvPr>
        </p:nvSpPr>
        <p:spPr>
          <a:xfrm>
            <a:off x="990600" y="990600"/>
            <a:ext cx="7943088" cy="5257800"/>
          </a:xfrm>
        </p:spPr>
        <p:txBody>
          <a:bodyPr/>
          <a:lstStyle/>
          <a:p>
            <a:pPr>
              <a:buNone/>
            </a:pPr>
            <a:r>
              <a:rPr lang="en-US" dirty="0"/>
              <a:t>3. </a:t>
            </a:r>
            <a:r>
              <a:rPr lang="en-US" dirty="0">
                <a:solidFill>
                  <a:srgbClr val="FF0000"/>
                </a:solidFill>
              </a:rPr>
              <a:t>User and kernel mode switching</a:t>
            </a:r>
            <a:endParaRPr lang="en-US" b="1" dirty="0">
              <a:solidFill>
                <a:srgbClr val="FF0000"/>
              </a:solidFill>
            </a:endParaRPr>
          </a:p>
          <a:p>
            <a:r>
              <a:rPr lang="en-US" dirty="0"/>
              <a:t>When a transition between user mode and kernel mode is required in an operating system, a context switch is not necessary; a mode transition is </a:t>
            </a:r>
            <a:r>
              <a:rPr lang="en-US" i="1" dirty="0"/>
              <a:t>not</a:t>
            </a:r>
            <a:r>
              <a:rPr lang="en-US" dirty="0"/>
              <a:t> by itself a context switch. However, depending on the operating system, a context switch may also take place at this time.</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a:xfrm>
            <a:off x="990600" y="0"/>
            <a:ext cx="7498080" cy="1143000"/>
          </a:xfrm>
        </p:spPr>
        <p:txBody>
          <a:bodyPr>
            <a:normAutofit fontScale="90000"/>
          </a:bodyPr>
          <a:lstStyle/>
          <a:p>
            <a:pPr eaLnBrk="1" hangingPunct="1"/>
            <a:r>
              <a:rPr lang="en-US" dirty="0"/>
              <a:t>4.2.3 Interrupt service routines(ISR)</a:t>
            </a:r>
          </a:p>
        </p:txBody>
      </p:sp>
      <p:sp>
        <p:nvSpPr>
          <p:cNvPr id="19461" name="Rectangle 3"/>
          <p:cNvSpPr>
            <a:spLocks noGrp="1" noChangeArrowheads="1"/>
          </p:cNvSpPr>
          <p:nvPr>
            <p:ph type="body" idx="1"/>
          </p:nvPr>
        </p:nvSpPr>
        <p:spPr>
          <a:xfrm>
            <a:off x="1066800" y="1143000"/>
            <a:ext cx="8077200" cy="5715000"/>
          </a:xfrm>
        </p:spPr>
        <p:txBody>
          <a:bodyPr>
            <a:noAutofit/>
          </a:bodyPr>
          <a:lstStyle/>
          <a:p>
            <a:pPr eaLnBrk="1" hangingPunct="1">
              <a:lnSpc>
                <a:spcPct val="90000"/>
              </a:lnSpc>
            </a:pPr>
            <a:r>
              <a:rPr lang="en-US" sz="2400" b="1" dirty="0">
                <a:solidFill>
                  <a:srgbClr val="FF0000"/>
                </a:solidFill>
              </a:rPr>
              <a:t>Hardware interrupt </a:t>
            </a:r>
            <a:r>
              <a:rPr lang="en-US" sz="2400" b="1" dirty="0"/>
              <a:t>- </a:t>
            </a:r>
            <a:r>
              <a:rPr lang="en-US" sz="2400" dirty="0"/>
              <a:t>a signal generated by a peripheral device and sent to the CPU. The trigger is an electrical signal from an external device. </a:t>
            </a:r>
          </a:p>
          <a:p>
            <a:pPr lvl="2">
              <a:lnSpc>
                <a:spcPct val="90000"/>
              </a:lnSpc>
              <a:buFont typeface="Wingdings" pitchFamily="2" charset="2"/>
              <a:buChar char="ü"/>
            </a:pPr>
            <a:r>
              <a:rPr lang="en-US" dirty="0"/>
              <a:t>Hardware interrupts are asynchronous in nature.</a:t>
            </a:r>
          </a:p>
          <a:p>
            <a:pPr eaLnBrk="1" hangingPunct="1">
              <a:lnSpc>
                <a:spcPct val="90000"/>
              </a:lnSpc>
            </a:pPr>
            <a:r>
              <a:rPr lang="en-US" sz="2400" b="1" dirty="0">
                <a:solidFill>
                  <a:srgbClr val="FF0000"/>
                </a:solidFill>
              </a:rPr>
              <a:t>Software interrupt </a:t>
            </a:r>
            <a:r>
              <a:rPr lang="en-US" sz="2400" b="1" dirty="0"/>
              <a:t>- </a:t>
            </a:r>
            <a:r>
              <a:rPr lang="en-US" sz="2400" dirty="0"/>
              <a:t>similar to the hardware interrupt, and it causes one code module to pass control to another. Trigger of this is the execution of a machine language instruction. </a:t>
            </a:r>
          </a:p>
          <a:p>
            <a:pPr eaLnBrk="1" hangingPunct="1">
              <a:lnSpc>
                <a:spcPct val="90000"/>
              </a:lnSpc>
            </a:pPr>
            <a:r>
              <a:rPr lang="en-US" sz="2400" dirty="0"/>
              <a:t>An</a:t>
            </a:r>
            <a:r>
              <a:rPr lang="en-US" sz="2400" b="1" dirty="0"/>
              <a:t> </a:t>
            </a:r>
            <a:r>
              <a:rPr lang="en-US" sz="2400" b="1" dirty="0">
                <a:solidFill>
                  <a:srgbClr val="FF0000"/>
                </a:solidFill>
              </a:rPr>
              <a:t>exception </a:t>
            </a:r>
            <a:r>
              <a:rPr lang="en-US" sz="2400" dirty="0"/>
              <a:t>is a software interrupt that is internal to the CPU and triggered by a software program's attempt to perform an </a:t>
            </a:r>
            <a:r>
              <a:rPr lang="en-US" sz="2400" dirty="0">
                <a:solidFill>
                  <a:srgbClr val="FF0000"/>
                </a:solidFill>
              </a:rPr>
              <a:t>unexpected</a:t>
            </a:r>
            <a:r>
              <a:rPr lang="en-US" sz="2400" dirty="0"/>
              <a:t> or </a:t>
            </a:r>
            <a:r>
              <a:rPr lang="en-US" sz="2400" dirty="0">
                <a:solidFill>
                  <a:srgbClr val="FF0000"/>
                </a:solidFill>
              </a:rPr>
              <a:t>illegal</a:t>
            </a:r>
            <a:r>
              <a:rPr lang="en-US" sz="2400" dirty="0"/>
              <a:t> operation.</a:t>
            </a:r>
          </a:p>
          <a:p>
            <a:pPr eaLnBrk="1" hangingPunct="1">
              <a:lnSpc>
                <a:spcPct val="90000"/>
              </a:lnSpc>
              <a:buNone/>
            </a:pPr>
            <a:endParaRPr lang="en-US" sz="2400" dirty="0"/>
          </a:p>
          <a:p>
            <a:pPr eaLnBrk="1" hangingPunct="1">
              <a:lnSpc>
                <a:spcPct val="90000"/>
              </a:lnSpc>
            </a:pPr>
            <a:r>
              <a:rPr lang="en-US" sz="2400" dirty="0"/>
              <a:t>All three interrupts cause the CPU to </a:t>
            </a:r>
            <a:r>
              <a:rPr lang="en-US" sz="2400" b="1" dirty="0"/>
              <a:t>transfer execution </a:t>
            </a:r>
            <a:r>
              <a:rPr lang="en-US" sz="2400" dirty="0"/>
              <a:t>to a </a:t>
            </a:r>
            <a:r>
              <a:rPr lang="en-US" sz="2400" b="1" dirty="0"/>
              <a:t>known location </a:t>
            </a:r>
            <a:r>
              <a:rPr lang="en-US" sz="2400" dirty="0"/>
              <a:t>and then execute an </a:t>
            </a:r>
            <a:r>
              <a:rPr lang="en-US" sz="2400" b="1" dirty="0"/>
              <a:t>interrupt service routine</a:t>
            </a:r>
            <a:r>
              <a:rPr lang="en-US" sz="2400" dirty="0"/>
              <a:t> (ISR). </a:t>
            </a:r>
          </a:p>
          <a:p>
            <a:pPr eaLnBrk="1" hangingPunct="1">
              <a:lnSpc>
                <a:spcPct val="90000"/>
              </a:lnSpc>
            </a:pP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498080" cy="762000"/>
          </a:xfrm>
        </p:spPr>
        <p:txBody>
          <a:bodyPr/>
          <a:lstStyle/>
          <a:p>
            <a:r>
              <a:rPr lang="en-US" sz="4400" dirty="0"/>
              <a:t>4.2.4 Tasks and Task States</a:t>
            </a:r>
            <a:endParaRPr lang="en-US" dirty="0"/>
          </a:p>
        </p:txBody>
      </p:sp>
      <p:sp>
        <p:nvSpPr>
          <p:cNvPr id="3" name="Content Placeholder 2"/>
          <p:cNvSpPr>
            <a:spLocks noGrp="1"/>
          </p:cNvSpPr>
          <p:nvPr>
            <p:ph idx="1"/>
          </p:nvPr>
        </p:nvSpPr>
        <p:spPr>
          <a:xfrm>
            <a:off x="990600" y="914400"/>
            <a:ext cx="8153400" cy="5791200"/>
          </a:xfrm>
        </p:spPr>
        <p:txBody>
          <a:bodyPr>
            <a:noAutofit/>
          </a:bodyPr>
          <a:lstStyle/>
          <a:p>
            <a:r>
              <a:rPr lang="en-US" altLang="zh-CN" sz="2800" dirty="0"/>
              <a:t>Application software is </a:t>
            </a:r>
            <a:r>
              <a:rPr lang="en-US" altLang="zh-CN" sz="2800" dirty="0">
                <a:solidFill>
                  <a:srgbClr val="FF0000"/>
                </a:solidFill>
              </a:rPr>
              <a:t>split up</a:t>
            </a:r>
            <a:r>
              <a:rPr lang="en-US" altLang="zh-CN" sz="2800" dirty="0"/>
              <a:t> into multitasking blocks called ‘</a:t>
            </a:r>
            <a:r>
              <a:rPr lang="en-US" altLang="zh-CN" sz="2800" dirty="0">
                <a:solidFill>
                  <a:srgbClr val="FF0000"/>
                </a:solidFill>
              </a:rPr>
              <a:t>Tasks</a:t>
            </a:r>
            <a:r>
              <a:rPr lang="en-US" altLang="zh-CN" sz="2800" dirty="0"/>
              <a:t>’.</a:t>
            </a:r>
          </a:p>
          <a:p>
            <a:r>
              <a:rPr lang="en-US" altLang="zh-CN" sz="2800" dirty="0"/>
              <a:t>Tasks are generic </a:t>
            </a:r>
            <a:r>
              <a:rPr lang="en-US" altLang="zh-CN" sz="2800" dirty="0">
                <a:solidFill>
                  <a:srgbClr val="FF0000"/>
                </a:solidFill>
              </a:rPr>
              <a:t>computational blocks</a:t>
            </a:r>
            <a:r>
              <a:rPr lang="en-US" altLang="zh-CN" sz="2800" dirty="0"/>
              <a:t> with:</a:t>
            </a:r>
          </a:p>
          <a:p>
            <a:pPr lvl="1"/>
            <a:r>
              <a:rPr lang="en-US" altLang="zh-CN" dirty="0"/>
              <a:t>Timing constraints</a:t>
            </a:r>
          </a:p>
          <a:p>
            <a:pPr lvl="1"/>
            <a:r>
              <a:rPr lang="en-US" altLang="zh-CN" dirty="0"/>
              <a:t>Synchronization and </a:t>
            </a:r>
          </a:p>
          <a:p>
            <a:pPr lvl="1"/>
            <a:r>
              <a:rPr lang="en-US" altLang="zh-CN" dirty="0"/>
              <a:t>communication relationships with other tasks</a:t>
            </a:r>
          </a:p>
          <a:p>
            <a:r>
              <a:rPr lang="en-US" sz="2800" dirty="0"/>
              <a:t>A </a:t>
            </a:r>
            <a:r>
              <a:rPr lang="en-US" sz="2800" dirty="0">
                <a:solidFill>
                  <a:srgbClr val="FF0000"/>
                </a:solidFill>
              </a:rPr>
              <a:t>task</a:t>
            </a:r>
            <a:r>
              <a:rPr lang="en-US" sz="2800" dirty="0"/>
              <a:t> – a </a:t>
            </a:r>
            <a:r>
              <a:rPr lang="en-US" sz="2800" b="1" dirty="0"/>
              <a:t>simple subroutine</a:t>
            </a:r>
          </a:p>
          <a:p>
            <a:r>
              <a:rPr lang="en-US" altLang="zh-CN" sz="2800" dirty="0"/>
              <a:t>Generally each device is represented by its own task.</a:t>
            </a:r>
          </a:p>
          <a:p>
            <a:r>
              <a:rPr lang="en-US" sz="2800" dirty="0"/>
              <a:t>Embedded Systems application makes calls to the RTOS functions to start tasks, passing to the OS, start address, stack pointers, etc. of the tasks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498080" cy="762000"/>
          </a:xfrm>
        </p:spPr>
        <p:txBody>
          <a:bodyPr/>
          <a:lstStyle/>
          <a:p>
            <a:r>
              <a:rPr lang="en-US" sz="4400" dirty="0"/>
              <a:t>Tasks and Task States…</a:t>
            </a:r>
            <a:endParaRPr lang="en-US" dirty="0"/>
          </a:p>
        </p:txBody>
      </p:sp>
      <p:sp>
        <p:nvSpPr>
          <p:cNvPr id="3" name="Content Placeholder 2"/>
          <p:cNvSpPr>
            <a:spLocks noGrp="1"/>
          </p:cNvSpPr>
          <p:nvPr>
            <p:ph idx="1"/>
          </p:nvPr>
        </p:nvSpPr>
        <p:spPr>
          <a:xfrm>
            <a:off x="990600" y="914400"/>
            <a:ext cx="8153400" cy="5791200"/>
          </a:xfrm>
        </p:spPr>
        <p:txBody>
          <a:bodyPr>
            <a:noAutofit/>
          </a:bodyPr>
          <a:lstStyle/>
          <a:p>
            <a:r>
              <a:rPr lang="en-US" sz="2800" dirty="0">
                <a:solidFill>
                  <a:srgbClr val="FF0000"/>
                </a:solidFill>
              </a:rPr>
              <a:t>Task States</a:t>
            </a:r>
            <a:r>
              <a:rPr lang="en-US" sz="2800" dirty="0"/>
              <a:t>: </a:t>
            </a:r>
          </a:p>
          <a:p>
            <a:pPr marL="916686" lvl="1" indent="-514350">
              <a:buFont typeface="+mj-lt"/>
              <a:buAutoNum type="arabicPeriod"/>
            </a:pPr>
            <a:r>
              <a:rPr lang="en-US" b="1" dirty="0"/>
              <a:t>Running, </a:t>
            </a:r>
          </a:p>
          <a:p>
            <a:pPr marL="916686" lvl="1" indent="-514350">
              <a:buFont typeface="+mj-lt"/>
              <a:buAutoNum type="arabicPeriod"/>
            </a:pPr>
            <a:r>
              <a:rPr lang="en-US" b="1" dirty="0"/>
              <a:t>Ready </a:t>
            </a:r>
            <a:r>
              <a:rPr lang="en-US" dirty="0"/>
              <a:t>(possibly: suspended, pended),  and </a:t>
            </a:r>
          </a:p>
          <a:p>
            <a:pPr marL="916686" lvl="1" indent="-514350">
              <a:buFont typeface="+mj-lt"/>
              <a:buAutoNum type="arabicPeriod"/>
            </a:pPr>
            <a:r>
              <a:rPr lang="en-US" b="1" dirty="0"/>
              <a:t>Blocked</a:t>
            </a:r>
            <a:r>
              <a:rPr lang="en-US" dirty="0"/>
              <a:t> (possibly: waiting, dormant, delayed)</a:t>
            </a:r>
          </a:p>
          <a:p>
            <a:r>
              <a:rPr lang="en-US" sz="2800" dirty="0">
                <a:solidFill>
                  <a:srgbClr val="FF0000"/>
                </a:solidFill>
              </a:rPr>
              <a:t>Scheduler</a:t>
            </a:r>
            <a:r>
              <a:rPr lang="en-US" sz="2800" dirty="0"/>
              <a:t> schedules/shuffles tasks between Running and Ready states</a:t>
            </a:r>
          </a:p>
          <a:p>
            <a:r>
              <a:rPr lang="en-US" sz="2800" dirty="0">
                <a:solidFill>
                  <a:srgbClr val="FF0000"/>
                </a:solidFill>
              </a:rPr>
              <a:t>Blocking </a:t>
            </a:r>
            <a:r>
              <a:rPr lang="en-US" sz="2800" dirty="0"/>
              <a:t>is self-blocking by tasks, and moved to Running state via other tasks’ interrupt signaling </a:t>
            </a:r>
          </a:p>
          <a:p>
            <a:pPr lvl="1"/>
            <a:r>
              <a:rPr lang="en-US" sz="2400" dirty="0"/>
              <a:t>when block-factor is removed/satisfied</a:t>
            </a:r>
          </a:p>
          <a:p>
            <a:r>
              <a:rPr lang="en-US" sz="2800" dirty="0"/>
              <a:t>When a task is </a:t>
            </a:r>
            <a:r>
              <a:rPr lang="en-US" sz="2800" dirty="0">
                <a:solidFill>
                  <a:srgbClr val="FF0000"/>
                </a:solidFill>
              </a:rPr>
              <a:t>unblocked</a:t>
            </a:r>
            <a:r>
              <a:rPr lang="en-US" sz="2800" dirty="0"/>
              <a:t> with a higher priority over the ‘running’ task, the scheduler ‘</a:t>
            </a:r>
            <a:r>
              <a:rPr lang="en-US" sz="2800" dirty="0">
                <a:solidFill>
                  <a:srgbClr val="FF0000"/>
                </a:solidFill>
              </a:rPr>
              <a:t>switches</a:t>
            </a:r>
            <a:r>
              <a:rPr lang="en-US" sz="2800" dirty="0"/>
              <a:t>’ context immediately.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3" cstate="print"/>
          <a:srcRect/>
          <a:stretch>
            <a:fillRect/>
          </a:stretch>
        </p:blipFill>
        <p:spPr bwMode="auto">
          <a:xfrm>
            <a:off x="914400" y="457200"/>
            <a:ext cx="7010400" cy="57912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itle 1"/>
          <p:cNvSpPr>
            <a:spLocks noGrp="1"/>
          </p:cNvSpPr>
          <p:nvPr>
            <p:ph type="title"/>
          </p:nvPr>
        </p:nvSpPr>
        <p:spPr>
          <a:xfrm>
            <a:off x="990600" y="0"/>
            <a:ext cx="7498080" cy="1143000"/>
          </a:xfrm>
        </p:spPr>
        <p:txBody>
          <a:bodyPr/>
          <a:lstStyle/>
          <a:p>
            <a:pPr eaLnBrk="1" hangingPunct="1"/>
            <a:r>
              <a:rPr lang="en-US" altLang="zh-CN" sz="3600" dirty="0"/>
              <a:t>Contd.</a:t>
            </a:r>
          </a:p>
        </p:txBody>
      </p:sp>
      <p:sp>
        <p:nvSpPr>
          <p:cNvPr id="2052" name="Content Placeholder 2"/>
          <p:cNvSpPr>
            <a:spLocks noGrp="1"/>
          </p:cNvSpPr>
          <p:nvPr>
            <p:ph idx="1"/>
          </p:nvPr>
        </p:nvSpPr>
        <p:spPr/>
        <p:txBody>
          <a:bodyPr/>
          <a:lstStyle/>
          <a:p>
            <a:pPr eaLnBrk="1" hangingPunct="1"/>
            <a:r>
              <a:rPr lang="en-US" altLang="zh-CN" sz="2800" dirty="0"/>
              <a:t>Tasks can be in one of four states</a:t>
            </a:r>
          </a:p>
          <a:p>
            <a:pPr marL="916686" lvl="1" indent="-514350" eaLnBrk="1" hangingPunct="1">
              <a:buFont typeface="+mj-lt"/>
              <a:buAutoNum type="arabicPeriod"/>
            </a:pPr>
            <a:r>
              <a:rPr lang="en-US" altLang="zh-CN" dirty="0"/>
              <a:t>SLEEPING</a:t>
            </a:r>
          </a:p>
          <a:p>
            <a:pPr marL="916686" lvl="1" indent="-514350" eaLnBrk="1" hangingPunct="1">
              <a:buFont typeface="+mj-lt"/>
              <a:buAutoNum type="arabicPeriod"/>
            </a:pPr>
            <a:r>
              <a:rPr lang="en-US" altLang="zh-CN" dirty="0"/>
              <a:t>READY</a:t>
            </a:r>
          </a:p>
          <a:p>
            <a:pPr marL="916686" lvl="1" indent="-514350" eaLnBrk="1" hangingPunct="1">
              <a:buFont typeface="+mj-lt"/>
              <a:buAutoNum type="arabicPeriod"/>
            </a:pPr>
            <a:r>
              <a:rPr lang="en-US" altLang="zh-CN" dirty="0"/>
              <a:t>RUNNING</a:t>
            </a:r>
          </a:p>
          <a:p>
            <a:pPr marL="916686" lvl="1" indent="-514350" eaLnBrk="1" hangingPunct="1">
              <a:buFont typeface="+mj-lt"/>
              <a:buAutoNum type="arabicPeriod"/>
            </a:pPr>
            <a:r>
              <a:rPr lang="en-US" altLang="zh-CN" dirty="0"/>
              <a:t>BLOCKED</a:t>
            </a:r>
          </a:p>
        </p:txBody>
      </p:sp>
      <p:sp>
        <p:nvSpPr>
          <p:cNvPr id="2053"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zh-CN">
              <a:latin typeface="Calibri" pitchFamily="34" charset="0"/>
            </a:endParaRPr>
          </a:p>
        </p:txBody>
      </p:sp>
      <p:graphicFrame>
        <p:nvGraphicFramePr>
          <p:cNvPr id="2050" name="Object 1"/>
          <p:cNvGraphicFramePr>
            <a:graphicFrameLocks noChangeAspect="1"/>
          </p:cNvGraphicFramePr>
          <p:nvPr/>
        </p:nvGraphicFramePr>
        <p:xfrm>
          <a:off x="3810000" y="2206625"/>
          <a:ext cx="3667125" cy="4203700"/>
        </p:xfrm>
        <a:graphic>
          <a:graphicData uri="http://schemas.openxmlformats.org/presentationml/2006/ole">
            <mc:AlternateContent xmlns:mc="http://schemas.openxmlformats.org/markup-compatibility/2006">
              <mc:Choice xmlns:v="urn:schemas-microsoft-com:vml" Requires="v">
                <p:oleObj name="Visio" r:id="rId3" imgW="6435450" imgH="7349975" progId="Visio.Drawing.11">
                  <p:embed/>
                </p:oleObj>
              </mc:Choice>
              <mc:Fallback>
                <p:oleObj name="Visio" r:id="rId3" imgW="6435450" imgH="7349975"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2206625"/>
                        <a:ext cx="3667125" cy="420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990600" y="0"/>
            <a:ext cx="7498080" cy="1143000"/>
          </a:xfrm>
        </p:spPr>
        <p:txBody>
          <a:bodyPr>
            <a:normAutofit/>
          </a:bodyPr>
          <a:lstStyle/>
          <a:p>
            <a:pPr eaLnBrk="1" hangingPunct="1"/>
            <a:r>
              <a:rPr lang="en-US" altLang="zh-CN" sz="3600" dirty="0"/>
              <a:t>Contd.</a:t>
            </a:r>
          </a:p>
        </p:txBody>
      </p:sp>
      <p:sp>
        <p:nvSpPr>
          <p:cNvPr id="11267" name="Content Placeholder 2"/>
          <p:cNvSpPr>
            <a:spLocks noGrp="1"/>
          </p:cNvSpPr>
          <p:nvPr>
            <p:ph idx="1"/>
          </p:nvPr>
        </p:nvSpPr>
        <p:spPr>
          <a:xfrm>
            <a:off x="990600" y="914400"/>
            <a:ext cx="8153400" cy="5943600"/>
          </a:xfrm>
        </p:spPr>
        <p:txBody>
          <a:bodyPr>
            <a:normAutofit/>
          </a:bodyPr>
          <a:lstStyle/>
          <a:p>
            <a:pPr eaLnBrk="1" hangingPunct="1">
              <a:lnSpc>
                <a:spcPct val="80000"/>
              </a:lnSpc>
              <a:buFont typeface="Arial" charset="0"/>
              <a:buNone/>
            </a:pPr>
            <a:r>
              <a:rPr lang="en-US" altLang="zh-CN" dirty="0"/>
              <a:t>Ways to move between tasks:</a:t>
            </a:r>
          </a:p>
          <a:p>
            <a:pPr eaLnBrk="1" hangingPunct="1">
              <a:lnSpc>
                <a:spcPct val="80000"/>
              </a:lnSpc>
              <a:buFont typeface="Arial" charset="0"/>
              <a:buNone/>
            </a:pPr>
            <a:endParaRPr lang="en-US" altLang="zh-CN" dirty="0"/>
          </a:p>
          <a:p>
            <a:pPr marL="971550" lvl="1" indent="-514350" eaLnBrk="1" hangingPunct="1">
              <a:lnSpc>
                <a:spcPct val="80000"/>
              </a:lnSpc>
              <a:buFont typeface="Calibri" pitchFamily="34" charset="0"/>
              <a:buAutoNum type="arabicPeriod"/>
            </a:pPr>
            <a:r>
              <a:rPr lang="en-US" altLang="zh-CN" dirty="0">
                <a:solidFill>
                  <a:srgbClr val="FF0000"/>
                </a:solidFill>
              </a:rPr>
              <a:t>SLEEPING </a:t>
            </a:r>
            <a:r>
              <a:rPr lang="en-US" altLang="zh-CN" dirty="0">
                <a:solidFill>
                  <a:srgbClr val="FF0000"/>
                </a:solidFill>
                <a:sym typeface="Wingdings" pitchFamily="2" charset="2"/>
              </a:rPr>
              <a:t></a:t>
            </a:r>
            <a:r>
              <a:rPr lang="en-US" altLang="zh-CN" dirty="0">
                <a:solidFill>
                  <a:srgbClr val="FF0000"/>
                </a:solidFill>
              </a:rPr>
              <a:t> READY</a:t>
            </a:r>
          </a:p>
          <a:p>
            <a:pPr marL="1218438" lvl="2" indent="-514350">
              <a:lnSpc>
                <a:spcPct val="80000"/>
              </a:lnSpc>
            </a:pPr>
            <a:r>
              <a:rPr lang="en-US" altLang="zh-CN" dirty="0"/>
              <a:t>through an RTOS system function called from a different task.</a:t>
            </a:r>
          </a:p>
          <a:p>
            <a:pPr marL="971550" lvl="1" indent="-514350" eaLnBrk="1" hangingPunct="1">
              <a:lnSpc>
                <a:spcPct val="80000"/>
              </a:lnSpc>
              <a:buFont typeface="Calibri" pitchFamily="34" charset="0"/>
              <a:buAutoNum type="arabicPeriod"/>
            </a:pPr>
            <a:r>
              <a:rPr lang="en-US" altLang="zh-CN" dirty="0">
                <a:solidFill>
                  <a:srgbClr val="FF0000"/>
                </a:solidFill>
              </a:rPr>
              <a:t>READY </a:t>
            </a:r>
            <a:r>
              <a:rPr lang="en-US" altLang="zh-CN" dirty="0">
                <a:solidFill>
                  <a:srgbClr val="FF0000"/>
                </a:solidFill>
                <a:sym typeface="Wingdings" pitchFamily="2" charset="2"/>
              </a:rPr>
              <a:t></a:t>
            </a:r>
            <a:r>
              <a:rPr lang="en-US" altLang="zh-CN" dirty="0">
                <a:solidFill>
                  <a:srgbClr val="FF0000"/>
                </a:solidFill>
              </a:rPr>
              <a:t> RUNNING</a:t>
            </a:r>
          </a:p>
          <a:p>
            <a:pPr marL="1218438" lvl="2" indent="-514350">
              <a:lnSpc>
                <a:spcPct val="80000"/>
              </a:lnSpc>
            </a:pPr>
            <a:r>
              <a:rPr lang="en-US" altLang="zh-CN" dirty="0"/>
              <a:t>from being selected for execution by the RTOS. There can only be one RUNNING task at a time.</a:t>
            </a:r>
          </a:p>
          <a:p>
            <a:pPr marL="971550" lvl="1" indent="-514350" eaLnBrk="1" hangingPunct="1">
              <a:lnSpc>
                <a:spcPct val="80000"/>
              </a:lnSpc>
              <a:buFont typeface="Calibri" pitchFamily="34" charset="0"/>
              <a:buAutoNum type="arabicPeriod"/>
            </a:pPr>
            <a:r>
              <a:rPr lang="en-US" altLang="zh-CN" dirty="0">
                <a:solidFill>
                  <a:srgbClr val="FF0000"/>
                </a:solidFill>
              </a:rPr>
              <a:t>RUNNING </a:t>
            </a:r>
            <a:r>
              <a:rPr lang="en-US" altLang="zh-CN" dirty="0">
                <a:solidFill>
                  <a:srgbClr val="FF0000"/>
                </a:solidFill>
                <a:sym typeface="Wingdings" pitchFamily="2" charset="2"/>
              </a:rPr>
              <a:t></a:t>
            </a:r>
            <a:r>
              <a:rPr lang="en-US" altLang="zh-CN" dirty="0">
                <a:solidFill>
                  <a:srgbClr val="FF0000"/>
                </a:solidFill>
              </a:rPr>
              <a:t> BLOCKED  </a:t>
            </a:r>
          </a:p>
          <a:p>
            <a:pPr marL="1218438" lvl="2" indent="-514350">
              <a:lnSpc>
                <a:spcPct val="80000"/>
              </a:lnSpc>
            </a:pPr>
            <a:r>
              <a:rPr lang="en-US" altLang="zh-CN" dirty="0"/>
              <a:t>when the task is told to wait for an event to occur.</a:t>
            </a:r>
          </a:p>
          <a:p>
            <a:pPr marL="971550" lvl="1" indent="-514350" eaLnBrk="1" hangingPunct="1">
              <a:lnSpc>
                <a:spcPct val="80000"/>
              </a:lnSpc>
              <a:buFont typeface="Calibri" pitchFamily="34" charset="0"/>
              <a:buAutoNum type="arabicPeriod"/>
            </a:pPr>
            <a:r>
              <a:rPr lang="en-US" altLang="zh-CN" dirty="0">
                <a:solidFill>
                  <a:srgbClr val="FF0000"/>
                </a:solidFill>
              </a:rPr>
              <a:t>BLOCKED </a:t>
            </a:r>
            <a:r>
              <a:rPr lang="en-US" altLang="zh-CN" dirty="0">
                <a:solidFill>
                  <a:srgbClr val="FF0000"/>
                </a:solidFill>
                <a:sym typeface="Wingdings" pitchFamily="2" charset="2"/>
              </a:rPr>
              <a:t></a:t>
            </a:r>
            <a:r>
              <a:rPr lang="en-US" altLang="zh-CN" dirty="0">
                <a:solidFill>
                  <a:srgbClr val="FF0000"/>
                </a:solidFill>
              </a:rPr>
              <a:t> RUNNING </a:t>
            </a:r>
          </a:p>
          <a:p>
            <a:pPr marL="1218438" lvl="2" indent="-514350">
              <a:lnSpc>
                <a:spcPct val="80000"/>
              </a:lnSpc>
            </a:pPr>
            <a:r>
              <a:rPr lang="en-US" altLang="zh-CN" dirty="0"/>
              <a:t>After the event, a task has been waiting for occurs and has higher priority than current RUNNING task.</a:t>
            </a:r>
          </a:p>
          <a:p>
            <a:pPr marL="971550" lvl="1" indent="-514350">
              <a:lnSpc>
                <a:spcPct val="80000"/>
              </a:lnSpc>
              <a:buFont typeface="+mj-lt"/>
              <a:buAutoNum type="arabicPeriod"/>
            </a:pPr>
            <a:r>
              <a:rPr lang="en-US" altLang="zh-CN" dirty="0">
                <a:solidFill>
                  <a:srgbClr val="FF0000"/>
                </a:solidFill>
              </a:rPr>
              <a:t>RUNNING </a:t>
            </a:r>
            <a:r>
              <a:rPr lang="en-US" altLang="zh-CN" dirty="0">
                <a:solidFill>
                  <a:srgbClr val="FF0000"/>
                </a:solidFill>
                <a:sym typeface="Wingdings" pitchFamily="2" charset="2"/>
              </a:rPr>
              <a:t></a:t>
            </a:r>
            <a:r>
              <a:rPr lang="en-US" altLang="zh-CN" dirty="0">
                <a:solidFill>
                  <a:srgbClr val="FF0000"/>
                </a:solidFill>
              </a:rPr>
              <a:t> SLEEPING </a:t>
            </a:r>
          </a:p>
          <a:p>
            <a:pPr marL="1218438" lvl="2" indent="-514350">
              <a:lnSpc>
                <a:spcPct val="80000"/>
              </a:lnSpc>
            </a:pPr>
            <a:r>
              <a:rPr lang="en-US" altLang="zh-CN" dirty="0"/>
              <a:t>once task has finished execution.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Slide Number Placeholder 4"/>
          <p:cNvSpPr>
            <a:spLocks noGrp="1"/>
          </p:cNvSpPr>
          <p:nvPr>
            <p:ph type="sldNum" sz="quarter" idx="11"/>
          </p:nvPr>
        </p:nvSpPr>
        <p:spPr>
          <a:noFill/>
        </p:spPr>
        <p:txBody>
          <a:bodyPr/>
          <a:lstStyle/>
          <a:p>
            <a:fld id="{9DA3D084-0647-4BB0-928A-CEC4846175D7}" type="slidenum">
              <a:rPr lang="en-US"/>
              <a:pPr/>
              <a:t>28</a:t>
            </a:fld>
            <a:endParaRPr lang="en-US"/>
          </a:p>
        </p:txBody>
      </p:sp>
      <p:sp>
        <p:nvSpPr>
          <p:cNvPr id="32772" name="Rectangle 2"/>
          <p:cNvSpPr>
            <a:spLocks noGrp="1" noChangeArrowheads="1"/>
          </p:cNvSpPr>
          <p:nvPr>
            <p:ph type="title"/>
          </p:nvPr>
        </p:nvSpPr>
        <p:spPr>
          <a:xfrm>
            <a:off x="990600" y="0"/>
            <a:ext cx="7498080" cy="792162"/>
          </a:xfrm>
        </p:spPr>
        <p:txBody>
          <a:bodyPr/>
          <a:lstStyle/>
          <a:p>
            <a:pPr eaLnBrk="1" hangingPunct="1"/>
            <a:r>
              <a:rPr lang="en-US" dirty="0"/>
              <a:t>The task control block model</a:t>
            </a:r>
          </a:p>
        </p:txBody>
      </p:sp>
      <p:sp>
        <p:nvSpPr>
          <p:cNvPr id="32773" name="Rectangle 3"/>
          <p:cNvSpPr>
            <a:spLocks noGrp="1" noChangeArrowheads="1"/>
          </p:cNvSpPr>
          <p:nvPr>
            <p:ph type="body" idx="1"/>
          </p:nvPr>
        </p:nvSpPr>
        <p:spPr>
          <a:xfrm>
            <a:off x="990600" y="914400"/>
            <a:ext cx="8153400" cy="5943600"/>
          </a:xfrm>
        </p:spPr>
        <p:txBody>
          <a:bodyPr>
            <a:noAutofit/>
          </a:bodyPr>
          <a:lstStyle/>
          <a:p>
            <a:pPr eaLnBrk="1" hangingPunct="1">
              <a:lnSpc>
                <a:spcPct val="90000"/>
              </a:lnSpc>
            </a:pPr>
            <a:r>
              <a:rPr lang="en-US" sz="2800" dirty="0"/>
              <a:t>Each task is associated with a data structure – </a:t>
            </a:r>
          </a:p>
          <a:p>
            <a:pPr lvl="1">
              <a:lnSpc>
                <a:spcPct val="90000"/>
              </a:lnSpc>
              <a:buNone/>
            </a:pPr>
            <a:r>
              <a:rPr lang="en-US" dirty="0"/>
              <a:t>a </a:t>
            </a:r>
            <a:r>
              <a:rPr lang="en-US" dirty="0">
                <a:solidFill>
                  <a:srgbClr val="FF0000"/>
                </a:solidFill>
              </a:rPr>
              <a:t>task control block </a:t>
            </a:r>
            <a:r>
              <a:rPr lang="en-US" dirty="0"/>
              <a:t>(TCB). </a:t>
            </a:r>
          </a:p>
          <a:p>
            <a:pPr eaLnBrk="1" hangingPunct="1">
              <a:lnSpc>
                <a:spcPct val="90000"/>
              </a:lnSpc>
            </a:pPr>
            <a:r>
              <a:rPr lang="en-US" sz="2800" dirty="0"/>
              <a:t>TCB contains context.  </a:t>
            </a:r>
          </a:p>
          <a:p>
            <a:pPr eaLnBrk="1" hangingPunct="1">
              <a:lnSpc>
                <a:spcPct val="90000"/>
              </a:lnSpc>
            </a:pPr>
            <a:r>
              <a:rPr lang="en-US" sz="2800" dirty="0"/>
              <a:t>The system stores TCBs in one or more data structures, such as a </a:t>
            </a:r>
            <a:r>
              <a:rPr lang="en-US" sz="2800" dirty="0">
                <a:solidFill>
                  <a:srgbClr val="FF0000"/>
                </a:solidFill>
              </a:rPr>
              <a:t>linked list</a:t>
            </a:r>
            <a:r>
              <a:rPr lang="en-US" sz="2800" dirty="0"/>
              <a:t>. </a:t>
            </a:r>
          </a:p>
          <a:p>
            <a:pPr eaLnBrk="1" hangingPunct="1">
              <a:lnSpc>
                <a:spcPct val="90000"/>
              </a:lnSpc>
            </a:pPr>
            <a:r>
              <a:rPr lang="en-US" sz="2800" dirty="0"/>
              <a:t>TCB model can be used in:</a:t>
            </a:r>
          </a:p>
          <a:p>
            <a:pPr lvl="1">
              <a:lnSpc>
                <a:spcPct val="90000"/>
              </a:lnSpc>
            </a:pPr>
            <a:r>
              <a:rPr lang="en-US" sz="2400" dirty="0"/>
              <a:t>round-robin, </a:t>
            </a:r>
          </a:p>
          <a:p>
            <a:pPr lvl="1">
              <a:lnSpc>
                <a:spcPct val="90000"/>
              </a:lnSpc>
            </a:pPr>
            <a:r>
              <a:rPr lang="en-US" sz="2400" dirty="0"/>
              <a:t>preemptive priority or </a:t>
            </a:r>
          </a:p>
          <a:p>
            <a:pPr lvl="1">
              <a:lnSpc>
                <a:spcPct val="90000"/>
              </a:lnSpc>
            </a:pPr>
            <a:r>
              <a:rPr lang="en-US" sz="2400" dirty="0"/>
              <a:t>combination systems, although it is generally associated with round-robin systems with a single clock.  </a:t>
            </a:r>
          </a:p>
          <a:p>
            <a:pPr>
              <a:lnSpc>
                <a:spcPct val="90000"/>
              </a:lnSpc>
            </a:pPr>
            <a:r>
              <a:rPr lang="en-US" sz="2800" dirty="0"/>
              <a:t>The operating system manages TCBs by keeping track of the </a:t>
            </a:r>
            <a:r>
              <a:rPr lang="en-US" sz="2800" dirty="0">
                <a:solidFill>
                  <a:srgbClr val="FF0000"/>
                </a:solidFill>
              </a:rPr>
              <a:t>status of each task</a:t>
            </a:r>
            <a:r>
              <a:rPr lang="en-US" sz="2800" dirty="0"/>
              <a:t>.</a:t>
            </a:r>
          </a:p>
          <a:p>
            <a:pPr eaLnBrk="1" hangingPunct="1">
              <a:lnSpc>
                <a:spcPct val="90000"/>
              </a:lnSpc>
            </a:pPr>
            <a:endParaRPr lang="en-US"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4"/>
          <p:cNvSpPr>
            <a:spLocks noGrp="1"/>
          </p:cNvSpPr>
          <p:nvPr>
            <p:ph type="sldNum" sz="quarter" idx="11"/>
          </p:nvPr>
        </p:nvSpPr>
        <p:spPr>
          <a:noFill/>
        </p:spPr>
        <p:txBody>
          <a:bodyPr/>
          <a:lstStyle/>
          <a:p>
            <a:fld id="{2C2C6560-7649-4A48-90FC-6A8E763AE1F1}" type="slidenum">
              <a:rPr lang="en-US"/>
              <a:pPr/>
              <a:t>29</a:t>
            </a:fld>
            <a:endParaRPr lang="en-US"/>
          </a:p>
        </p:txBody>
      </p:sp>
      <p:sp>
        <p:nvSpPr>
          <p:cNvPr id="35844" name="Rectangle 2"/>
          <p:cNvSpPr>
            <a:spLocks noGrp="1" noChangeArrowheads="1"/>
          </p:cNvSpPr>
          <p:nvPr>
            <p:ph type="title"/>
          </p:nvPr>
        </p:nvSpPr>
        <p:spPr>
          <a:xfrm>
            <a:off x="990600" y="0"/>
            <a:ext cx="7498080" cy="1143000"/>
          </a:xfrm>
        </p:spPr>
        <p:txBody>
          <a:bodyPr/>
          <a:lstStyle/>
          <a:p>
            <a:pPr eaLnBrk="1" hangingPunct="1"/>
            <a:r>
              <a:rPr lang="en-US" dirty="0"/>
              <a:t>The task control block model</a:t>
            </a:r>
          </a:p>
        </p:txBody>
      </p:sp>
      <p:sp>
        <p:nvSpPr>
          <p:cNvPr id="35845" name="Rectangle 3"/>
          <p:cNvSpPr>
            <a:spLocks noGrp="1" noChangeArrowheads="1"/>
          </p:cNvSpPr>
          <p:nvPr>
            <p:ph type="body" idx="1"/>
          </p:nvPr>
        </p:nvSpPr>
        <p:spPr>
          <a:xfrm>
            <a:off x="990600" y="1143000"/>
            <a:ext cx="7848600" cy="5410200"/>
          </a:xfrm>
        </p:spPr>
        <p:txBody>
          <a:bodyPr>
            <a:normAutofit/>
          </a:bodyPr>
          <a:lstStyle/>
          <a:p>
            <a:pPr eaLnBrk="1" hangingPunct="1">
              <a:lnSpc>
                <a:spcPct val="90000"/>
              </a:lnSpc>
            </a:pPr>
            <a:r>
              <a:rPr lang="en-US" sz="2800" dirty="0"/>
              <a:t>Every hardware interrupt and every system level call (such as a request on a resource) invokes the real-time operating system.  </a:t>
            </a:r>
          </a:p>
          <a:p>
            <a:pPr eaLnBrk="1" hangingPunct="1">
              <a:lnSpc>
                <a:spcPct val="90000"/>
              </a:lnSpc>
              <a:buNone/>
            </a:pPr>
            <a:endParaRPr lang="en-US" sz="2800" dirty="0"/>
          </a:p>
          <a:p>
            <a:pPr eaLnBrk="1" hangingPunct="1">
              <a:lnSpc>
                <a:spcPct val="90000"/>
              </a:lnSpc>
            </a:pPr>
            <a:r>
              <a:rPr lang="en-US" sz="2800" dirty="0"/>
              <a:t>The operating system is responsible for:</a:t>
            </a:r>
          </a:p>
          <a:p>
            <a:pPr lvl="1">
              <a:lnSpc>
                <a:spcPct val="90000"/>
              </a:lnSpc>
            </a:pPr>
            <a:r>
              <a:rPr lang="en-US" sz="2400" dirty="0"/>
              <a:t>maintaining a linked list containing the TCBs of all the ready tasks, and </a:t>
            </a:r>
          </a:p>
          <a:p>
            <a:pPr lvl="1">
              <a:lnSpc>
                <a:spcPct val="90000"/>
              </a:lnSpc>
            </a:pPr>
            <a:r>
              <a:rPr lang="en-US" sz="2400" dirty="0"/>
              <a:t>a second linked list of those in the suspended state. </a:t>
            </a:r>
          </a:p>
          <a:p>
            <a:pPr lvl="1">
              <a:lnSpc>
                <a:spcPct val="90000"/>
              </a:lnSpc>
            </a:pPr>
            <a:endParaRPr lang="en-US" sz="2400" dirty="0"/>
          </a:p>
          <a:p>
            <a:pPr eaLnBrk="1" hangingPunct="1">
              <a:lnSpc>
                <a:spcPct val="90000"/>
              </a:lnSpc>
            </a:pPr>
            <a:r>
              <a:rPr lang="en-US" sz="2800" dirty="0"/>
              <a:t>It also keeps:</a:t>
            </a:r>
          </a:p>
          <a:p>
            <a:pPr lvl="1">
              <a:lnSpc>
                <a:spcPct val="90000"/>
              </a:lnSpc>
            </a:pPr>
            <a:r>
              <a:rPr lang="en-US" sz="2400" dirty="0"/>
              <a:t>a table of resources and </a:t>
            </a:r>
          </a:p>
          <a:p>
            <a:pPr lvl="1">
              <a:lnSpc>
                <a:spcPct val="90000"/>
              </a:lnSpc>
            </a:pPr>
            <a:r>
              <a:rPr lang="en-US" sz="2400" dirty="0"/>
              <a:t>a table of resource requests.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2560" y="914400"/>
            <a:ext cx="7406640" cy="1472184"/>
          </a:xfrm>
        </p:spPr>
        <p:txBody>
          <a:bodyPr/>
          <a:lstStyle/>
          <a:p>
            <a:r>
              <a:rPr lang="en-US" sz="4400" b="1" dirty="0"/>
              <a:t>4.3. RTOS Kernel</a:t>
            </a:r>
            <a:br>
              <a:rPr lang="en-US" sz="4400" b="1" dirty="0"/>
            </a:br>
            <a:endParaRPr lang="en-US" dirty="0"/>
          </a:p>
        </p:txBody>
      </p:sp>
      <p:sp>
        <p:nvSpPr>
          <p:cNvPr id="3" name="Subtitle 2"/>
          <p:cNvSpPr>
            <a:spLocks noGrp="1"/>
          </p:cNvSpPr>
          <p:nvPr>
            <p:ph type="subTitle" idx="1"/>
          </p:nvPr>
        </p:nvSpPr>
        <p:spPr>
          <a:xfrm>
            <a:off x="1432560" y="2743200"/>
            <a:ext cx="7406640" cy="1752600"/>
          </a:xfrm>
        </p:spPr>
        <p:txBody>
          <a:bodyPr/>
          <a:lstStyle/>
          <a:p>
            <a:pPr marL="484632" indent="-457200">
              <a:buFont typeface="Arial" panose="020B0604020202020204" pitchFamily="34" charset="0"/>
              <a:buChar char="•"/>
            </a:pPr>
            <a:r>
              <a:rPr lang="en-US" sz="2800" dirty="0"/>
              <a:t>RTOS Kernel Functions</a:t>
            </a:r>
          </a:p>
          <a:p>
            <a:endParaRPr lang="en-US" dirty="0"/>
          </a:p>
        </p:txBody>
      </p:sp>
    </p:spTree>
    <p:extLst>
      <p:ext uri="{BB962C8B-B14F-4D97-AF65-F5344CB8AC3E}">
        <p14:creationId xmlns:p14="http://schemas.microsoft.com/office/powerpoint/2010/main" val="18427390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5"/>
          <p:cNvSpPr>
            <a:spLocks noGrp="1"/>
          </p:cNvSpPr>
          <p:nvPr>
            <p:ph type="sldNum" sz="quarter" idx="11"/>
          </p:nvPr>
        </p:nvSpPr>
        <p:spPr/>
        <p:txBody>
          <a:bodyPr/>
          <a:lstStyle/>
          <a:p>
            <a:pPr>
              <a:defRPr/>
            </a:pPr>
            <a:fld id="{5B9036CF-4195-4D5A-9595-15A0AA8E314E}" type="slidenum">
              <a:rPr lang="en-US"/>
              <a:pPr>
                <a:defRPr/>
              </a:pPr>
              <a:t>31</a:t>
            </a:fld>
            <a:endParaRPr lang="en-US"/>
          </a:p>
        </p:txBody>
      </p:sp>
      <p:sp>
        <p:nvSpPr>
          <p:cNvPr id="18434" name="Rectangle 2"/>
          <p:cNvSpPr>
            <a:spLocks noGrp="1" noChangeArrowheads="1"/>
          </p:cNvSpPr>
          <p:nvPr>
            <p:ph type="title"/>
          </p:nvPr>
        </p:nvSpPr>
        <p:spPr>
          <a:xfrm>
            <a:off x="990600" y="0"/>
            <a:ext cx="7772400" cy="1141413"/>
          </a:xfrm>
        </p:spPr>
        <p:txBody>
          <a:bodyPr/>
          <a:lstStyle/>
          <a:p>
            <a:pPr eaLnBrk="1" hangingPunct="1">
              <a:defRPr/>
            </a:pPr>
            <a:r>
              <a:rPr lang="en-US" dirty="0"/>
              <a:t>4.3 RTOS Kernel</a:t>
            </a:r>
          </a:p>
        </p:txBody>
      </p:sp>
      <p:sp>
        <p:nvSpPr>
          <p:cNvPr id="18435" name="Rectangle 3"/>
          <p:cNvSpPr>
            <a:spLocks noGrp="1" noChangeArrowheads="1"/>
          </p:cNvSpPr>
          <p:nvPr>
            <p:ph type="body" sz="half" idx="1"/>
          </p:nvPr>
        </p:nvSpPr>
        <p:spPr>
          <a:xfrm>
            <a:off x="1066800" y="1066800"/>
            <a:ext cx="7848600" cy="2133600"/>
          </a:xfrm>
        </p:spPr>
        <p:txBody>
          <a:bodyPr>
            <a:normAutofit fontScale="85000" lnSpcReduction="20000"/>
          </a:bodyPr>
          <a:lstStyle/>
          <a:p>
            <a:pPr eaLnBrk="1" hangingPunct="1">
              <a:defRPr/>
            </a:pPr>
            <a:r>
              <a:rPr lang="en-US" sz="2800" dirty="0"/>
              <a:t>RTOS Kernel provides an </a:t>
            </a:r>
            <a:r>
              <a:rPr lang="en-US" sz="2800" dirty="0">
                <a:solidFill>
                  <a:srgbClr val="FF0000"/>
                </a:solidFill>
              </a:rPr>
              <a:t>Abstraction layer </a:t>
            </a:r>
            <a:r>
              <a:rPr lang="en-US" sz="2800" dirty="0"/>
              <a:t>that hides from application software and the hardware details of the processor or set of processors upon which the application software shall run.</a:t>
            </a:r>
          </a:p>
          <a:p>
            <a:pPr>
              <a:defRPr/>
            </a:pPr>
            <a:r>
              <a:rPr lang="en-US" altLang="zh-CN" sz="2800" dirty="0"/>
              <a:t>They are often called a </a:t>
            </a:r>
            <a:r>
              <a:rPr lang="en-US" altLang="zh-CN" sz="2800" dirty="0">
                <a:solidFill>
                  <a:srgbClr val="FF0000"/>
                </a:solidFill>
              </a:rPr>
              <a:t>kernel </a:t>
            </a:r>
            <a:r>
              <a:rPr lang="en-US" altLang="zh-CN" sz="2800" dirty="0"/>
              <a:t>or </a:t>
            </a:r>
            <a:r>
              <a:rPr lang="en-US" altLang="zh-CN" sz="2800" dirty="0">
                <a:solidFill>
                  <a:srgbClr val="FF0000"/>
                </a:solidFill>
              </a:rPr>
              <a:t>executive process</a:t>
            </a:r>
            <a:r>
              <a:rPr lang="en-US" altLang="zh-CN" sz="2800" dirty="0"/>
              <a:t>, not a full-blown  Operating System.</a:t>
            </a:r>
          </a:p>
          <a:p>
            <a:pPr eaLnBrk="1" hangingPunct="1">
              <a:defRPr/>
            </a:pPr>
            <a:endParaRPr lang="en-US" sz="2800" dirty="0"/>
          </a:p>
        </p:txBody>
      </p:sp>
      <p:grpSp>
        <p:nvGrpSpPr>
          <p:cNvPr id="2" name="Group 18"/>
          <p:cNvGrpSpPr>
            <a:grpSpLocks/>
          </p:cNvGrpSpPr>
          <p:nvPr/>
        </p:nvGrpSpPr>
        <p:grpSpPr bwMode="auto">
          <a:xfrm>
            <a:off x="1447800" y="3352800"/>
            <a:ext cx="3352800" cy="3048000"/>
            <a:chOff x="1824" y="2256"/>
            <a:chExt cx="2112" cy="1920"/>
          </a:xfrm>
        </p:grpSpPr>
        <p:sp>
          <p:nvSpPr>
            <p:cNvPr id="12295" name="Oval 6"/>
            <p:cNvSpPr>
              <a:spLocks noChangeArrowheads="1"/>
            </p:cNvSpPr>
            <p:nvPr/>
          </p:nvSpPr>
          <p:spPr bwMode="auto">
            <a:xfrm>
              <a:off x="1824" y="2256"/>
              <a:ext cx="2112" cy="480"/>
            </a:xfrm>
            <a:prstGeom prst="ellipse">
              <a:avLst/>
            </a:prstGeom>
            <a:solidFill>
              <a:schemeClr val="accent1"/>
            </a:solidFill>
            <a:ln w="9525">
              <a:solidFill>
                <a:srgbClr val="000000"/>
              </a:solidFill>
              <a:round/>
              <a:headEnd/>
              <a:tailEnd/>
            </a:ln>
          </p:spPr>
          <p:txBody>
            <a:bodyPr wrap="none" anchor="ctr"/>
            <a:lstStyle/>
            <a:p>
              <a:pPr algn="ctr" eaLnBrk="1" hangingPunct="1"/>
              <a:r>
                <a:rPr lang="en-US" sz="2400" dirty="0">
                  <a:solidFill>
                    <a:srgbClr val="000000"/>
                  </a:solidFill>
                  <a:latin typeface="Times New Roman" charset="0"/>
                </a:rPr>
                <a:t>Application Software</a:t>
              </a:r>
            </a:p>
          </p:txBody>
        </p:sp>
        <p:sp>
          <p:nvSpPr>
            <p:cNvPr id="12296" name="Oval 7"/>
            <p:cNvSpPr>
              <a:spLocks noChangeArrowheads="1"/>
            </p:cNvSpPr>
            <p:nvPr/>
          </p:nvSpPr>
          <p:spPr bwMode="auto">
            <a:xfrm>
              <a:off x="2256" y="2976"/>
              <a:ext cx="1296" cy="480"/>
            </a:xfrm>
            <a:prstGeom prst="ellipse">
              <a:avLst/>
            </a:prstGeom>
            <a:solidFill>
              <a:srgbClr val="FFFF00"/>
            </a:solidFill>
            <a:ln w="9525">
              <a:solidFill>
                <a:srgbClr val="000000"/>
              </a:solidFill>
              <a:round/>
              <a:headEnd/>
              <a:tailEnd/>
            </a:ln>
          </p:spPr>
          <p:txBody>
            <a:bodyPr wrap="none" anchor="ctr"/>
            <a:lstStyle/>
            <a:p>
              <a:pPr algn="ctr" eaLnBrk="1" hangingPunct="1"/>
              <a:r>
                <a:rPr lang="en-US" sz="2400" dirty="0">
                  <a:solidFill>
                    <a:srgbClr val="000000"/>
                  </a:solidFill>
                  <a:latin typeface="Times New Roman" charset="0"/>
                </a:rPr>
                <a:t>RTOS</a:t>
              </a:r>
            </a:p>
          </p:txBody>
        </p:sp>
        <p:sp>
          <p:nvSpPr>
            <p:cNvPr id="12297" name="Rectangle 8"/>
            <p:cNvSpPr>
              <a:spLocks noChangeArrowheads="1"/>
            </p:cNvSpPr>
            <p:nvPr/>
          </p:nvSpPr>
          <p:spPr bwMode="auto">
            <a:xfrm>
              <a:off x="2016" y="3696"/>
              <a:ext cx="1728" cy="480"/>
            </a:xfrm>
            <a:prstGeom prst="rect">
              <a:avLst/>
            </a:prstGeom>
            <a:solidFill>
              <a:srgbClr val="FF0000"/>
            </a:solidFill>
            <a:ln w="9525">
              <a:solidFill>
                <a:srgbClr val="000000"/>
              </a:solidFill>
              <a:miter lim="800000"/>
              <a:headEnd/>
              <a:tailEnd/>
            </a:ln>
          </p:spPr>
          <p:txBody>
            <a:bodyPr wrap="none" anchor="ctr"/>
            <a:lstStyle/>
            <a:p>
              <a:pPr algn="ctr" eaLnBrk="1" hangingPunct="1"/>
              <a:r>
                <a:rPr lang="en-US" sz="2400">
                  <a:solidFill>
                    <a:srgbClr val="000000"/>
                  </a:solidFill>
                  <a:latin typeface="Times New Roman" charset="0"/>
                </a:rPr>
                <a:t>Hardware</a:t>
              </a:r>
            </a:p>
          </p:txBody>
        </p:sp>
        <p:sp>
          <p:nvSpPr>
            <p:cNvPr id="12298" name="Line 9"/>
            <p:cNvSpPr>
              <a:spLocks noChangeShapeType="1"/>
            </p:cNvSpPr>
            <p:nvPr/>
          </p:nvSpPr>
          <p:spPr bwMode="auto">
            <a:xfrm>
              <a:off x="2496" y="3408"/>
              <a:ext cx="0" cy="288"/>
            </a:xfrm>
            <a:prstGeom prst="line">
              <a:avLst/>
            </a:prstGeom>
            <a:noFill/>
            <a:ln w="50800">
              <a:solidFill>
                <a:schemeClr val="tx1"/>
              </a:solidFill>
              <a:round/>
              <a:headEnd type="triangle" w="med" len="med"/>
              <a:tailEnd type="triangle" w="med" len="med"/>
            </a:ln>
          </p:spPr>
          <p:txBody>
            <a:bodyPr/>
            <a:lstStyle/>
            <a:p>
              <a:endParaRPr lang="en-US"/>
            </a:p>
          </p:txBody>
        </p:sp>
        <p:sp>
          <p:nvSpPr>
            <p:cNvPr id="12299" name="Line 13"/>
            <p:cNvSpPr>
              <a:spLocks noChangeShapeType="1"/>
            </p:cNvSpPr>
            <p:nvPr/>
          </p:nvSpPr>
          <p:spPr bwMode="auto">
            <a:xfrm>
              <a:off x="3264" y="3408"/>
              <a:ext cx="0" cy="288"/>
            </a:xfrm>
            <a:prstGeom prst="line">
              <a:avLst/>
            </a:prstGeom>
            <a:noFill/>
            <a:ln w="50800">
              <a:solidFill>
                <a:schemeClr val="tx1"/>
              </a:solidFill>
              <a:round/>
              <a:headEnd type="triangle" w="med" len="med"/>
              <a:tailEnd type="triangle" w="med" len="med"/>
            </a:ln>
          </p:spPr>
          <p:txBody>
            <a:bodyPr/>
            <a:lstStyle/>
            <a:p>
              <a:endParaRPr lang="en-US"/>
            </a:p>
          </p:txBody>
        </p:sp>
        <p:sp>
          <p:nvSpPr>
            <p:cNvPr id="12300" name="Line 14"/>
            <p:cNvSpPr>
              <a:spLocks noChangeShapeType="1"/>
            </p:cNvSpPr>
            <p:nvPr/>
          </p:nvSpPr>
          <p:spPr bwMode="auto">
            <a:xfrm>
              <a:off x="2496" y="2688"/>
              <a:ext cx="0" cy="336"/>
            </a:xfrm>
            <a:prstGeom prst="line">
              <a:avLst/>
            </a:prstGeom>
            <a:noFill/>
            <a:ln w="50800">
              <a:solidFill>
                <a:schemeClr val="tx1"/>
              </a:solidFill>
              <a:round/>
              <a:headEnd type="triangle" w="med" len="med"/>
              <a:tailEnd type="triangle" w="med" len="med"/>
            </a:ln>
          </p:spPr>
          <p:txBody>
            <a:bodyPr/>
            <a:lstStyle/>
            <a:p>
              <a:endParaRPr lang="en-US"/>
            </a:p>
          </p:txBody>
        </p:sp>
        <p:sp>
          <p:nvSpPr>
            <p:cNvPr id="12301" name="Line 15"/>
            <p:cNvSpPr>
              <a:spLocks noChangeShapeType="1"/>
            </p:cNvSpPr>
            <p:nvPr/>
          </p:nvSpPr>
          <p:spPr bwMode="auto">
            <a:xfrm>
              <a:off x="3312" y="2688"/>
              <a:ext cx="0" cy="336"/>
            </a:xfrm>
            <a:prstGeom prst="line">
              <a:avLst/>
            </a:prstGeom>
            <a:noFill/>
            <a:ln w="50800">
              <a:solidFill>
                <a:schemeClr val="tx1"/>
              </a:solidFill>
              <a:round/>
              <a:headEnd type="triangle" w="med" len="med"/>
              <a:tailEnd type="triangle" w="med" len="med"/>
            </a:ln>
          </p:spPr>
          <p:txBody>
            <a:bodyPr/>
            <a:lstStyle/>
            <a:p>
              <a:endParaRPr lang="en-US"/>
            </a:p>
          </p:txBody>
        </p:sp>
      </p:grpSp>
      <p:graphicFrame>
        <p:nvGraphicFramePr>
          <p:cNvPr id="61441" name="Object 1"/>
          <p:cNvGraphicFramePr>
            <a:graphicFrameLocks noChangeAspect="1"/>
          </p:cNvGraphicFramePr>
          <p:nvPr/>
        </p:nvGraphicFramePr>
        <p:xfrm>
          <a:off x="5181600" y="2895600"/>
          <a:ext cx="3733800" cy="3619500"/>
        </p:xfrm>
        <a:graphic>
          <a:graphicData uri="http://schemas.openxmlformats.org/presentationml/2006/ole">
            <mc:AlternateContent xmlns:mc="http://schemas.openxmlformats.org/markup-compatibility/2006">
              <mc:Choice xmlns:v="urn:schemas-microsoft-com:vml" Requires="v">
                <p:oleObj name="Visio" r:id="rId3" imgW="3692250" imgH="3584006" progId="Visio.Drawing.11">
                  <p:embed/>
                </p:oleObj>
              </mc:Choice>
              <mc:Fallback>
                <p:oleObj name="Visio" r:id="rId3" imgW="3692250" imgH="3584006"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2895600"/>
                        <a:ext cx="3733800" cy="3619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7A0062B5-BE52-43CA-9BD4-F177E51678D8}" type="slidenum">
              <a:rPr lang="en-US"/>
              <a:pPr>
                <a:defRPr/>
              </a:pPr>
              <a:t>32</a:t>
            </a:fld>
            <a:endParaRPr lang="en-US"/>
          </a:p>
        </p:txBody>
      </p:sp>
      <p:sp>
        <p:nvSpPr>
          <p:cNvPr id="19461" name="Rectangle 5"/>
          <p:cNvSpPr>
            <a:spLocks noGrp="1" noChangeArrowheads="1"/>
          </p:cNvSpPr>
          <p:nvPr>
            <p:ph type="title"/>
          </p:nvPr>
        </p:nvSpPr>
        <p:spPr/>
        <p:txBody>
          <a:bodyPr/>
          <a:lstStyle/>
          <a:p>
            <a:pPr eaLnBrk="1" hangingPunct="1">
              <a:defRPr/>
            </a:pPr>
            <a:r>
              <a:rPr lang="en-US" dirty="0"/>
              <a:t>4.3.1    RTOS Kernel Functions</a:t>
            </a:r>
          </a:p>
        </p:txBody>
      </p:sp>
      <p:pic>
        <p:nvPicPr>
          <p:cNvPr id="13317" name="Picture 4" descr="rtos kernel1"/>
          <p:cNvPicPr>
            <a:picLocks noGrp="1" noChangeAspect="1" noChangeArrowheads="1"/>
          </p:cNvPicPr>
          <p:nvPr>
            <p:ph idx="1"/>
          </p:nvPr>
        </p:nvPicPr>
        <p:blipFill>
          <a:blip r:embed="rId3" cstate="print"/>
          <a:srcRect/>
          <a:stretch>
            <a:fillRect/>
          </a:stretch>
        </p:blipFill>
        <p:spPr>
          <a:xfrm>
            <a:off x="2286000" y="1828800"/>
            <a:ext cx="4724400" cy="4576763"/>
          </a:xfr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1713CFA3-5D7E-47DD-AA5F-17A761972796}" type="slidenum">
              <a:rPr lang="en-US"/>
              <a:pPr>
                <a:defRPr/>
              </a:pPr>
              <a:t>33</a:t>
            </a:fld>
            <a:endParaRPr lang="en-US"/>
          </a:p>
        </p:txBody>
      </p:sp>
      <p:sp>
        <p:nvSpPr>
          <p:cNvPr id="27650" name="Rectangle 2"/>
          <p:cNvSpPr>
            <a:spLocks noGrp="1" noChangeArrowheads="1"/>
          </p:cNvSpPr>
          <p:nvPr>
            <p:ph type="title"/>
          </p:nvPr>
        </p:nvSpPr>
        <p:spPr>
          <a:xfrm>
            <a:off x="1435608" y="274638"/>
            <a:ext cx="7498080" cy="487362"/>
          </a:xfrm>
        </p:spPr>
        <p:txBody>
          <a:bodyPr>
            <a:normAutofit fontScale="90000"/>
          </a:bodyPr>
          <a:lstStyle/>
          <a:p>
            <a:pPr eaLnBrk="1" hangingPunct="1">
              <a:defRPr/>
            </a:pPr>
            <a:r>
              <a:rPr lang="en-US" dirty="0"/>
              <a:t>4.3.1.1 Task Management</a:t>
            </a:r>
          </a:p>
        </p:txBody>
      </p:sp>
      <p:sp>
        <p:nvSpPr>
          <p:cNvPr id="27651" name="Rectangle 3"/>
          <p:cNvSpPr>
            <a:spLocks noGrp="1" noChangeArrowheads="1"/>
          </p:cNvSpPr>
          <p:nvPr>
            <p:ph type="body" idx="1"/>
          </p:nvPr>
        </p:nvSpPr>
        <p:spPr>
          <a:xfrm>
            <a:off x="1143000" y="1066800"/>
            <a:ext cx="7772400" cy="5791200"/>
          </a:xfrm>
        </p:spPr>
        <p:txBody>
          <a:bodyPr>
            <a:noAutofit/>
          </a:bodyPr>
          <a:lstStyle/>
          <a:p>
            <a:pPr>
              <a:defRPr/>
            </a:pPr>
            <a:r>
              <a:rPr lang="en-US" sz="2800" dirty="0"/>
              <a:t>It is the most basic category of kernel services, at the very center . </a:t>
            </a:r>
          </a:p>
          <a:p>
            <a:pPr>
              <a:defRPr/>
            </a:pPr>
            <a:r>
              <a:rPr lang="en-US" sz="2800" dirty="0">
                <a:ea typeface="宋体" pitchFamily="2" charset="-122"/>
              </a:rPr>
              <a:t>These set of services are used to allow application software developers to design their software as a number of separate chunks of software </a:t>
            </a:r>
            <a:r>
              <a:rPr lang="en-US" sz="2800" dirty="0"/>
              <a:t>each handling:</a:t>
            </a:r>
          </a:p>
          <a:p>
            <a:pPr lvl="1">
              <a:defRPr/>
            </a:pPr>
            <a:r>
              <a:rPr lang="en-US" dirty="0"/>
              <a:t>a distinct topic, </a:t>
            </a:r>
          </a:p>
          <a:p>
            <a:pPr lvl="1">
              <a:defRPr/>
            </a:pPr>
            <a:r>
              <a:rPr lang="en-US" dirty="0"/>
              <a:t>a distinct goal, and </a:t>
            </a:r>
          </a:p>
          <a:p>
            <a:pPr lvl="1">
              <a:defRPr/>
            </a:pPr>
            <a:r>
              <a:rPr lang="en-US" dirty="0"/>
              <a:t>perhaps its own real-time deadline</a:t>
            </a:r>
            <a:r>
              <a:rPr lang="en-US" sz="2200" dirty="0"/>
              <a:t>.  </a:t>
            </a:r>
            <a:endParaRPr lang="en-US" sz="2200" dirty="0">
              <a:ea typeface="宋体" pitchFamily="2" charset="-122"/>
            </a:endParaRPr>
          </a:p>
          <a:p>
            <a:pPr>
              <a:buNone/>
            </a:pPr>
            <a:endParaRPr lang="en-US" sz="2600" dirty="0">
              <a:ea typeface="宋体"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1713CFA3-5D7E-47DD-AA5F-17A761972796}" type="slidenum">
              <a:rPr lang="en-US"/>
              <a:pPr>
                <a:defRPr/>
              </a:pPr>
              <a:t>34</a:t>
            </a:fld>
            <a:endParaRPr lang="en-US"/>
          </a:p>
        </p:txBody>
      </p:sp>
      <p:sp>
        <p:nvSpPr>
          <p:cNvPr id="27650" name="Rectangle 2"/>
          <p:cNvSpPr>
            <a:spLocks noGrp="1" noChangeArrowheads="1"/>
          </p:cNvSpPr>
          <p:nvPr>
            <p:ph type="title"/>
          </p:nvPr>
        </p:nvSpPr>
        <p:spPr>
          <a:xfrm>
            <a:off x="1435608" y="274638"/>
            <a:ext cx="7498080" cy="487362"/>
          </a:xfrm>
        </p:spPr>
        <p:txBody>
          <a:bodyPr>
            <a:normAutofit fontScale="90000"/>
          </a:bodyPr>
          <a:lstStyle/>
          <a:p>
            <a:pPr eaLnBrk="1" hangingPunct="1">
              <a:defRPr/>
            </a:pPr>
            <a:r>
              <a:rPr lang="en-US" dirty="0"/>
              <a:t>4.3.1.1 Task Management</a:t>
            </a:r>
          </a:p>
        </p:txBody>
      </p:sp>
      <p:sp>
        <p:nvSpPr>
          <p:cNvPr id="27651" name="Rectangle 3"/>
          <p:cNvSpPr>
            <a:spLocks noGrp="1" noChangeArrowheads="1"/>
          </p:cNvSpPr>
          <p:nvPr>
            <p:ph type="body" idx="1"/>
          </p:nvPr>
        </p:nvSpPr>
        <p:spPr>
          <a:xfrm>
            <a:off x="1143000" y="1143000"/>
            <a:ext cx="7772400" cy="5715000"/>
          </a:xfrm>
        </p:spPr>
        <p:txBody>
          <a:bodyPr>
            <a:noAutofit/>
          </a:bodyPr>
          <a:lstStyle/>
          <a:p>
            <a:r>
              <a:rPr lang="en-US" sz="2800" dirty="0"/>
              <a:t>Each separate “</a:t>
            </a:r>
            <a:r>
              <a:rPr lang="en-US" sz="2800" dirty="0">
                <a:solidFill>
                  <a:srgbClr val="FF0000"/>
                </a:solidFill>
              </a:rPr>
              <a:t>chunk</a:t>
            </a:r>
            <a:r>
              <a:rPr lang="en-US" sz="2800" dirty="0"/>
              <a:t>” of software is  called a “</a:t>
            </a:r>
            <a:r>
              <a:rPr lang="en-US" sz="2800" dirty="0">
                <a:solidFill>
                  <a:srgbClr val="FF0000"/>
                </a:solidFill>
              </a:rPr>
              <a:t>task</a:t>
            </a:r>
            <a:r>
              <a:rPr lang="en-US" sz="2800" dirty="0"/>
              <a:t>”.   </a:t>
            </a:r>
          </a:p>
          <a:p>
            <a:r>
              <a:rPr lang="en-US" sz="2800" dirty="0"/>
              <a:t>Services in this category include the ability to </a:t>
            </a:r>
            <a:r>
              <a:rPr lang="en-US" sz="2800" dirty="0">
                <a:solidFill>
                  <a:srgbClr val="FF0000"/>
                </a:solidFill>
              </a:rPr>
              <a:t>launch</a:t>
            </a:r>
            <a:r>
              <a:rPr lang="en-US" sz="2800" dirty="0"/>
              <a:t> tasks and assign </a:t>
            </a:r>
            <a:r>
              <a:rPr lang="en-US" sz="2800" dirty="0">
                <a:solidFill>
                  <a:srgbClr val="FF0000"/>
                </a:solidFill>
              </a:rPr>
              <a:t>priorities</a:t>
            </a:r>
            <a:r>
              <a:rPr lang="en-US" sz="2800" dirty="0"/>
              <a:t> to them.</a:t>
            </a:r>
          </a:p>
          <a:p>
            <a:r>
              <a:rPr lang="en-US" sz="2800" dirty="0"/>
              <a:t> </a:t>
            </a:r>
            <a:r>
              <a:rPr lang="en-US" sz="2800" dirty="0">
                <a:ea typeface="宋体" pitchFamily="2" charset="-122"/>
              </a:rPr>
              <a:t>Main service offered is </a:t>
            </a:r>
            <a:r>
              <a:rPr lang="en-US" sz="2800" dirty="0">
                <a:solidFill>
                  <a:srgbClr val="FF0000"/>
                </a:solidFill>
                <a:ea typeface="宋体" pitchFamily="2" charset="-122"/>
              </a:rPr>
              <a:t>Task Scheduling </a:t>
            </a:r>
          </a:p>
          <a:p>
            <a:pPr lvl="1" eaLnBrk="1" hangingPunct="1">
              <a:defRPr/>
            </a:pPr>
            <a:r>
              <a:rPr lang="en-US" dirty="0">
                <a:ea typeface="宋体" pitchFamily="2" charset="-122"/>
              </a:rPr>
              <a:t>controls the execution of application software tasks </a:t>
            </a:r>
          </a:p>
          <a:p>
            <a:pPr lvl="1" eaLnBrk="1" hangingPunct="1">
              <a:defRPr/>
            </a:pPr>
            <a:r>
              <a:rPr lang="en-US" dirty="0">
                <a:ea typeface="宋体" pitchFamily="2" charset="-122"/>
              </a:rPr>
              <a:t>can make them run in a very timely and responsive fashion.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B6B3016F-D489-43AC-9288-886D75F8D475}" type="slidenum">
              <a:rPr lang="en-US"/>
              <a:pPr>
                <a:defRPr/>
              </a:pPr>
              <a:t>35</a:t>
            </a:fld>
            <a:endParaRPr lang="en-US"/>
          </a:p>
        </p:txBody>
      </p:sp>
      <p:sp>
        <p:nvSpPr>
          <p:cNvPr id="30722" name="Rectangle 2"/>
          <p:cNvSpPr>
            <a:spLocks noGrp="1" noChangeArrowheads="1"/>
          </p:cNvSpPr>
          <p:nvPr>
            <p:ph type="title"/>
          </p:nvPr>
        </p:nvSpPr>
        <p:spPr>
          <a:xfrm>
            <a:off x="990600" y="-76200"/>
            <a:ext cx="6934200" cy="914400"/>
          </a:xfrm>
        </p:spPr>
        <p:txBody>
          <a:bodyPr/>
          <a:lstStyle/>
          <a:p>
            <a:pPr eaLnBrk="1" hangingPunct="1">
              <a:defRPr/>
            </a:pPr>
            <a:r>
              <a:rPr lang="en-US" dirty="0"/>
              <a:t>Task Scheduling</a:t>
            </a:r>
          </a:p>
        </p:txBody>
      </p:sp>
      <p:sp>
        <p:nvSpPr>
          <p:cNvPr id="30723" name="Rectangle 3"/>
          <p:cNvSpPr>
            <a:spLocks noGrp="1" noChangeArrowheads="1"/>
          </p:cNvSpPr>
          <p:nvPr>
            <p:ph type="body" idx="1"/>
          </p:nvPr>
        </p:nvSpPr>
        <p:spPr>
          <a:xfrm>
            <a:off x="762000" y="762000"/>
            <a:ext cx="8382000" cy="5791200"/>
          </a:xfrm>
        </p:spPr>
        <p:txBody>
          <a:bodyPr>
            <a:noAutofit/>
          </a:bodyPr>
          <a:lstStyle/>
          <a:p>
            <a:pPr eaLnBrk="1" hangingPunct="1">
              <a:buFont typeface="Wingdings" pitchFamily="2" charset="2"/>
              <a:buChar char="v"/>
              <a:defRPr/>
            </a:pPr>
            <a:r>
              <a:rPr lang="en-US" sz="2400" dirty="0">
                <a:solidFill>
                  <a:srgbClr val="FF0000"/>
                </a:solidFill>
                <a:ea typeface="宋体" pitchFamily="2" charset="-122"/>
              </a:rPr>
              <a:t>Non Real-time systems </a:t>
            </a:r>
            <a:r>
              <a:rPr lang="en-US" sz="2400" dirty="0">
                <a:ea typeface="宋体" pitchFamily="2" charset="-122"/>
              </a:rPr>
              <a:t>usually use </a:t>
            </a:r>
            <a:r>
              <a:rPr lang="en-US" altLang="zh-CN" sz="2400" dirty="0">
                <a:solidFill>
                  <a:srgbClr val="FF0000"/>
                </a:solidFill>
                <a:ea typeface="宋体" pitchFamily="2" charset="-122"/>
              </a:rPr>
              <a:t>Non-preemptive Scheduling  </a:t>
            </a:r>
          </a:p>
          <a:p>
            <a:pPr lvl="1" eaLnBrk="1" hangingPunct="1">
              <a:defRPr/>
            </a:pPr>
            <a:r>
              <a:rPr lang="en-US" altLang="zh-CN" sz="2400" i="1" dirty="0">
                <a:ea typeface="宋体" pitchFamily="2" charset="-122"/>
              </a:rPr>
              <a:t>Once a task starts executing, it completes its full execution.</a:t>
            </a:r>
            <a:endParaRPr lang="en-US" sz="2400" i="1" dirty="0">
              <a:ea typeface="宋体" pitchFamily="2" charset="-122"/>
            </a:endParaRPr>
          </a:p>
          <a:p>
            <a:pPr eaLnBrk="1" hangingPunct="1">
              <a:buFont typeface="Wingdings" pitchFamily="2" charset="2"/>
              <a:buChar char="v"/>
              <a:defRPr/>
            </a:pPr>
            <a:r>
              <a:rPr lang="en-US" sz="2400" dirty="0">
                <a:ea typeface="宋体" pitchFamily="2" charset="-122"/>
              </a:rPr>
              <a:t>Most RTOS perform </a:t>
            </a:r>
            <a:r>
              <a:rPr lang="en-US" sz="2400" dirty="0">
                <a:solidFill>
                  <a:srgbClr val="FF0000"/>
                </a:solidFill>
                <a:ea typeface="宋体" pitchFamily="2" charset="-122"/>
              </a:rPr>
              <a:t>priority-based</a:t>
            </a:r>
            <a:r>
              <a:rPr lang="en-US" sz="2400" dirty="0">
                <a:ea typeface="宋体" pitchFamily="2" charset="-122"/>
              </a:rPr>
              <a:t> preemptive task scheduling.</a:t>
            </a:r>
          </a:p>
          <a:p>
            <a:pPr eaLnBrk="1" hangingPunct="1">
              <a:buNone/>
              <a:defRPr/>
            </a:pPr>
            <a:endParaRPr lang="en-US" sz="2400" b="1" dirty="0">
              <a:ea typeface="宋体" pitchFamily="2" charset="-122"/>
            </a:endParaRPr>
          </a:p>
          <a:p>
            <a:pPr eaLnBrk="1" hangingPunct="1">
              <a:buNone/>
              <a:defRPr/>
            </a:pPr>
            <a:r>
              <a:rPr lang="en-US" sz="2400" b="1" dirty="0">
                <a:ea typeface="宋体" pitchFamily="2" charset="-122"/>
              </a:rPr>
              <a:t>Basic rules for priority based preemptive task scheduling</a:t>
            </a:r>
          </a:p>
          <a:p>
            <a:pPr lvl="1">
              <a:buFont typeface="Wingdings" pitchFamily="2" charset="2"/>
              <a:buChar char="ü"/>
              <a:defRPr/>
            </a:pPr>
            <a:r>
              <a:rPr lang="en-US" sz="2400" dirty="0">
                <a:ea typeface="宋体" pitchFamily="2" charset="-122"/>
              </a:rPr>
              <a:t>The Highest Priority Task that is Ready to Run, will be the Task that Must be Running. </a:t>
            </a:r>
          </a:p>
          <a:p>
            <a:pPr lvl="1">
              <a:buFont typeface="Wingdings" pitchFamily="2" charset="2"/>
              <a:buChar char="ü"/>
              <a:defRPr/>
            </a:pPr>
            <a:r>
              <a:rPr lang="en-US" sz="2400" dirty="0">
                <a:solidFill>
                  <a:srgbClr val="000000"/>
                </a:solidFill>
              </a:rPr>
              <a:t>Preemptive permits one task to preempt another one of lower priority</a:t>
            </a:r>
          </a:p>
          <a:p>
            <a:pPr>
              <a:buNone/>
              <a:defRPr/>
            </a:pPr>
            <a:endParaRPr lang="en-US" sz="2400" b="1" dirty="0"/>
          </a:p>
          <a:p>
            <a:pPr>
              <a:buNone/>
              <a:defRPr/>
            </a:pPr>
            <a:r>
              <a:rPr lang="en-US" sz="2400" b="1" dirty="0"/>
              <a:t>Priority based Preemptive Task Scheduling </a:t>
            </a:r>
          </a:p>
          <a:p>
            <a:pPr>
              <a:buFont typeface="Wingdings" pitchFamily="2" charset="2"/>
              <a:buChar char="ü"/>
              <a:defRPr/>
            </a:pPr>
            <a:r>
              <a:rPr lang="en-US" sz="2400" dirty="0">
                <a:ea typeface="宋体" pitchFamily="2" charset="-122"/>
              </a:rPr>
              <a:t>Every Task in a software application is assigned a priority.</a:t>
            </a:r>
          </a:p>
          <a:p>
            <a:pPr>
              <a:buFont typeface="Wingdings" pitchFamily="2" charset="2"/>
              <a:buChar char="ü"/>
              <a:defRPr/>
            </a:pPr>
            <a:r>
              <a:rPr lang="en-US" sz="2400" dirty="0">
                <a:ea typeface="宋体" pitchFamily="2" charset="-122"/>
              </a:rPr>
              <a:t>Higher Priority </a:t>
            </a:r>
            <a:r>
              <a:rPr lang="en-US" sz="2400" dirty="0">
                <a:ea typeface="宋体" pitchFamily="2" charset="-122"/>
                <a:cs typeface="Times New Roman" charset="0"/>
              </a:rPr>
              <a:t>= Higher Need for Quick Response.</a:t>
            </a:r>
          </a:p>
          <a:p>
            <a:pPr>
              <a:buFont typeface="Wingdings" pitchFamily="2" charset="2"/>
              <a:buChar char="ü"/>
              <a:defRPr/>
            </a:pPr>
            <a:r>
              <a:rPr lang="en-US" sz="2400" dirty="0">
                <a:ea typeface="宋体" pitchFamily="2" charset="-122"/>
                <a:cs typeface="Times New Roman" charset="0"/>
              </a:rPr>
              <a:t>Follows nested preemption</a:t>
            </a:r>
            <a:endParaRPr lang="en-US" sz="2400" b="1" dirty="0">
              <a:ea typeface="宋体"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Slide Number Placeholder 5"/>
          <p:cNvSpPr>
            <a:spLocks noGrp="1"/>
          </p:cNvSpPr>
          <p:nvPr>
            <p:ph type="sldNum" sz="quarter" idx="12"/>
          </p:nvPr>
        </p:nvSpPr>
        <p:spPr>
          <a:noFill/>
        </p:spPr>
        <p:txBody>
          <a:bodyPr/>
          <a:lstStyle/>
          <a:p>
            <a:fld id="{109204D1-700B-4B61-8F80-3B99DF48E5FB}" type="slidenum">
              <a:rPr lang="en-US"/>
              <a:pPr/>
              <a:t>36</a:t>
            </a:fld>
            <a:endParaRPr lang="en-US"/>
          </a:p>
        </p:txBody>
      </p:sp>
      <p:sp>
        <p:nvSpPr>
          <p:cNvPr id="13317" name="Rectangle 2"/>
          <p:cNvSpPr>
            <a:spLocks noChangeArrowheads="1"/>
          </p:cNvSpPr>
          <p:nvPr/>
        </p:nvSpPr>
        <p:spPr bwMode="auto">
          <a:xfrm>
            <a:off x="4191000" y="5181600"/>
            <a:ext cx="533400" cy="381000"/>
          </a:xfrm>
          <a:prstGeom prst="rect">
            <a:avLst/>
          </a:prstGeom>
          <a:solidFill>
            <a:srgbClr val="0000FF"/>
          </a:solidFill>
          <a:ln w="12700">
            <a:solidFill>
              <a:schemeClr val="tx1"/>
            </a:solidFill>
            <a:miter lim="800000"/>
            <a:headEnd/>
            <a:tailEnd/>
          </a:ln>
        </p:spPr>
        <p:txBody>
          <a:bodyPr wrap="none" anchor="ctr"/>
          <a:lstStyle/>
          <a:p>
            <a:endParaRPr lang="en-US"/>
          </a:p>
        </p:txBody>
      </p:sp>
      <p:sp>
        <p:nvSpPr>
          <p:cNvPr id="13318" name="Rectangle 3"/>
          <p:cNvSpPr>
            <a:spLocks noChangeArrowheads="1"/>
          </p:cNvSpPr>
          <p:nvPr/>
        </p:nvSpPr>
        <p:spPr bwMode="auto">
          <a:xfrm>
            <a:off x="6629400" y="5181600"/>
            <a:ext cx="533400" cy="381000"/>
          </a:xfrm>
          <a:prstGeom prst="rect">
            <a:avLst/>
          </a:prstGeom>
          <a:solidFill>
            <a:srgbClr val="0000FF"/>
          </a:solidFill>
          <a:ln w="12700">
            <a:solidFill>
              <a:schemeClr val="tx1"/>
            </a:solidFill>
            <a:miter lim="800000"/>
            <a:headEnd/>
            <a:tailEnd/>
          </a:ln>
        </p:spPr>
        <p:txBody>
          <a:bodyPr wrap="none" anchor="ctr"/>
          <a:lstStyle/>
          <a:p>
            <a:endParaRPr lang="en-US"/>
          </a:p>
        </p:txBody>
      </p:sp>
      <p:sp>
        <p:nvSpPr>
          <p:cNvPr id="13319" name="Rectangle 4"/>
          <p:cNvSpPr>
            <a:spLocks noGrp="1" noChangeArrowheads="1"/>
          </p:cNvSpPr>
          <p:nvPr>
            <p:ph type="title"/>
          </p:nvPr>
        </p:nvSpPr>
        <p:spPr/>
        <p:txBody>
          <a:bodyPr/>
          <a:lstStyle/>
          <a:p>
            <a:r>
              <a:rPr lang="en-US" altLang="ko-KR">
                <a:ea typeface="굴림" pitchFamily="50" charset="-127"/>
              </a:rPr>
              <a:t>Real-Time Task</a:t>
            </a:r>
            <a:endParaRPr lang="en-US"/>
          </a:p>
        </p:txBody>
      </p:sp>
      <p:sp>
        <p:nvSpPr>
          <p:cNvPr id="13320" name="Rectangle 5"/>
          <p:cNvSpPr>
            <a:spLocks noGrp="1" noChangeArrowheads="1"/>
          </p:cNvSpPr>
          <p:nvPr>
            <p:ph type="body" idx="1"/>
          </p:nvPr>
        </p:nvSpPr>
        <p:spPr>
          <a:xfrm>
            <a:off x="990600" y="1447800"/>
            <a:ext cx="7943088" cy="4800600"/>
          </a:xfrm>
        </p:spPr>
        <p:txBody>
          <a:bodyPr/>
          <a:lstStyle/>
          <a:p>
            <a:r>
              <a:rPr lang="en-US" altLang="ko-KR" dirty="0">
                <a:ea typeface="굴림" pitchFamily="50" charset="-127"/>
              </a:rPr>
              <a:t>Task : a sequence of similar jobs</a:t>
            </a:r>
          </a:p>
          <a:p>
            <a:pPr lvl="1"/>
            <a:r>
              <a:rPr lang="en-US" altLang="ko-KR" dirty="0">
                <a:ea typeface="굴림" pitchFamily="50" charset="-127"/>
              </a:rPr>
              <a:t>Periodic task (</a:t>
            </a:r>
            <a:r>
              <a:rPr lang="en-US" altLang="ko-KR" i="1" dirty="0" err="1">
                <a:ea typeface="굴림" pitchFamily="50" charset="-127"/>
              </a:rPr>
              <a:t>p,e</a:t>
            </a:r>
            <a:r>
              <a:rPr lang="en-US" altLang="ko-KR" dirty="0">
                <a:ea typeface="굴림" pitchFamily="50" charset="-127"/>
              </a:rPr>
              <a:t>)</a:t>
            </a:r>
          </a:p>
          <a:p>
            <a:pPr lvl="2"/>
            <a:r>
              <a:rPr lang="en-US" altLang="ko-KR" dirty="0">
                <a:ea typeface="굴림" pitchFamily="50" charset="-127"/>
              </a:rPr>
              <a:t>Its jobs repeat regularly</a:t>
            </a:r>
          </a:p>
          <a:p>
            <a:pPr lvl="2"/>
            <a:r>
              <a:rPr lang="en-US" altLang="ko-KR" dirty="0">
                <a:ea typeface="굴림" pitchFamily="50" charset="-127"/>
              </a:rPr>
              <a:t>Period </a:t>
            </a:r>
            <a:r>
              <a:rPr lang="en-US" altLang="ko-KR" i="1" dirty="0">
                <a:ea typeface="굴림" pitchFamily="50" charset="-127"/>
              </a:rPr>
              <a:t>p</a:t>
            </a:r>
            <a:r>
              <a:rPr lang="en-US" altLang="ko-KR" dirty="0">
                <a:ea typeface="굴림" pitchFamily="50" charset="-127"/>
              </a:rPr>
              <a:t> = inter-release time (0 &lt; </a:t>
            </a:r>
            <a:r>
              <a:rPr lang="en-US" altLang="ko-KR" i="1" dirty="0">
                <a:ea typeface="굴림" pitchFamily="50" charset="-127"/>
              </a:rPr>
              <a:t>p</a:t>
            </a:r>
            <a:r>
              <a:rPr lang="en-US" altLang="ko-KR" dirty="0">
                <a:ea typeface="굴림" pitchFamily="50" charset="-127"/>
              </a:rPr>
              <a:t>)</a:t>
            </a:r>
          </a:p>
          <a:p>
            <a:pPr lvl="2"/>
            <a:r>
              <a:rPr lang="en-US" altLang="ko-KR" dirty="0">
                <a:ea typeface="굴림" pitchFamily="50" charset="-127"/>
              </a:rPr>
              <a:t>Execution time </a:t>
            </a:r>
            <a:r>
              <a:rPr lang="en-US" altLang="ko-KR" i="1" dirty="0">
                <a:ea typeface="굴림" pitchFamily="50" charset="-127"/>
              </a:rPr>
              <a:t>e</a:t>
            </a:r>
            <a:r>
              <a:rPr lang="en-US" altLang="ko-KR" dirty="0">
                <a:ea typeface="굴림" pitchFamily="50" charset="-127"/>
              </a:rPr>
              <a:t> = maximum execution time (0 &lt; </a:t>
            </a:r>
            <a:r>
              <a:rPr lang="en-US" altLang="ko-KR" i="1" dirty="0">
                <a:ea typeface="굴림" pitchFamily="50" charset="-127"/>
              </a:rPr>
              <a:t>e </a:t>
            </a:r>
            <a:r>
              <a:rPr lang="en-US" altLang="ko-KR" dirty="0">
                <a:ea typeface="굴림" pitchFamily="50" charset="-127"/>
              </a:rPr>
              <a:t>&lt; </a:t>
            </a:r>
            <a:r>
              <a:rPr lang="en-US" altLang="ko-KR" i="1" dirty="0">
                <a:ea typeface="굴림" pitchFamily="50" charset="-127"/>
              </a:rPr>
              <a:t>p</a:t>
            </a:r>
            <a:r>
              <a:rPr lang="en-US" altLang="ko-KR" dirty="0">
                <a:ea typeface="굴림" pitchFamily="50" charset="-127"/>
              </a:rPr>
              <a:t>)</a:t>
            </a:r>
          </a:p>
          <a:p>
            <a:pPr lvl="2"/>
            <a:r>
              <a:rPr lang="en-US" altLang="ko-KR" dirty="0">
                <a:ea typeface="굴림" pitchFamily="50" charset="-127"/>
              </a:rPr>
              <a:t>Utilization U = e/p</a:t>
            </a:r>
            <a:endParaRPr lang="en-US" dirty="0"/>
          </a:p>
        </p:txBody>
      </p:sp>
      <p:sp>
        <p:nvSpPr>
          <p:cNvPr id="13321" name="Line 6"/>
          <p:cNvSpPr>
            <a:spLocks noChangeShapeType="1"/>
          </p:cNvSpPr>
          <p:nvPr/>
        </p:nvSpPr>
        <p:spPr bwMode="auto">
          <a:xfrm>
            <a:off x="1524000" y="5562600"/>
            <a:ext cx="6896100" cy="0"/>
          </a:xfrm>
          <a:prstGeom prst="line">
            <a:avLst/>
          </a:prstGeom>
          <a:noFill/>
          <a:ln w="9525">
            <a:solidFill>
              <a:schemeClr val="tx1"/>
            </a:solidFill>
            <a:round/>
            <a:headEnd/>
            <a:tailEnd/>
          </a:ln>
        </p:spPr>
        <p:txBody>
          <a:bodyPr/>
          <a:lstStyle/>
          <a:p>
            <a:endParaRPr lang="en-US"/>
          </a:p>
        </p:txBody>
      </p:sp>
      <p:sp>
        <p:nvSpPr>
          <p:cNvPr id="13322" name="Line 7"/>
          <p:cNvSpPr>
            <a:spLocks noChangeShapeType="1"/>
          </p:cNvSpPr>
          <p:nvPr/>
        </p:nvSpPr>
        <p:spPr bwMode="auto">
          <a:xfrm>
            <a:off x="1524000" y="5486400"/>
            <a:ext cx="0" cy="76200"/>
          </a:xfrm>
          <a:prstGeom prst="line">
            <a:avLst/>
          </a:prstGeom>
          <a:noFill/>
          <a:ln w="9525">
            <a:solidFill>
              <a:schemeClr val="tx1"/>
            </a:solidFill>
            <a:round/>
            <a:headEnd/>
            <a:tailEnd/>
          </a:ln>
        </p:spPr>
        <p:txBody>
          <a:bodyPr/>
          <a:lstStyle/>
          <a:p>
            <a:endParaRPr lang="en-US"/>
          </a:p>
        </p:txBody>
      </p:sp>
      <p:sp>
        <p:nvSpPr>
          <p:cNvPr id="13323" name="Line 8"/>
          <p:cNvSpPr>
            <a:spLocks noChangeShapeType="1"/>
          </p:cNvSpPr>
          <p:nvPr/>
        </p:nvSpPr>
        <p:spPr bwMode="auto">
          <a:xfrm>
            <a:off x="2438400" y="5486400"/>
            <a:ext cx="0" cy="76200"/>
          </a:xfrm>
          <a:prstGeom prst="line">
            <a:avLst/>
          </a:prstGeom>
          <a:noFill/>
          <a:ln w="9525">
            <a:solidFill>
              <a:schemeClr val="tx1"/>
            </a:solidFill>
            <a:round/>
            <a:headEnd/>
            <a:tailEnd/>
          </a:ln>
        </p:spPr>
        <p:txBody>
          <a:bodyPr/>
          <a:lstStyle/>
          <a:p>
            <a:endParaRPr lang="en-US"/>
          </a:p>
        </p:txBody>
      </p:sp>
      <p:sp>
        <p:nvSpPr>
          <p:cNvPr id="13324" name="Line 9"/>
          <p:cNvSpPr>
            <a:spLocks noChangeShapeType="1"/>
          </p:cNvSpPr>
          <p:nvPr/>
        </p:nvSpPr>
        <p:spPr bwMode="auto">
          <a:xfrm>
            <a:off x="2895600" y="5486400"/>
            <a:ext cx="0" cy="76200"/>
          </a:xfrm>
          <a:prstGeom prst="line">
            <a:avLst/>
          </a:prstGeom>
          <a:noFill/>
          <a:ln w="9525">
            <a:solidFill>
              <a:schemeClr val="tx1"/>
            </a:solidFill>
            <a:round/>
            <a:headEnd/>
            <a:tailEnd/>
          </a:ln>
        </p:spPr>
        <p:txBody>
          <a:bodyPr/>
          <a:lstStyle/>
          <a:p>
            <a:endParaRPr lang="en-US"/>
          </a:p>
        </p:txBody>
      </p:sp>
      <p:sp>
        <p:nvSpPr>
          <p:cNvPr id="13325" name="Line 10"/>
          <p:cNvSpPr>
            <a:spLocks noChangeShapeType="1"/>
          </p:cNvSpPr>
          <p:nvPr/>
        </p:nvSpPr>
        <p:spPr bwMode="auto">
          <a:xfrm>
            <a:off x="3352800" y="5486400"/>
            <a:ext cx="0" cy="76200"/>
          </a:xfrm>
          <a:prstGeom prst="line">
            <a:avLst/>
          </a:prstGeom>
          <a:noFill/>
          <a:ln w="9525">
            <a:solidFill>
              <a:schemeClr val="tx1"/>
            </a:solidFill>
            <a:round/>
            <a:headEnd/>
            <a:tailEnd/>
          </a:ln>
        </p:spPr>
        <p:txBody>
          <a:bodyPr/>
          <a:lstStyle/>
          <a:p>
            <a:endParaRPr lang="en-US"/>
          </a:p>
        </p:txBody>
      </p:sp>
      <p:sp>
        <p:nvSpPr>
          <p:cNvPr id="13326" name="Line 11"/>
          <p:cNvSpPr>
            <a:spLocks noChangeShapeType="1"/>
          </p:cNvSpPr>
          <p:nvPr/>
        </p:nvSpPr>
        <p:spPr bwMode="auto">
          <a:xfrm>
            <a:off x="1981200" y="5486400"/>
            <a:ext cx="0" cy="76200"/>
          </a:xfrm>
          <a:prstGeom prst="line">
            <a:avLst/>
          </a:prstGeom>
          <a:noFill/>
          <a:ln w="9525">
            <a:solidFill>
              <a:schemeClr val="tx1"/>
            </a:solidFill>
            <a:round/>
            <a:headEnd/>
            <a:tailEnd/>
          </a:ln>
        </p:spPr>
        <p:txBody>
          <a:bodyPr/>
          <a:lstStyle/>
          <a:p>
            <a:endParaRPr lang="en-US"/>
          </a:p>
        </p:txBody>
      </p:sp>
      <p:sp>
        <p:nvSpPr>
          <p:cNvPr id="13327" name="Line 12"/>
          <p:cNvSpPr>
            <a:spLocks noChangeShapeType="1"/>
          </p:cNvSpPr>
          <p:nvPr/>
        </p:nvSpPr>
        <p:spPr bwMode="auto">
          <a:xfrm>
            <a:off x="4267200" y="5486400"/>
            <a:ext cx="0" cy="76200"/>
          </a:xfrm>
          <a:prstGeom prst="line">
            <a:avLst/>
          </a:prstGeom>
          <a:noFill/>
          <a:ln w="9525">
            <a:solidFill>
              <a:schemeClr val="tx1"/>
            </a:solidFill>
            <a:round/>
            <a:headEnd/>
            <a:tailEnd/>
          </a:ln>
        </p:spPr>
        <p:txBody>
          <a:bodyPr/>
          <a:lstStyle/>
          <a:p>
            <a:endParaRPr lang="en-US"/>
          </a:p>
        </p:txBody>
      </p:sp>
      <p:sp>
        <p:nvSpPr>
          <p:cNvPr id="13328" name="Line 13"/>
          <p:cNvSpPr>
            <a:spLocks noChangeShapeType="1"/>
          </p:cNvSpPr>
          <p:nvPr/>
        </p:nvSpPr>
        <p:spPr bwMode="auto">
          <a:xfrm>
            <a:off x="4724400" y="5486400"/>
            <a:ext cx="0" cy="76200"/>
          </a:xfrm>
          <a:prstGeom prst="line">
            <a:avLst/>
          </a:prstGeom>
          <a:noFill/>
          <a:ln w="9525">
            <a:solidFill>
              <a:schemeClr val="tx1"/>
            </a:solidFill>
            <a:round/>
            <a:headEnd/>
            <a:tailEnd/>
          </a:ln>
        </p:spPr>
        <p:txBody>
          <a:bodyPr/>
          <a:lstStyle/>
          <a:p>
            <a:endParaRPr lang="en-US"/>
          </a:p>
        </p:txBody>
      </p:sp>
      <p:sp>
        <p:nvSpPr>
          <p:cNvPr id="13329" name="Line 14"/>
          <p:cNvSpPr>
            <a:spLocks noChangeShapeType="1"/>
          </p:cNvSpPr>
          <p:nvPr/>
        </p:nvSpPr>
        <p:spPr bwMode="auto">
          <a:xfrm>
            <a:off x="3810000" y="5486400"/>
            <a:ext cx="0" cy="76200"/>
          </a:xfrm>
          <a:prstGeom prst="line">
            <a:avLst/>
          </a:prstGeom>
          <a:noFill/>
          <a:ln w="9525">
            <a:solidFill>
              <a:schemeClr val="tx1"/>
            </a:solidFill>
            <a:round/>
            <a:headEnd/>
            <a:tailEnd/>
          </a:ln>
        </p:spPr>
        <p:txBody>
          <a:bodyPr/>
          <a:lstStyle/>
          <a:p>
            <a:endParaRPr lang="en-US"/>
          </a:p>
        </p:txBody>
      </p:sp>
      <p:sp>
        <p:nvSpPr>
          <p:cNvPr id="13330" name="Line 15"/>
          <p:cNvSpPr>
            <a:spLocks noChangeShapeType="1"/>
          </p:cNvSpPr>
          <p:nvPr/>
        </p:nvSpPr>
        <p:spPr bwMode="auto">
          <a:xfrm>
            <a:off x="5638800" y="5486400"/>
            <a:ext cx="0" cy="76200"/>
          </a:xfrm>
          <a:prstGeom prst="line">
            <a:avLst/>
          </a:prstGeom>
          <a:noFill/>
          <a:ln w="9525">
            <a:solidFill>
              <a:schemeClr val="tx1"/>
            </a:solidFill>
            <a:round/>
            <a:headEnd/>
            <a:tailEnd/>
          </a:ln>
        </p:spPr>
        <p:txBody>
          <a:bodyPr/>
          <a:lstStyle/>
          <a:p>
            <a:endParaRPr lang="en-US"/>
          </a:p>
        </p:txBody>
      </p:sp>
      <p:sp>
        <p:nvSpPr>
          <p:cNvPr id="13331" name="Line 16"/>
          <p:cNvSpPr>
            <a:spLocks noChangeShapeType="1"/>
          </p:cNvSpPr>
          <p:nvPr/>
        </p:nvSpPr>
        <p:spPr bwMode="auto">
          <a:xfrm>
            <a:off x="5181600" y="5486400"/>
            <a:ext cx="0" cy="76200"/>
          </a:xfrm>
          <a:prstGeom prst="line">
            <a:avLst/>
          </a:prstGeom>
          <a:noFill/>
          <a:ln w="9525">
            <a:solidFill>
              <a:schemeClr val="tx1"/>
            </a:solidFill>
            <a:round/>
            <a:headEnd/>
            <a:tailEnd/>
          </a:ln>
        </p:spPr>
        <p:txBody>
          <a:bodyPr/>
          <a:lstStyle/>
          <a:p>
            <a:endParaRPr lang="en-US"/>
          </a:p>
        </p:txBody>
      </p:sp>
      <p:sp>
        <p:nvSpPr>
          <p:cNvPr id="13332" name="Line 17"/>
          <p:cNvSpPr>
            <a:spLocks noChangeShapeType="1"/>
          </p:cNvSpPr>
          <p:nvPr/>
        </p:nvSpPr>
        <p:spPr bwMode="auto">
          <a:xfrm>
            <a:off x="6553200" y="5486400"/>
            <a:ext cx="0" cy="76200"/>
          </a:xfrm>
          <a:prstGeom prst="line">
            <a:avLst/>
          </a:prstGeom>
          <a:noFill/>
          <a:ln w="9525">
            <a:solidFill>
              <a:schemeClr val="tx1"/>
            </a:solidFill>
            <a:round/>
            <a:headEnd/>
            <a:tailEnd/>
          </a:ln>
        </p:spPr>
        <p:txBody>
          <a:bodyPr/>
          <a:lstStyle/>
          <a:p>
            <a:endParaRPr lang="en-US"/>
          </a:p>
        </p:txBody>
      </p:sp>
      <p:sp>
        <p:nvSpPr>
          <p:cNvPr id="13333" name="Line 18"/>
          <p:cNvSpPr>
            <a:spLocks noChangeShapeType="1"/>
          </p:cNvSpPr>
          <p:nvPr/>
        </p:nvSpPr>
        <p:spPr bwMode="auto">
          <a:xfrm>
            <a:off x="6096000" y="5486400"/>
            <a:ext cx="0" cy="76200"/>
          </a:xfrm>
          <a:prstGeom prst="line">
            <a:avLst/>
          </a:prstGeom>
          <a:noFill/>
          <a:ln w="9525">
            <a:solidFill>
              <a:schemeClr val="tx1"/>
            </a:solidFill>
            <a:round/>
            <a:headEnd/>
            <a:tailEnd/>
          </a:ln>
        </p:spPr>
        <p:txBody>
          <a:bodyPr/>
          <a:lstStyle/>
          <a:p>
            <a:endParaRPr lang="en-US"/>
          </a:p>
        </p:txBody>
      </p:sp>
      <p:sp>
        <p:nvSpPr>
          <p:cNvPr id="13334" name="Line 19"/>
          <p:cNvSpPr>
            <a:spLocks noChangeShapeType="1"/>
          </p:cNvSpPr>
          <p:nvPr/>
        </p:nvSpPr>
        <p:spPr bwMode="auto">
          <a:xfrm>
            <a:off x="7467600" y="5486400"/>
            <a:ext cx="0" cy="76200"/>
          </a:xfrm>
          <a:prstGeom prst="line">
            <a:avLst/>
          </a:prstGeom>
          <a:noFill/>
          <a:ln w="9525">
            <a:solidFill>
              <a:schemeClr val="tx1"/>
            </a:solidFill>
            <a:round/>
            <a:headEnd/>
            <a:tailEnd/>
          </a:ln>
        </p:spPr>
        <p:txBody>
          <a:bodyPr/>
          <a:lstStyle/>
          <a:p>
            <a:endParaRPr lang="en-US"/>
          </a:p>
        </p:txBody>
      </p:sp>
      <p:sp>
        <p:nvSpPr>
          <p:cNvPr id="13335" name="Line 20"/>
          <p:cNvSpPr>
            <a:spLocks noChangeShapeType="1"/>
          </p:cNvSpPr>
          <p:nvPr/>
        </p:nvSpPr>
        <p:spPr bwMode="auto">
          <a:xfrm>
            <a:off x="7010400" y="5486400"/>
            <a:ext cx="0" cy="76200"/>
          </a:xfrm>
          <a:prstGeom prst="line">
            <a:avLst/>
          </a:prstGeom>
          <a:noFill/>
          <a:ln w="9525">
            <a:solidFill>
              <a:schemeClr val="tx1"/>
            </a:solidFill>
            <a:round/>
            <a:headEnd/>
            <a:tailEnd/>
          </a:ln>
        </p:spPr>
        <p:txBody>
          <a:bodyPr/>
          <a:lstStyle/>
          <a:p>
            <a:endParaRPr lang="en-US"/>
          </a:p>
        </p:txBody>
      </p:sp>
      <p:sp>
        <p:nvSpPr>
          <p:cNvPr id="13336" name="Line 21"/>
          <p:cNvSpPr>
            <a:spLocks noChangeShapeType="1"/>
          </p:cNvSpPr>
          <p:nvPr/>
        </p:nvSpPr>
        <p:spPr bwMode="auto">
          <a:xfrm>
            <a:off x="8382000" y="5486400"/>
            <a:ext cx="0" cy="76200"/>
          </a:xfrm>
          <a:prstGeom prst="line">
            <a:avLst/>
          </a:prstGeom>
          <a:noFill/>
          <a:ln w="9525">
            <a:solidFill>
              <a:schemeClr val="tx1"/>
            </a:solidFill>
            <a:round/>
            <a:headEnd/>
            <a:tailEnd/>
          </a:ln>
        </p:spPr>
        <p:txBody>
          <a:bodyPr/>
          <a:lstStyle/>
          <a:p>
            <a:endParaRPr lang="en-US"/>
          </a:p>
        </p:txBody>
      </p:sp>
      <p:sp>
        <p:nvSpPr>
          <p:cNvPr id="13337" name="Line 22"/>
          <p:cNvSpPr>
            <a:spLocks noChangeShapeType="1"/>
          </p:cNvSpPr>
          <p:nvPr/>
        </p:nvSpPr>
        <p:spPr bwMode="auto">
          <a:xfrm>
            <a:off x="7924800" y="5486400"/>
            <a:ext cx="0" cy="76200"/>
          </a:xfrm>
          <a:prstGeom prst="line">
            <a:avLst/>
          </a:prstGeom>
          <a:noFill/>
          <a:ln w="9525">
            <a:solidFill>
              <a:schemeClr val="tx1"/>
            </a:solidFill>
            <a:round/>
            <a:headEnd/>
            <a:tailEnd/>
          </a:ln>
        </p:spPr>
        <p:txBody>
          <a:bodyPr/>
          <a:lstStyle/>
          <a:p>
            <a:endParaRPr lang="en-US"/>
          </a:p>
        </p:txBody>
      </p:sp>
      <p:sp>
        <p:nvSpPr>
          <p:cNvPr id="13338" name="Rectangle 23"/>
          <p:cNvSpPr>
            <a:spLocks noChangeArrowheads="1"/>
          </p:cNvSpPr>
          <p:nvPr/>
        </p:nvSpPr>
        <p:spPr bwMode="auto">
          <a:xfrm>
            <a:off x="1524000" y="5181600"/>
            <a:ext cx="533400" cy="381000"/>
          </a:xfrm>
          <a:prstGeom prst="rect">
            <a:avLst/>
          </a:prstGeom>
          <a:solidFill>
            <a:srgbClr val="0000FF"/>
          </a:solidFill>
          <a:ln w="12700">
            <a:solidFill>
              <a:schemeClr val="tx1"/>
            </a:solidFill>
            <a:miter lim="800000"/>
            <a:headEnd/>
            <a:tailEnd/>
          </a:ln>
        </p:spPr>
        <p:txBody>
          <a:bodyPr wrap="none" anchor="ctr"/>
          <a:lstStyle/>
          <a:p>
            <a:endParaRPr lang="en-US"/>
          </a:p>
        </p:txBody>
      </p:sp>
      <p:sp>
        <p:nvSpPr>
          <p:cNvPr id="13339" name="Line 24"/>
          <p:cNvSpPr>
            <a:spLocks noChangeShapeType="1"/>
          </p:cNvSpPr>
          <p:nvPr/>
        </p:nvSpPr>
        <p:spPr bwMode="auto">
          <a:xfrm>
            <a:off x="8343900" y="5562600"/>
            <a:ext cx="228600" cy="0"/>
          </a:xfrm>
          <a:prstGeom prst="line">
            <a:avLst/>
          </a:prstGeom>
          <a:noFill/>
          <a:ln w="9525">
            <a:solidFill>
              <a:schemeClr val="tx1"/>
            </a:solidFill>
            <a:round/>
            <a:headEnd/>
            <a:tailEnd type="triangle" w="med" len="med"/>
          </a:ln>
        </p:spPr>
        <p:txBody>
          <a:bodyPr/>
          <a:lstStyle/>
          <a:p>
            <a:endParaRPr lang="en-US"/>
          </a:p>
        </p:txBody>
      </p:sp>
      <p:sp>
        <p:nvSpPr>
          <p:cNvPr id="13340" name="Line 25"/>
          <p:cNvSpPr>
            <a:spLocks noChangeShapeType="1"/>
          </p:cNvSpPr>
          <p:nvPr/>
        </p:nvSpPr>
        <p:spPr bwMode="auto">
          <a:xfrm>
            <a:off x="3810000" y="4953000"/>
            <a:ext cx="0" cy="609600"/>
          </a:xfrm>
          <a:prstGeom prst="line">
            <a:avLst/>
          </a:prstGeom>
          <a:noFill/>
          <a:ln w="38100">
            <a:solidFill>
              <a:srgbClr val="FF0000"/>
            </a:solidFill>
            <a:round/>
            <a:headEnd type="triangle" w="med" len="lg"/>
            <a:tailEnd type="triangle" w="med" len="lg"/>
          </a:ln>
        </p:spPr>
        <p:txBody>
          <a:bodyPr wrap="none" lIns="92075" tIns="46038" rIns="92075" bIns="46038" anchor="ctr"/>
          <a:lstStyle/>
          <a:p>
            <a:endParaRPr lang="en-US"/>
          </a:p>
        </p:txBody>
      </p:sp>
      <p:sp>
        <p:nvSpPr>
          <p:cNvPr id="13341" name="Line 26"/>
          <p:cNvSpPr>
            <a:spLocks noChangeShapeType="1"/>
          </p:cNvSpPr>
          <p:nvPr/>
        </p:nvSpPr>
        <p:spPr bwMode="auto">
          <a:xfrm>
            <a:off x="8382000" y="4953000"/>
            <a:ext cx="0" cy="609600"/>
          </a:xfrm>
          <a:prstGeom prst="line">
            <a:avLst/>
          </a:prstGeom>
          <a:noFill/>
          <a:ln w="38100">
            <a:solidFill>
              <a:srgbClr val="FF0000"/>
            </a:solidFill>
            <a:round/>
            <a:headEnd type="triangle" w="med" len="lg"/>
            <a:tailEnd type="triangle" w="med" len="lg"/>
          </a:ln>
        </p:spPr>
        <p:txBody>
          <a:bodyPr wrap="none" lIns="92075" tIns="46038" rIns="92075" bIns="46038" anchor="ctr"/>
          <a:lstStyle/>
          <a:p>
            <a:endParaRPr lang="en-US"/>
          </a:p>
        </p:txBody>
      </p:sp>
      <p:sp>
        <p:nvSpPr>
          <p:cNvPr id="13342" name="Line 27"/>
          <p:cNvSpPr>
            <a:spLocks noChangeShapeType="1"/>
          </p:cNvSpPr>
          <p:nvPr/>
        </p:nvSpPr>
        <p:spPr bwMode="auto">
          <a:xfrm>
            <a:off x="6096000" y="4953000"/>
            <a:ext cx="0" cy="609600"/>
          </a:xfrm>
          <a:prstGeom prst="line">
            <a:avLst/>
          </a:prstGeom>
          <a:noFill/>
          <a:ln w="38100">
            <a:solidFill>
              <a:srgbClr val="FF0000"/>
            </a:solidFill>
            <a:round/>
            <a:headEnd type="triangle" w="med" len="lg"/>
            <a:tailEnd type="triangle" w="med" len="lg"/>
          </a:ln>
        </p:spPr>
        <p:txBody>
          <a:bodyPr wrap="none" lIns="92075" tIns="46038" rIns="92075" bIns="46038" anchor="ctr"/>
          <a:lstStyle/>
          <a:p>
            <a:endParaRPr lang="en-US"/>
          </a:p>
        </p:txBody>
      </p:sp>
      <p:sp>
        <p:nvSpPr>
          <p:cNvPr id="13343" name="Line 28"/>
          <p:cNvSpPr>
            <a:spLocks noChangeShapeType="1"/>
          </p:cNvSpPr>
          <p:nvPr/>
        </p:nvSpPr>
        <p:spPr bwMode="auto">
          <a:xfrm>
            <a:off x="1524000" y="4953000"/>
            <a:ext cx="0" cy="609600"/>
          </a:xfrm>
          <a:prstGeom prst="line">
            <a:avLst/>
          </a:prstGeom>
          <a:noFill/>
          <a:ln w="38100">
            <a:solidFill>
              <a:srgbClr val="FF0000"/>
            </a:solidFill>
            <a:round/>
            <a:headEnd type="none" w="med" len="lg"/>
            <a:tailEnd type="triangle" w="med" len="lg"/>
          </a:ln>
        </p:spPr>
        <p:txBody>
          <a:bodyPr wrap="none" lIns="92075" tIns="46038" rIns="92075" bIns="46038" anchor="ctr"/>
          <a:lstStyle/>
          <a:p>
            <a:endParaRPr lang="en-US"/>
          </a:p>
        </p:txBody>
      </p:sp>
      <p:sp>
        <p:nvSpPr>
          <p:cNvPr id="13344" name="Text Box 31"/>
          <p:cNvSpPr txBox="1">
            <a:spLocks noChangeArrowheads="1"/>
          </p:cNvSpPr>
          <p:nvPr/>
        </p:nvSpPr>
        <p:spPr bwMode="auto">
          <a:xfrm>
            <a:off x="3657600" y="5562600"/>
            <a:ext cx="336550" cy="457200"/>
          </a:xfrm>
          <a:prstGeom prst="rect">
            <a:avLst/>
          </a:prstGeom>
          <a:noFill/>
          <a:ln w="9525">
            <a:noFill/>
            <a:miter lim="800000"/>
            <a:headEnd/>
            <a:tailEnd/>
          </a:ln>
        </p:spPr>
        <p:txBody>
          <a:bodyPr wrap="none" lIns="92075" tIns="46038" rIns="92075" bIns="46038">
            <a:spAutoFit/>
          </a:bodyPr>
          <a:lstStyle/>
          <a:p>
            <a:r>
              <a:rPr lang="en-US" altLang="ko-KR" sz="2400">
                <a:ea typeface="굴림" pitchFamily="50" charset="-127"/>
                <a:cs typeface="Arial" charset="0"/>
              </a:rPr>
              <a:t>5</a:t>
            </a:r>
            <a:endParaRPr lang="en-US" sz="2400">
              <a:ea typeface="굴림" pitchFamily="50" charset="-127"/>
              <a:cs typeface="Arial" charset="0"/>
            </a:endParaRPr>
          </a:p>
        </p:txBody>
      </p:sp>
      <p:sp>
        <p:nvSpPr>
          <p:cNvPr id="13345" name="Text Box 33"/>
          <p:cNvSpPr txBox="1">
            <a:spLocks noChangeArrowheads="1"/>
          </p:cNvSpPr>
          <p:nvPr/>
        </p:nvSpPr>
        <p:spPr bwMode="auto">
          <a:xfrm>
            <a:off x="5867400" y="5562600"/>
            <a:ext cx="488950" cy="457200"/>
          </a:xfrm>
          <a:prstGeom prst="rect">
            <a:avLst/>
          </a:prstGeom>
          <a:noFill/>
          <a:ln w="9525">
            <a:noFill/>
            <a:miter lim="800000"/>
            <a:headEnd/>
            <a:tailEnd/>
          </a:ln>
        </p:spPr>
        <p:txBody>
          <a:bodyPr lIns="92075" tIns="46038" rIns="92075" bIns="46038">
            <a:spAutoFit/>
          </a:bodyPr>
          <a:lstStyle/>
          <a:p>
            <a:r>
              <a:rPr lang="en-US" altLang="ko-KR" sz="2400">
                <a:ea typeface="굴림" pitchFamily="50" charset="-127"/>
                <a:cs typeface="Arial" charset="0"/>
              </a:rPr>
              <a:t>10</a:t>
            </a:r>
            <a:endParaRPr lang="en-US" sz="2400">
              <a:ea typeface="굴림" pitchFamily="50" charset="-127"/>
              <a:cs typeface="Arial" charset="0"/>
            </a:endParaRPr>
          </a:p>
        </p:txBody>
      </p:sp>
      <p:sp>
        <p:nvSpPr>
          <p:cNvPr id="13346" name="Text Box 34"/>
          <p:cNvSpPr txBox="1">
            <a:spLocks noChangeArrowheads="1"/>
          </p:cNvSpPr>
          <p:nvPr/>
        </p:nvSpPr>
        <p:spPr bwMode="auto">
          <a:xfrm>
            <a:off x="8153400" y="5562600"/>
            <a:ext cx="488950" cy="457200"/>
          </a:xfrm>
          <a:prstGeom prst="rect">
            <a:avLst/>
          </a:prstGeom>
          <a:noFill/>
          <a:ln w="9525">
            <a:noFill/>
            <a:miter lim="800000"/>
            <a:headEnd/>
            <a:tailEnd/>
          </a:ln>
        </p:spPr>
        <p:txBody>
          <a:bodyPr wrap="none" lIns="92075" tIns="46038" rIns="92075" bIns="46038">
            <a:spAutoFit/>
          </a:bodyPr>
          <a:lstStyle/>
          <a:p>
            <a:r>
              <a:rPr lang="en-US" altLang="ko-KR" sz="2400">
                <a:ea typeface="굴림" pitchFamily="50" charset="-127"/>
                <a:cs typeface="Arial" charset="0"/>
              </a:rPr>
              <a:t>15</a:t>
            </a:r>
            <a:endParaRPr lang="en-US" sz="2400">
              <a:ea typeface="굴림" pitchFamily="50" charset="-127"/>
              <a:cs typeface="Arial" charset="0"/>
            </a:endParaRPr>
          </a:p>
        </p:txBody>
      </p:sp>
      <p:sp>
        <p:nvSpPr>
          <p:cNvPr id="13347" name="Text Box 36"/>
          <p:cNvSpPr txBox="1">
            <a:spLocks noChangeArrowheads="1"/>
          </p:cNvSpPr>
          <p:nvPr/>
        </p:nvSpPr>
        <p:spPr bwMode="auto">
          <a:xfrm>
            <a:off x="1371600" y="5562600"/>
            <a:ext cx="336550" cy="457200"/>
          </a:xfrm>
          <a:prstGeom prst="rect">
            <a:avLst/>
          </a:prstGeom>
          <a:noFill/>
          <a:ln w="9525">
            <a:noFill/>
            <a:miter lim="800000"/>
            <a:headEnd/>
            <a:tailEnd/>
          </a:ln>
        </p:spPr>
        <p:txBody>
          <a:bodyPr wrap="none" lIns="92075" tIns="46038" rIns="92075" bIns="46038">
            <a:spAutoFit/>
          </a:bodyPr>
          <a:lstStyle/>
          <a:p>
            <a:r>
              <a:rPr lang="en-US" altLang="ko-KR" sz="2400">
                <a:ea typeface="굴림" pitchFamily="50" charset="-127"/>
                <a:cs typeface="Arial" charset="0"/>
              </a:rPr>
              <a:t>0</a:t>
            </a:r>
            <a:endParaRPr lang="en-US" sz="2400">
              <a:ea typeface="굴림" pitchFamily="50" charset="-127"/>
              <a:cs typeface="Arial"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5897" y="838200"/>
            <a:ext cx="7406640" cy="1472184"/>
          </a:xfrm>
        </p:spPr>
        <p:txBody>
          <a:bodyPr/>
          <a:lstStyle/>
          <a:p>
            <a:r>
              <a:rPr lang="en-US" sz="4400" b="1" dirty="0"/>
              <a:t>4.4. Scheduling Policies</a:t>
            </a:r>
            <a:br>
              <a:rPr lang="en-US" sz="4400" b="1" dirty="0"/>
            </a:br>
            <a:endParaRPr lang="en-US" dirty="0"/>
          </a:p>
        </p:txBody>
      </p:sp>
      <p:sp>
        <p:nvSpPr>
          <p:cNvPr id="3" name="Subtitle 2"/>
          <p:cNvSpPr>
            <a:spLocks noGrp="1"/>
          </p:cNvSpPr>
          <p:nvPr>
            <p:ph type="subTitle" idx="1"/>
          </p:nvPr>
        </p:nvSpPr>
        <p:spPr>
          <a:xfrm>
            <a:off x="1465897" y="2514600"/>
            <a:ext cx="7406640" cy="1752600"/>
          </a:xfrm>
        </p:spPr>
        <p:txBody>
          <a:bodyPr/>
          <a:lstStyle/>
          <a:p>
            <a:pPr marL="484632" indent="-457200">
              <a:buFont typeface="Arial" panose="020B0604020202020204" pitchFamily="34" charset="0"/>
              <a:buChar char="•"/>
            </a:pPr>
            <a:r>
              <a:rPr lang="en-US" sz="2800" dirty="0"/>
              <a:t>Scheduling Parameters</a:t>
            </a:r>
          </a:p>
          <a:p>
            <a:pPr marL="484632" indent="-457200">
              <a:buFont typeface="Arial" panose="020B0604020202020204" pitchFamily="34" charset="0"/>
              <a:buChar char="•"/>
            </a:pPr>
            <a:r>
              <a:rPr lang="en-US" sz="2800" dirty="0"/>
              <a:t>Scheduling Algorithms in RTOS</a:t>
            </a:r>
          </a:p>
          <a:p>
            <a:endParaRPr lang="en-US" dirty="0"/>
          </a:p>
        </p:txBody>
      </p:sp>
    </p:spTree>
    <p:extLst>
      <p:ext uri="{BB962C8B-B14F-4D97-AF65-F5344CB8AC3E}">
        <p14:creationId xmlns:p14="http://schemas.microsoft.com/office/powerpoint/2010/main" val="6777084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498080" cy="1143000"/>
          </a:xfrm>
        </p:spPr>
        <p:txBody>
          <a:bodyPr>
            <a:normAutofit/>
          </a:bodyPr>
          <a:lstStyle/>
          <a:p>
            <a:r>
              <a:rPr lang="en-US" sz="4400" dirty="0"/>
              <a:t>4.4 Scheduling Policies</a:t>
            </a:r>
            <a:endParaRPr lang="en-US" dirty="0"/>
          </a:p>
        </p:txBody>
      </p:sp>
      <p:sp>
        <p:nvSpPr>
          <p:cNvPr id="3" name="Content Placeholder 2"/>
          <p:cNvSpPr>
            <a:spLocks noGrp="1"/>
          </p:cNvSpPr>
          <p:nvPr>
            <p:ph idx="1"/>
          </p:nvPr>
        </p:nvSpPr>
        <p:spPr>
          <a:xfrm>
            <a:off x="1435608" y="1295400"/>
            <a:ext cx="7498080" cy="5257800"/>
          </a:xfrm>
        </p:spPr>
        <p:txBody>
          <a:bodyPr>
            <a:normAutofit lnSpcReduction="10000"/>
          </a:bodyPr>
          <a:lstStyle/>
          <a:p>
            <a:r>
              <a:rPr lang="en-US" dirty="0"/>
              <a:t>Features of RTOS’s</a:t>
            </a:r>
          </a:p>
          <a:p>
            <a:pPr lvl="1">
              <a:buFont typeface="Wingdings" pitchFamily="2" charset="2"/>
              <a:buChar char="v"/>
            </a:pPr>
            <a:r>
              <a:rPr lang="en-US" dirty="0"/>
              <a:t>Scheduling.</a:t>
            </a:r>
          </a:p>
          <a:p>
            <a:pPr lvl="1">
              <a:buFont typeface="Wingdings" pitchFamily="2" charset="2"/>
              <a:buChar char="v"/>
            </a:pPr>
            <a:r>
              <a:rPr lang="en-US" dirty="0"/>
              <a:t>Resource Allocation.</a:t>
            </a:r>
          </a:p>
          <a:p>
            <a:pPr lvl="1">
              <a:buFont typeface="Wingdings" pitchFamily="2" charset="2"/>
              <a:buChar char="v"/>
            </a:pPr>
            <a:r>
              <a:rPr lang="en-US" dirty="0"/>
              <a:t>Interrupt Handling.</a:t>
            </a:r>
          </a:p>
          <a:p>
            <a:pPr lvl="1">
              <a:buFont typeface="Wingdings" pitchFamily="2" charset="2"/>
              <a:buChar char="v"/>
            </a:pPr>
            <a:r>
              <a:rPr lang="en-US" dirty="0"/>
              <a:t>Other issues like kernel size.</a:t>
            </a:r>
          </a:p>
          <a:p>
            <a:r>
              <a:rPr lang="en-US" sz="2800" dirty="0"/>
              <a:t>More information about the tasks are known</a:t>
            </a:r>
          </a:p>
          <a:p>
            <a:pPr lvl="1">
              <a:buFont typeface="Wingdings" pitchFamily="2" charset="2"/>
              <a:buChar char="v"/>
            </a:pPr>
            <a:r>
              <a:rPr lang="en-US" sz="2400" dirty="0"/>
              <a:t>Number of tasks</a:t>
            </a:r>
          </a:p>
          <a:p>
            <a:pPr lvl="1">
              <a:buFont typeface="Wingdings" pitchFamily="2" charset="2"/>
              <a:buChar char="v"/>
            </a:pPr>
            <a:r>
              <a:rPr lang="en-US" sz="2400" dirty="0"/>
              <a:t>Resource Requirements</a:t>
            </a:r>
          </a:p>
          <a:p>
            <a:pPr lvl="1">
              <a:buFont typeface="Wingdings" pitchFamily="2" charset="2"/>
              <a:buChar char="v"/>
            </a:pPr>
            <a:r>
              <a:rPr lang="en-US" sz="2400" dirty="0"/>
              <a:t>Release Time</a:t>
            </a:r>
          </a:p>
          <a:p>
            <a:pPr lvl="1">
              <a:buFont typeface="Wingdings" pitchFamily="2" charset="2"/>
              <a:buChar char="v"/>
            </a:pPr>
            <a:r>
              <a:rPr lang="en-US" sz="2400" dirty="0"/>
              <a:t>Execution time</a:t>
            </a:r>
          </a:p>
          <a:p>
            <a:pPr lvl="1">
              <a:buFont typeface="Wingdings" pitchFamily="2" charset="2"/>
              <a:buChar char="v"/>
            </a:pPr>
            <a:r>
              <a:rPr lang="en-US" sz="2400" dirty="0"/>
              <a:t>Deadlines                   </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990600" y="0"/>
            <a:ext cx="7498080" cy="1143000"/>
          </a:xfrm>
        </p:spPr>
        <p:txBody>
          <a:bodyPr/>
          <a:lstStyle/>
          <a:p>
            <a:pPr eaLnBrk="1" hangingPunct="1"/>
            <a:r>
              <a:rPr lang="en-US" dirty="0"/>
              <a:t>4.4.1 Scheduling Parameters</a:t>
            </a:r>
          </a:p>
        </p:txBody>
      </p:sp>
      <p:sp>
        <p:nvSpPr>
          <p:cNvPr id="11267" name="Rectangle 3"/>
          <p:cNvSpPr>
            <a:spLocks noGrp="1" noChangeArrowheads="1"/>
          </p:cNvSpPr>
          <p:nvPr>
            <p:ph type="body" idx="1"/>
          </p:nvPr>
        </p:nvSpPr>
        <p:spPr>
          <a:xfrm>
            <a:off x="990600" y="1066800"/>
            <a:ext cx="8153400" cy="5791200"/>
          </a:xfrm>
        </p:spPr>
        <p:txBody>
          <a:bodyPr/>
          <a:lstStyle/>
          <a:p>
            <a:pPr eaLnBrk="1" hangingPunct="1"/>
            <a:r>
              <a:rPr lang="en-US" sz="2400" b="1" dirty="0"/>
              <a:t>Assume N CPUs available for execution of a single task set</a:t>
            </a:r>
            <a:endParaRPr lang="en-US" sz="2400" dirty="0"/>
          </a:p>
          <a:p>
            <a:pPr eaLnBrk="1" hangingPunct="1"/>
            <a:r>
              <a:rPr lang="en-US" sz="2400" b="1" dirty="0"/>
              <a:t>Set of tasks {Ti}</a:t>
            </a:r>
          </a:p>
          <a:p>
            <a:pPr lvl="1" eaLnBrk="1" hangingPunct="1"/>
            <a:r>
              <a:rPr lang="en-US" sz="2400" dirty="0"/>
              <a:t>Periods pi</a:t>
            </a:r>
          </a:p>
          <a:p>
            <a:pPr lvl="1" eaLnBrk="1" hangingPunct="1"/>
            <a:r>
              <a:rPr lang="en-US" sz="2400" dirty="0"/>
              <a:t>Deadline </a:t>
            </a:r>
            <a:r>
              <a:rPr lang="en-US" sz="2400" dirty="0" err="1"/>
              <a:t>di</a:t>
            </a:r>
            <a:r>
              <a:rPr lang="en-US" sz="2400" dirty="0"/>
              <a:t> (completion deadline after task is queued)</a:t>
            </a:r>
          </a:p>
          <a:p>
            <a:pPr lvl="1" eaLnBrk="1" hangingPunct="1"/>
            <a:r>
              <a:rPr lang="en-US" sz="2400" dirty="0"/>
              <a:t>Execution time </a:t>
            </a:r>
            <a:r>
              <a:rPr lang="en-US" sz="2400" dirty="0" err="1"/>
              <a:t>ci</a:t>
            </a:r>
            <a:r>
              <a:rPr lang="en-US" sz="2400" dirty="0"/>
              <a:t> (amount of CPU time to complete)</a:t>
            </a:r>
          </a:p>
          <a:p>
            <a:pPr eaLnBrk="1" hangingPunct="1"/>
            <a:r>
              <a:rPr lang="en-US" sz="2400" b="1" dirty="0"/>
              <a:t>Handy values:</a:t>
            </a:r>
          </a:p>
          <a:p>
            <a:pPr lvl="1" eaLnBrk="1" hangingPunct="1"/>
            <a:r>
              <a:rPr lang="en-US" sz="2400" dirty="0"/>
              <a:t>Laxity </a:t>
            </a:r>
            <a:r>
              <a:rPr lang="en-US" sz="2400" dirty="0" err="1"/>
              <a:t>li</a:t>
            </a:r>
            <a:r>
              <a:rPr lang="en-US" sz="2400" dirty="0"/>
              <a:t> = </a:t>
            </a:r>
            <a:r>
              <a:rPr lang="en-US" sz="2400" dirty="0" err="1"/>
              <a:t>di</a:t>
            </a:r>
            <a:r>
              <a:rPr lang="en-US" sz="2400" dirty="0"/>
              <a:t> – </a:t>
            </a:r>
            <a:r>
              <a:rPr lang="en-US" sz="2400" dirty="0" err="1"/>
              <a:t>ci</a:t>
            </a:r>
            <a:r>
              <a:rPr lang="en-US" sz="2400" dirty="0"/>
              <a:t> </a:t>
            </a:r>
          </a:p>
          <a:p>
            <a:pPr lvl="1" eaLnBrk="1" hangingPunct="1">
              <a:buNone/>
            </a:pPr>
            <a:r>
              <a:rPr lang="en-US" sz="2000" dirty="0"/>
              <a:t>                          (amount of slack time before Ti </a:t>
            </a:r>
            <a:r>
              <a:rPr lang="en-US" sz="2000" i="1" dirty="0"/>
              <a:t>must </a:t>
            </a:r>
            <a:r>
              <a:rPr lang="en-US" sz="2000" dirty="0"/>
              <a:t>begin execution)</a:t>
            </a:r>
          </a:p>
          <a:p>
            <a:pPr lvl="1" eaLnBrk="1" hangingPunct="1"/>
            <a:r>
              <a:rPr lang="en-US" sz="2400" dirty="0"/>
              <a:t>Utilization factor </a:t>
            </a:r>
            <a:r>
              <a:rPr lang="en-US" sz="2400" dirty="0" err="1"/>
              <a:t>ui</a:t>
            </a:r>
            <a:r>
              <a:rPr lang="en-US" sz="2400" dirty="0"/>
              <a:t> = </a:t>
            </a:r>
            <a:r>
              <a:rPr lang="en-US" sz="2400" dirty="0" err="1"/>
              <a:t>ci</a:t>
            </a:r>
            <a:r>
              <a:rPr lang="en-US" sz="2400" dirty="0"/>
              <a:t>/pi</a:t>
            </a:r>
          </a:p>
          <a:p>
            <a:pPr lvl="1" eaLnBrk="1" hangingPunct="1">
              <a:buNone/>
            </a:pPr>
            <a:r>
              <a:rPr lang="en-US" sz="2000" dirty="0"/>
              <a:t>					(portion of CPU used)</a:t>
            </a:r>
          </a:p>
          <a:p>
            <a:pPr eaLnBrk="1" hangingPunct="1"/>
            <a:endParaRPr lang="en-US" sz="2400" dirty="0"/>
          </a:p>
          <a:p>
            <a:pPr eaLnBrk="1" hangingPunct="1"/>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7714488" cy="1143000"/>
          </a:xfrm>
        </p:spPr>
        <p:txBody>
          <a:bodyPr>
            <a:normAutofit fontScale="90000"/>
          </a:bodyPr>
          <a:lstStyle/>
          <a:p>
            <a:r>
              <a:rPr lang="en-US" sz="4400" dirty="0"/>
              <a:t>4.4.2 Scheduling Algorithms in RTOS</a:t>
            </a:r>
            <a:endParaRPr lang="en-US" dirty="0"/>
          </a:p>
        </p:txBody>
      </p:sp>
      <p:sp>
        <p:nvSpPr>
          <p:cNvPr id="3" name="Content Placeholder 2"/>
          <p:cNvSpPr>
            <a:spLocks noGrp="1"/>
          </p:cNvSpPr>
          <p:nvPr>
            <p:ph idx="1"/>
          </p:nvPr>
        </p:nvSpPr>
        <p:spPr/>
        <p:txBody>
          <a:bodyPr>
            <a:normAutofit/>
          </a:bodyPr>
          <a:lstStyle/>
          <a:p>
            <a:pPr marL="596646" indent="-514350">
              <a:buAutoNum type="arabicPeriod"/>
            </a:pPr>
            <a:r>
              <a:rPr lang="en-US" dirty="0"/>
              <a:t>Clock Driven Scheduling</a:t>
            </a:r>
          </a:p>
          <a:p>
            <a:pPr marL="596646" indent="-514350">
              <a:buAutoNum type="arabicPeriod"/>
            </a:pPr>
            <a:r>
              <a:rPr lang="en-US" dirty="0"/>
              <a:t>Weighted Round Robin Scheduling</a:t>
            </a:r>
          </a:p>
          <a:p>
            <a:pPr marL="596646" indent="-514350">
              <a:buAutoNum type="arabicPeriod"/>
            </a:pPr>
            <a:r>
              <a:rPr lang="en-US" dirty="0"/>
              <a:t>Priority Scheduling</a:t>
            </a:r>
          </a:p>
          <a:p>
            <a:pPr>
              <a:buFont typeface="Wingdings" pitchFamily="2" charset="2"/>
              <a:buNone/>
            </a:pPr>
            <a:r>
              <a:rPr lang="en-US" dirty="0"/>
              <a:t>   </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714488" cy="1143000"/>
          </a:xfrm>
        </p:spPr>
        <p:txBody>
          <a:bodyPr>
            <a:normAutofit fontScale="90000"/>
          </a:bodyPr>
          <a:lstStyle/>
          <a:p>
            <a:r>
              <a:rPr lang="en-US" sz="4400" dirty="0"/>
              <a:t>1. Clock Driven</a:t>
            </a:r>
            <a:br>
              <a:rPr lang="en-US" sz="4000" b="1" u="sng" dirty="0"/>
            </a:br>
            <a:endParaRPr lang="en-US" dirty="0"/>
          </a:p>
        </p:txBody>
      </p:sp>
      <p:sp>
        <p:nvSpPr>
          <p:cNvPr id="3" name="Content Placeholder 2"/>
          <p:cNvSpPr>
            <a:spLocks noGrp="1"/>
          </p:cNvSpPr>
          <p:nvPr>
            <p:ph idx="1"/>
          </p:nvPr>
        </p:nvSpPr>
        <p:spPr>
          <a:xfrm>
            <a:off x="990600" y="1143000"/>
            <a:ext cx="7943088" cy="5410200"/>
          </a:xfrm>
        </p:spPr>
        <p:txBody>
          <a:bodyPr>
            <a:normAutofit lnSpcReduction="10000"/>
          </a:bodyPr>
          <a:lstStyle/>
          <a:p>
            <a:r>
              <a:rPr lang="en-US" dirty="0"/>
              <a:t>All parameters about jobs known in advance.</a:t>
            </a:r>
          </a:p>
          <a:p>
            <a:pPr lvl="1"/>
            <a:r>
              <a:rPr lang="en-US" dirty="0"/>
              <a:t>release time</a:t>
            </a:r>
          </a:p>
          <a:p>
            <a:pPr lvl="1"/>
            <a:r>
              <a:rPr lang="en-US" dirty="0"/>
              <a:t>execution time</a:t>
            </a:r>
          </a:p>
          <a:p>
            <a:pPr lvl="1"/>
            <a:r>
              <a:rPr lang="en-US" dirty="0"/>
              <a:t>deadline</a:t>
            </a:r>
          </a:p>
          <a:p>
            <a:r>
              <a:rPr lang="en-US" dirty="0"/>
              <a:t>Schedule can be computed offline or at some regular time instances.</a:t>
            </a:r>
          </a:p>
          <a:p>
            <a:r>
              <a:rPr lang="en-US" dirty="0"/>
              <a:t>Advantage</a:t>
            </a:r>
          </a:p>
          <a:p>
            <a:pPr lvl="1"/>
            <a:r>
              <a:rPr lang="en-US" dirty="0"/>
              <a:t> Minimal runtime overhead.</a:t>
            </a:r>
          </a:p>
          <a:p>
            <a:r>
              <a:rPr lang="en-US" dirty="0"/>
              <a:t>Disadvantage</a:t>
            </a:r>
          </a:p>
          <a:p>
            <a:pPr lvl="1"/>
            <a:r>
              <a:rPr lang="en-US" dirty="0"/>
              <a:t> Not suitable for many applications.</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498080" cy="1143000"/>
          </a:xfrm>
        </p:spPr>
        <p:txBody>
          <a:bodyPr>
            <a:normAutofit/>
          </a:bodyPr>
          <a:lstStyle/>
          <a:p>
            <a:r>
              <a:rPr lang="en-US" sz="4400" dirty="0"/>
              <a:t>2. Weighted Round Robin</a:t>
            </a:r>
            <a:endParaRPr lang="en-US" dirty="0"/>
          </a:p>
        </p:txBody>
      </p:sp>
      <p:sp>
        <p:nvSpPr>
          <p:cNvPr id="3" name="Content Placeholder 2"/>
          <p:cNvSpPr>
            <a:spLocks noGrp="1"/>
          </p:cNvSpPr>
          <p:nvPr>
            <p:ph idx="1"/>
          </p:nvPr>
        </p:nvSpPr>
        <p:spPr>
          <a:xfrm>
            <a:off x="990600" y="1066800"/>
            <a:ext cx="8153400" cy="5791200"/>
          </a:xfrm>
        </p:spPr>
        <p:txBody>
          <a:bodyPr/>
          <a:lstStyle/>
          <a:p>
            <a:r>
              <a:rPr lang="en-US" dirty="0"/>
              <a:t>Jobs scheduled in FIFO manner</a:t>
            </a:r>
          </a:p>
          <a:p>
            <a:r>
              <a:rPr lang="en-US" dirty="0">
                <a:solidFill>
                  <a:srgbClr val="FF0000"/>
                </a:solidFill>
              </a:rPr>
              <a:t>Time quantum</a:t>
            </a:r>
            <a:r>
              <a:rPr lang="en-US" dirty="0"/>
              <a:t> given to jobs is proportional to its weight.</a:t>
            </a:r>
          </a:p>
          <a:p>
            <a:r>
              <a:rPr lang="en-US" dirty="0"/>
              <a:t>Example use: </a:t>
            </a:r>
          </a:p>
          <a:p>
            <a:pPr lvl="1"/>
            <a:r>
              <a:rPr lang="en-US" dirty="0"/>
              <a:t>High speed switching network</a:t>
            </a:r>
          </a:p>
          <a:p>
            <a:pPr lvl="1"/>
            <a:r>
              <a:rPr lang="en-US" dirty="0"/>
              <a:t>QOS guarantee.</a:t>
            </a:r>
          </a:p>
          <a:p>
            <a:pPr lvl="1">
              <a:buNone/>
            </a:pPr>
            <a:endParaRPr lang="en-US" dirty="0"/>
          </a:p>
          <a:p>
            <a:r>
              <a:rPr lang="en-US" dirty="0"/>
              <a:t>Disadvantage: </a:t>
            </a:r>
          </a:p>
          <a:p>
            <a:pPr lvl="1"/>
            <a:r>
              <a:rPr lang="en-US" dirty="0"/>
              <a:t>Not suitable for </a:t>
            </a:r>
            <a:r>
              <a:rPr lang="en-US" dirty="0">
                <a:solidFill>
                  <a:srgbClr val="FF0000"/>
                </a:solidFill>
              </a:rPr>
              <a:t>precedence</a:t>
            </a:r>
            <a:r>
              <a:rPr lang="en-US" dirty="0"/>
              <a:t> constrained jobs.</a:t>
            </a:r>
          </a:p>
          <a:p>
            <a:pPr lvl="1"/>
            <a:r>
              <a:rPr lang="en-US" dirty="0"/>
              <a:t>Job A can run only after Job B. No point in giving time quantum to Job B before Job A.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7498080" cy="1143000"/>
          </a:xfrm>
        </p:spPr>
        <p:txBody>
          <a:bodyPr>
            <a:normAutofit/>
          </a:bodyPr>
          <a:lstStyle/>
          <a:p>
            <a:r>
              <a:rPr lang="en-US" dirty="0"/>
              <a:t>3. Priority Scheduling </a:t>
            </a:r>
          </a:p>
        </p:txBody>
      </p:sp>
      <p:sp>
        <p:nvSpPr>
          <p:cNvPr id="3" name="Content Placeholder 2"/>
          <p:cNvSpPr>
            <a:spLocks noGrp="1"/>
          </p:cNvSpPr>
          <p:nvPr>
            <p:ph idx="1"/>
          </p:nvPr>
        </p:nvSpPr>
        <p:spPr>
          <a:xfrm>
            <a:off x="990600" y="1066800"/>
            <a:ext cx="8153400" cy="5791200"/>
          </a:xfrm>
        </p:spPr>
        <p:txBody>
          <a:bodyPr>
            <a:normAutofit/>
          </a:bodyPr>
          <a:lstStyle/>
          <a:p>
            <a:pPr marL="596646" indent="-514350">
              <a:lnSpc>
                <a:spcPct val="90000"/>
              </a:lnSpc>
              <a:buFont typeface="Wingdings" pitchFamily="2" charset="2"/>
              <a:buChar char="v"/>
            </a:pPr>
            <a:r>
              <a:rPr lang="en-US" dirty="0"/>
              <a:t>(Greedy/List/Event Driven)</a:t>
            </a:r>
          </a:p>
          <a:p>
            <a:pPr lvl="1">
              <a:lnSpc>
                <a:spcPct val="90000"/>
              </a:lnSpc>
            </a:pPr>
            <a:r>
              <a:rPr lang="en-US" dirty="0"/>
              <a:t>Processor never left idle when there are ready tasks</a:t>
            </a:r>
          </a:p>
          <a:p>
            <a:pPr lvl="1">
              <a:lnSpc>
                <a:spcPct val="90000"/>
              </a:lnSpc>
            </a:pPr>
            <a:r>
              <a:rPr lang="en-US" dirty="0"/>
              <a:t>Processor allocated to processes according to priorities</a:t>
            </a:r>
          </a:p>
          <a:p>
            <a:pPr lvl="1">
              <a:lnSpc>
                <a:spcPct val="90000"/>
              </a:lnSpc>
            </a:pPr>
            <a:r>
              <a:rPr lang="en-US" dirty="0"/>
              <a:t>Priorities  can be:</a:t>
            </a:r>
          </a:p>
          <a:p>
            <a:pPr lvl="1">
              <a:buFont typeface="Wingdings" pitchFamily="2" charset="2"/>
              <a:buChar char="v"/>
            </a:pPr>
            <a:r>
              <a:rPr lang="en-US" altLang="ko-KR" dirty="0">
                <a:solidFill>
                  <a:srgbClr val="FF0000"/>
                </a:solidFill>
                <a:ea typeface="굴림" pitchFamily="50" charset="-127"/>
              </a:rPr>
              <a:t>Static-priority algorithm </a:t>
            </a:r>
            <a:r>
              <a:rPr lang="en-US" altLang="ko-KR" dirty="0">
                <a:ea typeface="굴림" pitchFamily="50" charset="-127"/>
              </a:rPr>
              <a:t>(Rate Monotonic)</a:t>
            </a:r>
          </a:p>
          <a:p>
            <a:pPr lvl="2">
              <a:buFont typeface="Wingdings" pitchFamily="2" charset="2"/>
              <a:buChar char="ü"/>
            </a:pPr>
            <a:r>
              <a:rPr lang="en-US" dirty="0"/>
              <a:t> - </a:t>
            </a:r>
            <a:r>
              <a:rPr lang="en-US" dirty="0">
                <a:solidFill>
                  <a:srgbClr val="000000"/>
                </a:solidFill>
              </a:rPr>
              <a:t>done at compile time for all </a:t>
            </a:r>
            <a:r>
              <a:rPr lang="en-US" i="1" dirty="0">
                <a:solidFill>
                  <a:srgbClr val="000000"/>
                </a:solidFill>
              </a:rPr>
              <a:t>possible </a:t>
            </a:r>
            <a:r>
              <a:rPr lang="en-US" dirty="0">
                <a:solidFill>
                  <a:srgbClr val="000000"/>
                </a:solidFill>
              </a:rPr>
              <a:t>tasks</a:t>
            </a:r>
            <a:endParaRPr lang="en-US" altLang="ko-KR" dirty="0">
              <a:ea typeface="굴림" pitchFamily="50" charset="-127"/>
            </a:endParaRPr>
          </a:p>
          <a:p>
            <a:pPr lvl="1">
              <a:buFont typeface="Wingdings" pitchFamily="2" charset="2"/>
              <a:buChar char="v"/>
            </a:pPr>
            <a:r>
              <a:rPr lang="en-US" altLang="ko-KR" dirty="0">
                <a:solidFill>
                  <a:srgbClr val="FF0000"/>
                </a:solidFill>
                <a:ea typeface="굴림" pitchFamily="50" charset="-127"/>
              </a:rPr>
              <a:t>Dynamic-priority algorithm</a:t>
            </a:r>
            <a:r>
              <a:rPr lang="en-US" altLang="ko-KR" dirty="0">
                <a:ea typeface="굴림" pitchFamily="50" charset="-127"/>
              </a:rPr>
              <a:t> (Earliest Deadline First)</a:t>
            </a:r>
          </a:p>
          <a:p>
            <a:pPr lvl="3">
              <a:buFont typeface="Wingdings" pitchFamily="2" charset="2"/>
              <a:buChar char="ü"/>
            </a:pPr>
            <a:r>
              <a:rPr lang="en-US" sz="2800" dirty="0">
                <a:solidFill>
                  <a:srgbClr val="000000"/>
                </a:solidFill>
              </a:rPr>
              <a:t>computed at run-time based on tasks really executing</a:t>
            </a:r>
            <a:endParaRPr lang="en-US" sz="2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23034" y="713803"/>
            <a:ext cx="7406640" cy="1472184"/>
          </a:xfrm>
        </p:spPr>
        <p:txBody>
          <a:bodyPr>
            <a:noAutofit/>
          </a:bodyPr>
          <a:lstStyle/>
          <a:p>
            <a:r>
              <a:rPr lang="en-US" sz="2800" b="1" dirty="0"/>
              <a:t>4.5. Message passing and shared memory   communications (</a:t>
            </a:r>
            <a:r>
              <a:rPr lang="en-US" altLang="zh-CN" sz="2800" b="1" dirty="0"/>
              <a:t>RTOS Events)</a:t>
            </a:r>
            <a:br>
              <a:rPr lang="en-US" altLang="zh-CN" sz="2800" b="1" dirty="0"/>
            </a:br>
            <a:endParaRPr lang="en-US" sz="2800" dirty="0"/>
          </a:p>
        </p:txBody>
      </p:sp>
      <p:sp>
        <p:nvSpPr>
          <p:cNvPr id="3" name="Subtitle 2"/>
          <p:cNvSpPr>
            <a:spLocks noGrp="1"/>
          </p:cNvSpPr>
          <p:nvPr>
            <p:ph type="subTitle" idx="1"/>
          </p:nvPr>
        </p:nvSpPr>
        <p:spPr>
          <a:xfrm>
            <a:off x="1408747" y="2209800"/>
            <a:ext cx="7406640" cy="3560136"/>
          </a:xfrm>
        </p:spPr>
        <p:txBody>
          <a:bodyPr>
            <a:normAutofit/>
          </a:bodyPr>
          <a:lstStyle/>
          <a:p>
            <a:pPr marL="484632" indent="-457200">
              <a:buFont typeface="Arial" panose="020B0604020202020204" pitchFamily="34" charset="0"/>
              <a:buChar char="•"/>
            </a:pPr>
            <a:r>
              <a:rPr lang="en-US" altLang="zh-CN" sz="2800" dirty="0"/>
              <a:t>Signal Event based communication</a:t>
            </a:r>
          </a:p>
          <a:p>
            <a:pPr marL="484632" indent="-457200">
              <a:buFont typeface="Arial" panose="020B0604020202020204" pitchFamily="34" charset="0"/>
              <a:buChar char="•"/>
            </a:pPr>
            <a:r>
              <a:rPr lang="en-US" altLang="zh-CN" sz="2800" dirty="0"/>
              <a:t>Message Event based communication</a:t>
            </a:r>
          </a:p>
          <a:p>
            <a:pPr marL="484632" indent="-457200">
              <a:buFont typeface="Arial" panose="020B0604020202020204" pitchFamily="34" charset="0"/>
              <a:buChar char="•"/>
            </a:pPr>
            <a:r>
              <a:rPr lang="en-US" altLang="zh-CN" sz="2800" dirty="0"/>
              <a:t>Semaphores</a:t>
            </a:r>
          </a:p>
          <a:p>
            <a:pPr marL="484632" indent="-457200">
              <a:buFont typeface="Arial" panose="020B0604020202020204" pitchFamily="34" charset="0"/>
              <a:buChar char="•"/>
            </a:pPr>
            <a:r>
              <a:rPr lang="en-US" altLang="zh-CN" sz="2800" dirty="0"/>
              <a:t>Task Interrupts</a:t>
            </a:r>
          </a:p>
          <a:p>
            <a:endParaRPr lang="en-US" dirty="0"/>
          </a:p>
        </p:txBody>
      </p:sp>
    </p:spTree>
    <p:extLst>
      <p:ext uri="{BB962C8B-B14F-4D97-AF65-F5344CB8AC3E}">
        <p14:creationId xmlns:p14="http://schemas.microsoft.com/office/powerpoint/2010/main" val="30174687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990600" y="274638"/>
            <a:ext cx="7943088" cy="1143000"/>
          </a:xfrm>
        </p:spPr>
        <p:txBody>
          <a:bodyPr>
            <a:normAutofit fontScale="90000"/>
          </a:bodyPr>
          <a:lstStyle/>
          <a:p>
            <a:pPr eaLnBrk="1" hangingPunct="1">
              <a:defRPr/>
            </a:pPr>
            <a:r>
              <a:rPr lang="en-US" altLang="zh-CN" sz="3600" dirty="0"/>
              <a:t>4.5 </a:t>
            </a:r>
            <a:r>
              <a:rPr lang="en-US" sz="3600" dirty="0"/>
              <a:t>Message passing and shared memory   communications (</a:t>
            </a:r>
            <a:r>
              <a:rPr lang="en-US" altLang="zh-CN" sz="3600" dirty="0"/>
              <a:t>RTOS Events)</a:t>
            </a:r>
          </a:p>
        </p:txBody>
      </p:sp>
      <p:sp>
        <p:nvSpPr>
          <p:cNvPr id="30723" name="Content Placeholder 2"/>
          <p:cNvSpPr>
            <a:spLocks noGrp="1"/>
          </p:cNvSpPr>
          <p:nvPr>
            <p:ph idx="1"/>
          </p:nvPr>
        </p:nvSpPr>
        <p:spPr>
          <a:xfrm>
            <a:off x="1219200" y="1447800"/>
            <a:ext cx="7714488" cy="4800600"/>
          </a:xfrm>
        </p:spPr>
        <p:txBody>
          <a:bodyPr/>
          <a:lstStyle/>
          <a:p>
            <a:pPr eaLnBrk="1" hangingPunct="1">
              <a:defRPr/>
            </a:pPr>
            <a:r>
              <a:rPr lang="en-US" altLang="zh-CN" sz="2800" dirty="0"/>
              <a:t>Events can be used by tasks to communicate between each other or to help coordinate execution flow.</a:t>
            </a:r>
          </a:p>
          <a:p>
            <a:pPr eaLnBrk="1" hangingPunct="1">
              <a:defRPr/>
            </a:pPr>
            <a:r>
              <a:rPr lang="en-US" altLang="zh-CN" sz="2800" dirty="0"/>
              <a:t>Four common RTOS events:</a:t>
            </a:r>
          </a:p>
          <a:p>
            <a:pPr lvl="1" eaLnBrk="1" hangingPunct="1">
              <a:defRPr/>
            </a:pPr>
            <a:r>
              <a:rPr lang="en-US" altLang="zh-CN" dirty="0"/>
              <a:t>Signals</a:t>
            </a:r>
          </a:p>
          <a:p>
            <a:pPr lvl="1" eaLnBrk="1" hangingPunct="1">
              <a:defRPr/>
            </a:pPr>
            <a:r>
              <a:rPr lang="en-US" altLang="zh-CN" dirty="0"/>
              <a:t>Messages</a:t>
            </a:r>
          </a:p>
          <a:p>
            <a:pPr lvl="1" eaLnBrk="1" hangingPunct="1">
              <a:defRPr/>
            </a:pPr>
            <a:r>
              <a:rPr lang="en-US" altLang="zh-CN" dirty="0"/>
              <a:t>Semaphores</a:t>
            </a:r>
          </a:p>
          <a:p>
            <a:pPr lvl="1" eaLnBrk="1" hangingPunct="1">
              <a:defRPr/>
            </a:pPr>
            <a:r>
              <a:rPr lang="en-US" altLang="zh-CN" dirty="0"/>
              <a:t>Interrupts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normAutofit fontScale="90000"/>
          </a:bodyPr>
          <a:lstStyle/>
          <a:p>
            <a:pPr eaLnBrk="1" hangingPunct="1">
              <a:defRPr/>
            </a:pPr>
            <a:r>
              <a:rPr lang="en-US" altLang="zh-CN" sz="3600" dirty="0"/>
              <a:t>4.5.1 Signal Event Based Communication</a:t>
            </a:r>
          </a:p>
        </p:txBody>
      </p:sp>
      <p:sp>
        <p:nvSpPr>
          <p:cNvPr id="31747" name="Content Placeholder 2"/>
          <p:cNvSpPr>
            <a:spLocks noGrp="1"/>
          </p:cNvSpPr>
          <p:nvPr>
            <p:ph idx="1"/>
          </p:nvPr>
        </p:nvSpPr>
        <p:spPr>
          <a:xfrm>
            <a:off x="1066800" y="1447800"/>
            <a:ext cx="7866888" cy="4800600"/>
          </a:xfrm>
        </p:spPr>
        <p:txBody>
          <a:bodyPr/>
          <a:lstStyle/>
          <a:p>
            <a:pPr eaLnBrk="1" hangingPunct="1">
              <a:defRPr/>
            </a:pPr>
            <a:r>
              <a:rPr lang="en-US" altLang="zh-CN" sz="2800" dirty="0"/>
              <a:t>Signaling is the fastest method of communication.</a:t>
            </a:r>
          </a:p>
          <a:p>
            <a:pPr eaLnBrk="1" hangingPunct="1">
              <a:defRPr/>
            </a:pPr>
            <a:r>
              <a:rPr lang="en-US" altLang="zh-CN" sz="2800" dirty="0"/>
              <a:t>No actual information is exchanged, a signal is simply a single-bit flag.</a:t>
            </a:r>
          </a:p>
          <a:p>
            <a:pPr eaLnBrk="1" hangingPunct="1">
              <a:defRPr/>
            </a:pPr>
            <a:r>
              <a:rPr lang="en-US" altLang="zh-CN" sz="2800" dirty="0"/>
              <a:t>It is important for coordinating execution flow amongst tasks.</a:t>
            </a:r>
          </a:p>
          <a:p>
            <a:pPr eaLnBrk="1" hangingPunct="1">
              <a:defRPr/>
            </a:pPr>
            <a:r>
              <a:rPr lang="en-US" altLang="zh-CN" sz="2800" dirty="0"/>
              <a:t>Only one signal can be saved per task, and any extra signals are ignored.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57200" y="152400"/>
            <a:ext cx="8229600" cy="762000"/>
          </a:xfrm>
        </p:spPr>
        <p:txBody>
          <a:bodyPr/>
          <a:lstStyle/>
          <a:p>
            <a:pPr eaLnBrk="1" hangingPunct="1">
              <a:defRPr/>
            </a:pPr>
            <a:r>
              <a:rPr lang="en-US" altLang="zh-CN" sz="3600"/>
              <a:t>Contd.</a:t>
            </a:r>
          </a:p>
        </p:txBody>
      </p:sp>
      <p:sp>
        <p:nvSpPr>
          <p:cNvPr id="32771" name="Content Placeholder 2"/>
          <p:cNvSpPr>
            <a:spLocks noGrp="1"/>
          </p:cNvSpPr>
          <p:nvPr>
            <p:ph idx="1"/>
          </p:nvPr>
        </p:nvSpPr>
        <p:spPr>
          <a:xfrm>
            <a:off x="1219200" y="990600"/>
            <a:ext cx="7467600" cy="5135563"/>
          </a:xfrm>
        </p:spPr>
        <p:txBody>
          <a:bodyPr>
            <a:normAutofit fontScale="92500"/>
          </a:bodyPr>
          <a:lstStyle/>
          <a:p>
            <a:pPr eaLnBrk="1" hangingPunct="1">
              <a:buFont typeface="Arial" charset="0"/>
              <a:buNone/>
              <a:defRPr/>
            </a:pPr>
            <a:r>
              <a:rPr lang="en-US" altLang="zh-CN" sz="2800" dirty="0"/>
              <a:t>void task1 (void) _task_ 1 {</a:t>
            </a:r>
          </a:p>
          <a:p>
            <a:pPr eaLnBrk="1" hangingPunct="1">
              <a:buFont typeface="Arial" charset="0"/>
              <a:buNone/>
              <a:defRPr/>
            </a:pPr>
            <a:r>
              <a:rPr lang="en-US" altLang="zh-CN" sz="2800" dirty="0"/>
              <a:t>...</a:t>
            </a:r>
          </a:p>
          <a:p>
            <a:pPr eaLnBrk="1" hangingPunct="1">
              <a:buFont typeface="Arial" charset="0"/>
              <a:buNone/>
              <a:defRPr/>
            </a:pPr>
            <a:r>
              <a:rPr lang="en-US" altLang="zh-CN" sz="2800" dirty="0" err="1"/>
              <a:t>os_send_signal</a:t>
            </a:r>
            <a:r>
              <a:rPr lang="en-US" altLang="zh-CN" sz="2800" dirty="0"/>
              <a:t> (2);	// signal task 2</a:t>
            </a:r>
          </a:p>
          <a:p>
            <a:pPr eaLnBrk="1" hangingPunct="1">
              <a:buFont typeface="Arial" charset="0"/>
              <a:buNone/>
              <a:defRPr/>
            </a:pPr>
            <a:r>
              <a:rPr lang="en-US" altLang="zh-CN" sz="2800" dirty="0" err="1"/>
              <a:t>os_clear_signal</a:t>
            </a:r>
            <a:r>
              <a:rPr lang="en-US" altLang="zh-CN" sz="2800" dirty="0"/>
              <a:t> (1);	// clear task 1 flag</a:t>
            </a:r>
          </a:p>
          <a:p>
            <a:pPr eaLnBrk="1" hangingPunct="1">
              <a:buFont typeface="Arial" charset="0"/>
              <a:buNone/>
              <a:defRPr/>
            </a:pPr>
            <a:r>
              <a:rPr lang="en-US" altLang="zh-CN" sz="2800" dirty="0" err="1"/>
              <a:t>os_wait</a:t>
            </a:r>
            <a:r>
              <a:rPr lang="en-US" altLang="zh-CN" sz="2800" dirty="0"/>
              <a:t> (K_SIG, 0, 0);	// wait for signal</a:t>
            </a:r>
          </a:p>
          <a:p>
            <a:pPr eaLnBrk="1" hangingPunct="1">
              <a:buFont typeface="Arial" charset="0"/>
              <a:buNone/>
              <a:defRPr/>
            </a:pPr>
            <a:r>
              <a:rPr lang="en-US" altLang="zh-CN" sz="2800" dirty="0"/>
              <a:t>...</a:t>
            </a:r>
          </a:p>
          <a:p>
            <a:pPr eaLnBrk="1" hangingPunct="1">
              <a:buFont typeface="Arial" charset="0"/>
              <a:buNone/>
              <a:defRPr/>
            </a:pPr>
            <a:r>
              <a:rPr lang="en-US" altLang="zh-CN" sz="2800" dirty="0"/>
              <a:t>}</a:t>
            </a:r>
          </a:p>
          <a:p>
            <a:pPr eaLnBrk="1" hangingPunct="1">
              <a:defRPr/>
            </a:pPr>
            <a:r>
              <a:rPr lang="en-US" altLang="zh-CN" sz="2800" dirty="0"/>
              <a:t>Tasks can send and clear signal for any other task, including itself.</a:t>
            </a:r>
          </a:p>
          <a:p>
            <a:pPr eaLnBrk="1" hangingPunct="1">
              <a:defRPr/>
            </a:pPr>
            <a:r>
              <a:rPr lang="en-US" altLang="zh-CN" sz="2800" dirty="0"/>
              <a:t>Tasks waiting for signal are BLOCKED. The RTOS unblocks that task once the event is received.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304800" y="152400"/>
            <a:ext cx="8610600" cy="914400"/>
          </a:xfrm>
        </p:spPr>
        <p:txBody>
          <a:bodyPr/>
          <a:lstStyle/>
          <a:p>
            <a:pPr eaLnBrk="1" hangingPunct="1">
              <a:defRPr/>
            </a:pPr>
            <a:r>
              <a:rPr lang="en-US" altLang="zh-CN" sz="3600" dirty="0"/>
              <a:t>4.5.2 Message Event Based Communication</a:t>
            </a:r>
          </a:p>
        </p:txBody>
      </p:sp>
      <p:sp>
        <p:nvSpPr>
          <p:cNvPr id="33795" name="Content Placeholder 2"/>
          <p:cNvSpPr>
            <a:spLocks noGrp="1"/>
          </p:cNvSpPr>
          <p:nvPr>
            <p:ph idx="1"/>
          </p:nvPr>
        </p:nvSpPr>
        <p:spPr>
          <a:xfrm>
            <a:off x="1066800" y="1066800"/>
            <a:ext cx="7772400" cy="5638800"/>
          </a:xfrm>
        </p:spPr>
        <p:txBody>
          <a:bodyPr>
            <a:normAutofit lnSpcReduction="10000"/>
          </a:bodyPr>
          <a:lstStyle/>
          <a:p>
            <a:pPr eaLnBrk="1" hangingPunct="1">
              <a:defRPr/>
            </a:pPr>
            <a:r>
              <a:rPr lang="en-US" altLang="zh-CN" sz="2800" dirty="0"/>
              <a:t>A message is a set of data that gets transferred through message queues or mailboxes.</a:t>
            </a:r>
          </a:p>
          <a:p>
            <a:pPr eaLnBrk="1" hangingPunct="1">
              <a:defRPr/>
            </a:pPr>
            <a:r>
              <a:rPr lang="en-US" altLang="zh-CN" sz="2500" dirty="0"/>
              <a:t>Tasks which send messages are BLOCKED until the message can be sent or timeout occurs.</a:t>
            </a:r>
          </a:p>
          <a:p>
            <a:pPr lvl="1" eaLnBrk="1" hangingPunct="1">
              <a:buFont typeface="Arial" charset="0"/>
              <a:buNone/>
              <a:defRPr/>
            </a:pPr>
            <a:r>
              <a:rPr lang="en-US" altLang="zh-CN" sz="2500" dirty="0" err="1"/>
              <a:t>int</a:t>
            </a:r>
            <a:r>
              <a:rPr lang="en-US" altLang="zh-CN" sz="2500" dirty="0"/>
              <a:t> message</a:t>
            </a:r>
          </a:p>
          <a:p>
            <a:pPr lvl="1" eaLnBrk="1" hangingPunct="1">
              <a:buFont typeface="Arial" charset="0"/>
              <a:buNone/>
              <a:defRPr/>
            </a:pPr>
            <a:r>
              <a:rPr lang="en-US" altLang="zh-CN" sz="2500" dirty="0"/>
              <a:t>/ send data in variable ‘message’ to mailbox 2;</a:t>
            </a:r>
          </a:p>
          <a:p>
            <a:pPr lvl="1" eaLnBrk="1" hangingPunct="1">
              <a:buFont typeface="Arial" charset="0"/>
              <a:buNone/>
              <a:defRPr/>
            </a:pPr>
            <a:r>
              <a:rPr lang="en-US" altLang="zh-CN" sz="2500" dirty="0"/>
              <a:t>// timeout after 10 machine cycles</a:t>
            </a:r>
          </a:p>
          <a:p>
            <a:pPr lvl="1" eaLnBrk="1" hangingPunct="1">
              <a:buFont typeface="Arial" charset="0"/>
              <a:buNone/>
              <a:defRPr/>
            </a:pPr>
            <a:r>
              <a:rPr lang="en-US" altLang="zh-CN" sz="2500" dirty="0" err="1"/>
              <a:t>os_send_message</a:t>
            </a:r>
            <a:r>
              <a:rPr lang="en-US" altLang="zh-CN" sz="2500" dirty="0"/>
              <a:t> (2, message, 10);</a:t>
            </a:r>
          </a:p>
          <a:p>
            <a:pPr eaLnBrk="1" hangingPunct="1">
              <a:defRPr/>
            </a:pPr>
            <a:r>
              <a:rPr lang="en-US" altLang="zh-CN" sz="2500" dirty="0"/>
              <a:t>Tasks can wait for messaging event and store the message to variable.</a:t>
            </a:r>
          </a:p>
          <a:p>
            <a:pPr lvl="1" eaLnBrk="1" hangingPunct="1">
              <a:buFont typeface="Arial" charset="0"/>
              <a:buNone/>
              <a:defRPr/>
            </a:pPr>
            <a:r>
              <a:rPr lang="en-US" altLang="zh-CN" sz="2500" dirty="0"/>
              <a:t>// wait for message in mailbox 3 and store</a:t>
            </a:r>
          </a:p>
          <a:p>
            <a:pPr lvl="1" eaLnBrk="1" hangingPunct="1">
              <a:buFont typeface="Arial" charset="0"/>
              <a:buNone/>
              <a:defRPr/>
            </a:pPr>
            <a:r>
              <a:rPr lang="en-US" altLang="zh-CN" sz="2500" dirty="0"/>
              <a:t>// in &amp;message; or timeout in 10 machine cycles</a:t>
            </a:r>
          </a:p>
          <a:p>
            <a:pPr lvl="1" eaLnBrk="1" hangingPunct="1">
              <a:buFont typeface="Arial" charset="0"/>
              <a:buNone/>
              <a:defRPr/>
            </a:pPr>
            <a:r>
              <a:rPr lang="en-US" altLang="zh-CN" sz="2500" dirty="0" err="1"/>
              <a:t>os_wait</a:t>
            </a:r>
            <a:r>
              <a:rPr lang="en-US" altLang="zh-CN" sz="2500" dirty="0"/>
              <a:t> (K_MBX + K_TMO + 3, 10, &amp;message);</a:t>
            </a:r>
          </a:p>
          <a:p>
            <a:pPr eaLnBrk="1" hangingPunct="1">
              <a:defRPr/>
            </a:pPr>
            <a:endParaRPr lang="en-US" altLang="zh-CN" sz="2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066800" y="152400"/>
            <a:ext cx="7543800" cy="457200"/>
          </a:xfrm>
        </p:spPr>
        <p:txBody>
          <a:bodyPr>
            <a:normAutofit fontScale="90000"/>
          </a:bodyPr>
          <a:lstStyle/>
          <a:p>
            <a:pPr eaLnBrk="1" hangingPunct="1">
              <a:defRPr/>
            </a:pPr>
            <a:r>
              <a:rPr lang="en-US" altLang="zh-CN" sz="3600" dirty="0"/>
              <a:t>4.5.3 Semaphores</a:t>
            </a:r>
          </a:p>
        </p:txBody>
      </p:sp>
      <p:sp>
        <p:nvSpPr>
          <p:cNvPr id="35843" name="Content Placeholder 2"/>
          <p:cNvSpPr>
            <a:spLocks noGrp="1"/>
          </p:cNvSpPr>
          <p:nvPr>
            <p:ph idx="1"/>
          </p:nvPr>
        </p:nvSpPr>
        <p:spPr>
          <a:xfrm>
            <a:off x="990600" y="990600"/>
            <a:ext cx="7924800" cy="6172200"/>
          </a:xfrm>
        </p:spPr>
        <p:txBody>
          <a:bodyPr>
            <a:normAutofit/>
          </a:bodyPr>
          <a:lstStyle/>
          <a:p>
            <a:pPr eaLnBrk="1" hangingPunct="1">
              <a:defRPr/>
            </a:pPr>
            <a:r>
              <a:rPr lang="en-US" altLang="zh-CN" sz="2800" dirty="0"/>
              <a:t>Semaphores help prevent resource sharing conflicts between tasks.</a:t>
            </a:r>
          </a:p>
          <a:p>
            <a:pPr eaLnBrk="1" hangingPunct="1">
              <a:defRPr/>
            </a:pPr>
            <a:r>
              <a:rPr lang="en-US" sz="2800" dirty="0"/>
              <a:t>A semaphore is a way to lock a resource so that it is guaranteed that while a piece of code is executed, only this piece of code has access to that resource. </a:t>
            </a:r>
          </a:p>
          <a:p>
            <a:pPr eaLnBrk="1" hangingPunct="1">
              <a:defRPr/>
            </a:pPr>
            <a:r>
              <a:rPr lang="en-US" sz="2800" dirty="0"/>
              <a:t>This keeps two threads from concurrently accessing a resource, which can cause problems.</a:t>
            </a:r>
          </a:p>
          <a:p>
            <a:pPr eaLnBrk="1" hangingPunct="1">
              <a:defRPr/>
            </a:pPr>
            <a:endParaRPr lang="en-US"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066800" y="152400"/>
            <a:ext cx="7543800" cy="457200"/>
          </a:xfrm>
        </p:spPr>
        <p:txBody>
          <a:bodyPr>
            <a:normAutofit fontScale="90000"/>
          </a:bodyPr>
          <a:lstStyle/>
          <a:p>
            <a:pPr eaLnBrk="1" hangingPunct="1">
              <a:defRPr/>
            </a:pPr>
            <a:r>
              <a:rPr lang="en-US" altLang="zh-CN" sz="3600" dirty="0"/>
              <a:t>Semaphores…</a:t>
            </a:r>
          </a:p>
        </p:txBody>
      </p:sp>
      <p:sp>
        <p:nvSpPr>
          <p:cNvPr id="35843" name="Content Placeholder 2"/>
          <p:cNvSpPr>
            <a:spLocks noGrp="1"/>
          </p:cNvSpPr>
          <p:nvPr>
            <p:ph idx="1"/>
          </p:nvPr>
        </p:nvSpPr>
        <p:spPr>
          <a:xfrm>
            <a:off x="990600" y="914400"/>
            <a:ext cx="8153400" cy="6172200"/>
          </a:xfrm>
        </p:spPr>
        <p:txBody>
          <a:bodyPr>
            <a:normAutofit/>
          </a:bodyPr>
          <a:lstStyle/>
          <a:p>
            <a:pPr eaLnBrk="1" hangingPunct="1">
              <a:defRPr/>
            </a:pPr>
            <a:r>
              <a:rPr lang="en-US" sz="2800" dirty="0"/>
              <a:t>A semaphore is an object containing a natural number (i.e. a integer greater or equal to zero) on which two modifying operations are defined. </a:t>
            </a:r>
          </a:p>
          <a:p>
            <a:pPr lvl="1">
              <a:defRPr/>
            </a:pPr>
            <a:r>
              <a:rPr lang="en-US" sz="2400" dirty="0"/>
              <a:t>One operation, V, adds 1 to the natural. </a:t>
            </a:r>
          </a:p>
          <a:p>
            <a:pPr lvl="1">
              <a:defRPr/>
            </a:pPr>
            <a:r>
              <a:rPr lang="en-US" sz="2400" dirty="0"/>
              <a:t>The other operation, P, decreases the natural number by 1. </a:t>
            </a:r>
          </a:p>
          <a:p>
            <a:pPr lvl="1">
              <a:defRPr/>
            </a:pPr>
            <a:r>
              <a:rPr lang="en-US" sz="2400" dirty="0"/>
              <a:t>Both activities are atomic </a:t>
            </a:r>
          </a:p>
          <a:p>
            <a:pPr lvl="2">
              <a:defRPr/>
            </a:pPr>
            <a:r>
              <a:rPr lang="en-US" sz="2000" dirty="0"/>
              <a:t>(i.e. no other operation can be executed at the same time as a V or a P).</a:t>
            </a:r>
          </a:p>
          <a:p>
            <a:pPr eaLnBrk="1" hangingPunct="1">
              <a:defRPr/>
            </a:pPr>
            <a:r>
              <a:rPr lang="en-US" sz="2800" dirty="0"/>
              <a:t>It's simply a way to limit the number of consumers for a specific resource. </a:t>
            </a:r>
          </a:p>
          <a:p>
            <a:pPr lvl="1">
              <a:defRPr/>
            </a:pPr>
            <a:r>
              <a:rPr lang="en-US" sz="2400" dirty="0"/>
              <a:t>For example, to limit the number of simultaneous calls to a database in an application.</a:t>
            </a:r>
            <a:endParaRPr lang="en-US" altLang="zh-CN" sz="2400" dirty="0"/>
          </a:p>
          <a:p>
            <a:pPr eaLnBrk="1" hangingPunct="1">
              <a:defRPr/>
            </a:pPr>
            <a:endParaRPr lang="en-US" altLang="zh-C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457200" y="292100"/>
            <a:ext cx="8229600" cy="469900"/>
          </a:xfrm>
        </p:spPr>
        <p:txBody>
          <a:bodyPr>
            <a:normAutofit fontScale="90000"/>
          </a:bodyPr>
          <a:lstStyle/>
          <a:p>
            <a:pPr eaLnBrk="1" hangingPunct="1">
              <a:defRPr/>
            </a:pPr>
            <a:r>
              <a:rPr lang="en-US" altLang="zh-CN" sz="3600" dirty="0"/>
              <a:t>4.5.4 Task Interrupts</a:t>
            </a:r>
          </a:p>
        </p:txBody>
      </p:sp>
      <p:sp>
        <p:nvSpPr>
          <p:cNvPr id="36867" name="Content Placeholder 2"/>
          <p:cNvSpPr>
            <a:spLocks noGrp="1"/>
          </p:cNvSpPr>
          <p:nvPr>
            <p:ph idx="1"/>
          </p:nvPr>
        </p:nvSpPr>
        <p:spPr>
          <a:xfrm>
            <a:off x="990600" y="914400"/>
            <a:ext cx="8001000" cy="5791200"/>
          </a:xfrm>
        </p:spPr>
        <p:txBody>
          <a:bodyPr>
            <a:normAutofit/>
          </a:bodyPr>
          <a:lstStyle/>
          <a:p>
            <a:pPr eaLnBrk="1" hangingPunct="1">
              <a:defRPr/>
            </a:pPr>
            <a:r>
              <a:rPr lang="en-US" altLang="zh-CN" sz="2800" dirty="0"/>
              <a:t>Each interrupt source can only be assigned to one task.</a:t>
            </a:r>
          </a:p>
          <a:p>
            <a:pPr eaLnBrk="1" hangingPunct="1">
              <a:defRPr/>
            </a:pPr>
            <a:r>
              <a:rPr lang="en-US" altLang="zh-CN" sz="2800" dirty="0"/>
              <a:t>Multiple interrupts can be assigned to a single task.</a:t>
            </a:r>
          </a:p>
          <a:p>
            <a:pPr eaLnBrk="1" hangingPunct="1">
              <a:defRPr/>
            </a:pPr>
            <a:r>
              <a:rPr lang="en-US" altLang="zh-CN" sz="2800" dirty="0"/>
              <a:t>Attaching an interrupt does not automatically set the corresponding interrupt enable flag. </a:t>
            </a:r>
          </a:p>
          <a:p>
            <a:pPr eaLnBrk="1" hangingPunct="1">
              <a:defRPr/>
            </a:pPr>
            <a:r>
              <a:rPr lang="en-US" altLang="zh-CN" sz="2800" dirty="0"/>
              <a:t>In fact, the relevant flags are only enabled when tasks begin to wait for an interrupt event.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800" b="1" dirty="0"/>
              <a:t>4.6. Inter-process communication(IPC)</a:t>
            </a:r>
            <a:br>
              <a:rPr lang="en-US" sz="2800" b="1" dirty="0"/>
            </a:br>
            <a:endParaRPr lang="en-US" sz="2800" dirty="0"/>
          </a:p>
        </p:txBody>
      </p:sp>
      <p:sp>
        <p:nvSpPr>
          <p:cNvPr id="3" name="Subtitle 2"/>
          <p:cNvSpPr>
            <a:spLocks noGrp="1"/>
          </p:cNvSpPr>
          <p:nvPr>
            <p:ph type="subTitle" idx="1"/>
          </p:nvPr>
        </p:nvSpPr>
        <p:spPr>
          <a:xfrm>
            <a:off x="1465897" y="2133600"/>
            <a:ext cx="7406640" cy="1752600"/>
          </a:xfrm>
        </p:spPr>
        <p:txBody>
          <a:bodyPr/>
          <a:lstStyle/>
          <a:p>
            <a:pPr marL="484632" indent="-457200">
              <a:buFont typeface="Arial" panose="020B0604020202020204" pitchFamily="34" charset="0"/>
              <a:buChar char="•"/>
            </a:pPr>
            <a:r>
              <a:rPr lang="en-US" sz="2800" dirty="0"/>
              <a:t>What is IPC?</a:t>
            </a:r>
          </a:p>
          <a:p>
            <a:pPr marL="484632" indent="-457200">
              <a:buFont typeface="Arial" panose="020B0604020202020204" pitchFamily="34" charset="0"/>
              <a:buChar char="•"/>
            </a:pPr>
            <a:r>
              <a:rPr lang="en-US" sz="2800" dirty="0"/>
              <a:t>Two ways of IPC</a:t>
            </a:r>
          </a:p>
          <a:p>
            <a:endParaRPr lang="en-US" dirty="0"/>
          </a:p>
        </p:txBody>
      </p:sp>
    </p:spTree>
    <p:extLst>
      <p:ext uri="{BB962C8B-B14F-4D97-AF65-F5344CB8AC3E}">
        <p14:creationId xmlns:p14="http://schemas.microsoft.com/office/powerpoint/2010/main" val="32339619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normAutofit fontScale="90000"/>
          </a:bodyPr>
          <a:lstStyle/>
          <a:p>
            <a:pPr eaLnBrk="1" hangingPunct="1">
              <a:defRPr/>
            </a:pPr>
            <a:r>
              <a:rPr lang="en-US" sz="3700" dirty="0"/>
              <a:t>4.6 Inter-process communication(IPC)</a:t>
            </a:r>
            <a:br>
              <a:rPr lang="en-US" sz="3700" dirty="0"/>
            </a:br>
            <a:r>
              <a:rPr lang="en-US" sz="3700" dirty="0"/>
              <a:t>4.6.1 What is IPC?</a:t>
            </a:r>
          </a:p>
        </p:txBody>
      </p:sp>
      <p:sp>
        <p:nvSpPr>
          <p:cNvPr id="4099" name="Content Placeholder 2"/>
          <p:cNvSpPr>
            <a:spLocks noGrp="1"/>
          </p:cNvSpPr>
          <p:nvPr>
            <p:ph idx="1"/>
          </p:nvPr>
        </p:nvSpPr>
        <p:spPr>
          <a:xfrm>
            <a:off x="1143000" y="1447800"/>
            <a:ext cx="7790688" cy="5105400"/>
          </a:xfrm>
        </p:spPr>
        <p:txBody>
          <a:bodyPr>
            <a:normAutofit lnSpcReduction="10000"/>
          </a:bodyPr>
          <a:lstStyle/>
          <a:p>
            <a:pPr eaLnBrk="1" hangingPunct="1">
              <a:buFont typeface="Wingdings" pitchFamily="2" charset="2"/>
              <a:buChar char="v"/>
              <a:defRPr/>
            </a:pPr>
            <a:r>
              <a:rPr lang="en-US" sz="2800" dirty="0"/>
              <a:t>Tasks must be able to communicate with one another to coordinate their activities to share the data.</a:t>
            </a:r>
          </a:p>
          <a:p>
            <a:pPr eaLnBrk="1" hangingPunct="1">
              <a:buFont typeface="Wingdings" pitchFamily="2" charset="2"/>
              <a:buChar char="v"/>
              <a:defRPr/>
            </a:pPr>
            <a:r>
              <a:rPr lang="en-US" sz="2800" dirty="0"/>
              <a:t>IPC means that a process (scheduler, task or ISR) generates some information by setting or resetting a flag or value, or generates an output so that it lets another process take note of it or use it.</a:t>
            </a:r>
          </a:p>
          <a:p>
            <a:pPr eaLnBrk="1" hangingPunct="1">
              <a:defRPr/>
            </a:pPr>
            <a:r>
              <a:rPr lang="en-US" sz="2800" dirty="0"/>
              <a:t>IPCs in multiprocessor system are used to generate information about certain sets of computations finishing on one processor and let the other processors take note of it.</a:t>
            </a:r>
          </a:p>
          <a:p>
            <a:pPr eaLnBrk="1" hangingPunct="1">
              <a:defRPr/>
            </a:pPr>
            <a:endParaRPr lang="en-US" sz="2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p:txBody>
          <a:bodyPr/>
          <a:lstStyle/>
          <a:p>
            <a:pPr eaLnBrk="1" hangingPunct="1">
              <a:defRPr/>
            </a:pPr>
            <a:r>
              <a:rPr lang="en-US" dirty="0"/>
              <a:t>4.6.2 Two ways for IPC</a:t>
            </a:r>
          </a:p>
        </p:txBody>
      </p:sp>
      <p:sp>
        <p:nvSpPr>
          <p:cNvPr id="5123" name="Rectangle 3"/>
          <p:cNvSpPr>
            <a:spLocks noGrp="1"/>
          </p:cNvSpPr>
          <p:nvPr>
            <p:ph type="body" idx="1"/>
          </p:nvPr>
        </p:nvSpPr>
        <p:spPr>
          <a:xfrm>
            <a:off x="1143000" y="1295400"/>
            <a:ext cx="7848600" cy="5410200"/>
          </a:xfrm>
        </p:spPr>
        <p:txBody>
          <a:bodyPr>
            <a:normAutofit fontScale="85000" lnSpcReduction="20000"/>
          </a:bodyPr>
          <a:lstStyle/>
          <a:p>
            <a:pPr marL="660400" indent="-660400" eaLnBrk="1" hangingPunct="1">
              <a:buFontTx/>
              <a:buAutoNum type="arabicPeriod"/>
              <a:defRPr/>
            </a:pPr>
            <a:r>
              <a:rPr lang="en-US" dirty="0"/>
              <a:t>Global data ,</a:t>
            </a:r>
          </a:p>
          <a:p>
            <a:pPr marL="660400" indent="-660400" eaLnBrk="1" hangingPunct="1">
              <a:buFontTx/>
              <a:buAutoNum type="arabicPeriod"/>
              <a:defRPr/>
            </a:pPr>
            <a:r>
              <a:rPr lang="en-US" dirty="0"/>
              <a:t> Sending messages</a:t>
            </a:r>
          </a:p>
          <a:p>
            <a:pPr marL="660400" indent="-660400" eaLnBrk="1" hangingPunct="1">
              <a:buNone/>
              <a:defRPr/>
            </a:pPr>
            <a:endParaRPr lang="en-US" dirty="0"/>
          </a:p>
          <a:p>
            <a:pPr marL="660400" indent="-660400" eaLnBrk="1" hangingPunct="1">
              <a:buFontTx/>
              <a:buNone/>
              <a:defRPr/>
            </a:pPr>
            <a:r>
              <a:rPr lang="en-US" sz="3900" b="1" u="sng" dirty="0"/>
              <a:t>4.6.2.1. Global data:</a:t>
            </a:r>
            <a:r>
              <a:rPr lang="en-US" sz="3900" b="1" dirty="0"/>
              <a:t>  </a:t>
            </a:r>
            <a:r>
              <a:rPr lang="en-US" dirty="0"/>
              <a:t>by setting global variables.</a:t>
            </a:r>
          </a:p>
          <a:p>
            <a:pPr marL="660400" indent="-660400" eaLnBrk="1" hangingPunct="1">
              <a:buFontTx/>
              <a:buNone/>
              <a:defRPr/>
            </a:pPr>
            <a:r>
              <a:rPr lang="en-US" dirty="0"/>
              <a:t>Usage of global variables create two problems.</a:t>
            </a:r>
          </a:p>
          <a:p>
            <a:pPr marL="1391920" lvl="3" indent="-660400">
              <a:buFont typeface="Wingdings" pitchFamily="2" charset="2"/>
              <a:buChar char="ü"/>
              <a:defRPr/>
            </a:pPr>
            <a:r>
              <a:rPr lang="en-US" sz="3000" dirty="0"/>
              <a:t>Shared data problem</a:t>
            </a:r>
          </a:p>
          <a:p>
            <a:pPr marL="1391920" lvl="3" indent="-660400">
              <a:buFont typeface="Wingdings" pitchFamily="2" charset="2"/>
              <a:buChar char="ü"/>
              <a:defRPr/>
            </a:pPr>
            <a:r>
              <a:rPr lang="en-US" sz="3000" dirty="0"/>
              <a:t>It cannot prevent a message from being accessed by other tasks</a:t>
            </a:r>
          </a:p>
          <a:p>
            <a:pPr marL="660400" indent="-660400">
              <a:buNone/>
              <a:defRPr/>
            </a:pPr>
            <a:r>
              <a:rPr lang="en-US" sz="3900" b="1" u="sng" dirty="0"/>
              <a:t>4.6.2.2. Sending messages</a:t>
            </a:r>
          </a:p>
          <a:p>
            <a:pPr marL="660400" indent="-660400">
              <a:buFontTx/>
              <a:buAutoNum type="romanLcParenR"/>
              <a:defRPr/>
            </a:pPr>
            <a:r>
              <a:rPr lang="en-US" dirty="0"/>
              <a:t>Semaphores and </a:t>
            </a:r>
            <a:r>
              <a:rPr lang="en-US" dirty="0" err="1"/>
              <a:t>mutexes</a:t>
            </a:r>
            <a:endParaRPr lang="en-US" dirty="0"/>
          </a:p>
          <a:p>
            <a:pPr marL="660400" indent="-660400">
              <a:buFontTx/>
              <a:buAutoNum type="romanLcParenR"/>
              <a:defRPr/>
            </a:pPr>
            <a:r>
              <a:rPr lang="en-US" dirty="0"/>
              <a:t>Queues, pipes and mailboxes</a:t>
            </a:r>
          </a:p>
          <a:p>
            <a:pPr marL="660400" indent="-660400">
              <a:buFontTx/>
              <a:buAutoNum type="romanLcParenR"/>
              <a:defRPr/>
            </a:pPr>
            <a:r>
              <a:rPr lang="en-US" dirty="0"/>
              <a:t>Signals</a:t>
            </a:r>
          </a:p>
          <a:p>
            <a:pPr marL="660400" indent="-660400">
              <a:buFontTx/>
              <a:buAutoNum type="romanLcParenR"/>
              <a:defRPr/>
            </a:pPr>
            <a:r>
              <a:rPr lang="en-US" dirty="0"/>
              <a:t>Event registers etc.</a:t>
            </a:r>
            <a:endParaRPr lang="en-US" sz="3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xfrm>
            <a:off x="1066800" y="292100"/>
            <a:ext cx="7620000" cy="774700"/>
          </a:xfrm>
        </p:spPr>
        <p:txBody>
          <a:bodyPr/>
          <a:lstStyle/>
          <a:p>
            <a:pPr>
              <a:defRPr/>
            </a:pPr>
            <a:r>
              <a:rPr lang="en-US" sz="4400" b="1" u="sng" dirty="0"/>
              <a:t>4.6.2.2. 1</a:t>
            </a:r>
            <a:r>
              <a:rPr lang="en-US" sz="4400" b="1" dirty="0"/>
              <a:t> </a:t>
            </a:r>
            <a:r>
              <a:rPr lang="en-US" dirty="0"/>
              <a:t>Mailboxes</a:t>
            </a:r>
          </a:p>
        </p:txBody>
      </p:sp>
      <p:sp>
        <p:nvSpPr>
          <p:cNvPr id="9219" name="Rectangle 3"/>
          <p:cNvSpPr>
            <a:spLocks noGrp="1"/>
          </p:cNvSpPr>
          <p:nvPr>
            <p:ph type="body" idx="1"/>
          </p:nvPr>
        </p:nvSpPr>
        <p:spPr>
          <a:xfrm>
            <a:off x="1066800" y="1295400"/>
            <a:ext cx="7848600" cy="5715000"/>
          </a:xfrm>
        </p:spPr>
        <p:txBody>
          <a:bodyPr>
            <a:normAutofit/>
          </a:bodyPr>
          <a:lstStyle/>
          <a:p>
            <a:pPr eaLnBrk="1" hangingPunct="1">
              <a:lnSpc>
                <a:spcPct val="80000"/>
              </a:lnSpc>
              <a:defRPr/>
            </a:pPr>
            <a:r>
              <a:rPr lang="en-US" sz="2800" dirty="0"/>
              <a:t>Mailboxes are also called as message exchange, is typically a pointer size variable</a:t>
            </a:r>
          </a:p>
          <a:p>
            <a:pPr eaLnBrk="1" hangingPunct="1">
              <a:lnSpc>
                <a:spcPct val="80000"/>
              </a:lnSpc>
              <a:defRPr/>
            </a:pPr>
            <a:r>
              <a:rPr lang="en-US" sz="2800" dirty="0"/>
              <a:t>A message mailbox is an IPC message-block that can be used only by a single destined task.</a:t>
            </a:r>
          </a:p>
          <a:p>
            <a:pPr eaLnBrk="1" hangingPunct="1">
              <a:lnSpc>
                <a:spcPct val="80000"/>
              </a:lnSpc>
              <a:defRPr/>
            </a:pPr>
            <a:r>
              <a:rPr lang="en-US" sz="2800" dirty="0"/>
              <a:t>Through a service provided by the kernel, a task or an ISR can deposit a message into the mail box.</a:t>
            </a:r>
          </a:p>
          <a:p>
            <a:pPr eaLnBrk="1" hangingPunct="1">
              <a:lnSpc>
                <a:spcPct val="80000"/>
              </a:lnSpc>
              <a:defRPr/>
            </a:pPr>
            <a:endParaRPr lang="en-US" sz="2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xfrm>
            <a:off x="1066800" y="292100"/>
            <a:ext cx="7620000" cy="774700"/>
          </a:xfrm>
        </p:spPr>
        <p:txBody>
          <a:bodyPr/>
          <a:lstStyle/>
          <a:p>
            <a:pPr>
              <a:defRPr/>
            </a:pPr>
            <a:r>
              <a:rPr lang="en-US" dirty="0"/>
              <a:t>Mailboxes…</a:t>
            </a:r>
          </a:p>
        </p:txBody>
      </p:sp>
      <p:sp>
        <p:nvSpPr>
          <p:cNvPr id="9219" name="Rectangle 3"/>
          <p:cNvSpPr>
            <a:spLocks noGrp="1"/>
          </p:cNvSpPr>
          <p:nvPr>
            <p:ph type="body" idx="1"/>
          </p:nvPr>
        </p:nvSpPr>
        <p:spPr>
          <a:xfrm>
            <a:off x="1066800" y="1143000"/>
            <a:ext cx="7848600" cy="5715000"/>
          </a:xfrm>
        </p:spPr>
        <p:txBody>
          <a:bodyPr>
            <a:normAutofit/>
          </a:bodyPr>
          <a:lstStyle/>
          <a:p>
            <a:pPr eaLnBrk="1" hangingPunct="1">
              <a:lnSpc>
                <a:spcPct val="80000"/>
              </a:lnSpc>
              <a:defRPr/>
            </a:pPr>
            <a:r>
              <a:rPr lang="en-US" sz="2800" dirty="0"/>
              <a:t>Similarly, one or more tasks can receive messages through a service provided by the kernel.</a:t>
            </a:r>
          </a:p>
          <a:p>
            <a:pPr eaLnBrk="1" hangingPunct="1">
              <a:lnSpc>
                <a:spcPct val="80000"/>
              </a:lnSpc>
              <a:defRPr/>
            </a:pPr>
            <a:r>
              <a:rPr lang="en-US" sz="2800" dirty="0"/>
              <a:t>A waiting list is associated with each mailbox in case more than one task wants to receive messages through the mailbox. </a:t>
            </a:r>
          </a:p>
          <a:p>
            <a:pPr eaLnBrk="1" hangingPunct="1">
              <a:lnSpc>
                <a:spcPct val="90000"/>
              </a:lnSpc>
              <a:defRPr/>
            </a:pPr>
            <a:r>
              <a:rPr lang="en-US" sz="2400" dirty="0"/>
              <a:t>Tasks rely on the kernel to allow them to write to the location via a </a:t>
            </a:r>
            <a:r>
              <a:rPr lang="en-US" sz="2400" dirty="0">
                <a:latin typeface="Courier" pitchFamily="49" charset="0"/>
              </a:rPr>
              <a:t>post</a:t>
            </a:r>
            <a:r>
              <a:rPr lang="en-US" sz="2400" dirty="0"/>
              <a:t> operation or to read from it via a </a:t>
            </a:r>
            <a:r>
              <a:rPr lang="en-US" sz="2400" dirty="0" err="1">
                <a:latin typeface="Courier" pitchFamily="49" charset="0"/>
              </a:rPr>
              <a:t>pend</a:t>
            </a:r>
            <a:r>
              <a:rPr lang="en-US" sz="2400" dirty="0"/>
              <a:t> operation. </a:t>
            </a:r>
          </a:p>
          <a:p>
            <a:pPr eaLnBrk="1" hangingPunct="1">
              <a:lnSpc>
                <a:spcPct val="90000"/>
              </a:lnSpc>
              <a:defRPr/>
            </a:pPr>
            <a:r>
              <a:rPr lang="en-US" sz="2400" dirty="0"/>
              <a:t>Mailboxes are available in most commercial RTOS.</a:t>
            </a:r>
          </a:p>
          <a:p>
            <a:pPr eaLnBrk="1" hangingPunct="1">
              <a:lnSpc>
                <a:spcPct val="80000"/>
              </a:lnSpc>
              <a:defRPr/>
            </a:pPr>
            <a:endParaRPr lang="en-US" sz="2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p:txBody>
          <a:bodyPr/>
          <a:lstStyle/>
          <a:p>
            <a:pPr eaLnBrk="1" hangingPunct="1">
              <a:defRPr/>
            </a:pPr>
            <a:r>
              <a:rPr lang="en-US"/>
              <a:t>Mailboxes</a:t>
            </a:r>
          </a:p>
        </p:txBody>
      </p:sp>
      <p:sp>
        <p:nvSpPr>
          <p:cNvPr id="10243" name="Rectangle 3"/>
          <p:cNvSpPr>
            <a:spLocks noGrp="1"/>
          </p:cNvSpPr>
          <p:nvPr>
            <p:ph type="body" idx="1"/>
          </p:nvPr>
        </p:nvSpPr>
        <p:spPr>
          <a:xfrm>
            <a:off x="457200" y="1447800"/>
            <a:ext cx="8229600" cy="4572000"/>
          </a:xfrm>
        </p:spPr>
        <p:txBody>
          <a:bodyPr/>
          <a:lstStyle/>
          <a:p>
            <a:pPr eaLnBrk="1" hangingPunct="1">
              <a:defRPr/>
            </a:pPr>
            <a:r>
              <a:rPr lang="en-US" dirty="0"/>
              <a:t>Mailbox object is just like postal mailbox.</a:t>
            </a:r>
          </a:p>
        </p:txBody>
      </p:sp>
      <p:sp>
        <p:nvSpPr>
          <p:cNvPr id="18436" name="Rectangle 4"/>
          <p:cNvSpPr>
            <a:spLocks noChangeArrowheads="1"/>
          </p:cNvSpPr>
          <p:nvPr/>
        </p:nvSpPr>
        <p:spPr bwMode="auto">
          <a:xfrm>
            <a:off x="2971800" y="2286000"/>
            <a:ext cx="2133600" cy="1295400"/>
          </a:xfrm>
          <a:prstGeom prst="rect">
            <a:avLst/>
          </a:prstGeom>
          <a:solidFill>
            <a:schemeClr val="hlink"/>
          </a:solidFill>
          <a:ln w="9525">
            <a:solidFill>
              <a:schemeClr val="tx1"/>
            </a:solidFill>
            <a:miter lim="800000"/>
            <a:headEnd/>
            <a:tailEnd/>
          </a:ln>
        </p:spPr>
        <p:txBody>
          <a:bodyPr wrap="none" anchor="ctr"/>
          <a:lstStyle/>
          <a:p>
            <a:endParaRPr lang="en-US"/>
          </a:p>
        </p:txBody>
      </p:sp>
      <p:sp>
        <p:nvSpPr>
          <p:cNvPr id="18437" name="Rectangle 5"/>
          <p:cNvSpPr>
            <a:spLocks noChangeArrowheads="1"/>
          </p:cNvSpPr>
          <p:nvPr/>
        </p:nvSpPr>
        <p:spPr bwMode="auto">
          <a:xfrm>
            <a:off x="1143000" y="4191000"/>
            <a:ext cx="1981200" cy="1371600"/>
          </a:xfrm>
          <a:prstGeom prst="rect">
            <a:avLst/>
          </a:prstGeom>
          <a:solidFill>
            <a:schemeClr val="folHlink"/>
          </a:solidFill>
          <a:ln w="9525">
            <a:solidFill>
              <a:schemeClr val="tx1"/>
            </a:solidFill>
            <a:miter lim="800000"/>
            <a:headEnd/>
            <a:tailEnd/>
          </a:ln>
        </p:spPr>
        <p:txBody>
          <a:bodyPr wrap="none" anchor="ctr"/>
          <a:lstStyle/>
          <a:p>
            <a:pPr algn="ctr"/>
            <a:endParaRPr lang="en-US">
              <a:solidFill>
                <a:schemeClr val="bg1"/>
              </a:solidFill>
            </a:endParaRPr>
          </a:p>
        </p:txBody>
      </p:sp>
      <p:sp>
        <p:nvSpPr>
          <p:cNvPr id="18438" name="Rectangle 6"/>
          <p:cNvSpPr>
            <a:spLocks noChangeArrowheads="1"/>
          </p:cNvSpPr>
          <p:nvPr/>
        </p:nvSpPr>
        <p:spPr bwMode="auto">
          <a:xfrm>
            <a:off x="5181600" y="4191000"/>
            <a:ext cx="2133600" cy="1371600"/>
          </a:xfrm>
          <a:prstGeom prst="rect">
            <a:avLst/>
          </a:prstGeom>
          <a:solidFill>
            <a:schemeClr val="folHlink"/>
          </a:solidFill>
          <a:ln w="9525">
            <a:solidFill>
              <a:schemeClr val="tx1"/>
            </a:solidFill>
            <a:miter lim="800000"/>
            <a:headEnd/>
            <a:tailEnd/>
          </a:ln>
        </p:spPr>
        <p:txBody>
          <a:bodyPr wrap="none" anchor="ctr"/>
          <a:lstStyle/>
          <a:p>
            <a:endParaRPr lang="en-US"/>
          </a:p>
        </p:txBody>
      </p:sp>
      <p:sp>
        <p:nvSpPr>
          <p:cNvPr id="18439" name="Text Box 7"/>
          <p:cNvSpPr txBox="1">
            <a:spLocks noChangeArrowheads="1"/>
          </p:cNvSpPr>
          <p:nvPr/>
        </p:nvSpPr>
        <p:spPr bwMode="auto">
          <a:xfrm>
            <a:off x="1524000" y="4572000"/>
            <a:ext cx="1524000" cy="519113"/>
          </a:xfrm>
          <a:prstGeom prst="rect">
            <a:avLst/>
          </a:prstGeom>
          <a:noFill/>
          <a:ln w="9525">
            <a:noFill/>
            <a:miter lim="800000"/>
            <a:headEnd/>
            <a:tailEnd/>
          </a:ln>
        </p:spPr>
        <p:txBody>
          <a:bodyPr>
            <a:spAutoFit/>
          </a:bodyPr>
          <a:lstStyle/>
          <a:p>
            <a:r>
              <a:rPr lang="en-US" sz="2800">
                <a:solidFill>
                  <a:schemeClr val="bg1"/>
                </a:solidFill>
              </a:rPr>
              <a:t>Task 1</a:t>
            </a:r>
          </a:p>
        </p:txBody>
      </p:sp>
      <p:sp>
        <p:nvSpPr>
          <p:cNvPr id="18440" name="Text Box 8"/>
          <p:cNvSpPr txBox="1">
            <a:spLocks noChangeArrowheads="1"/>
          </p:cNvSpPr>
          <p:nvPr/>
        </p:nvSpPr>
        <p:spPr bwMode="auto">
          <a:xfrm>
            <a:off x="5486400" y="4572000"/>
            <a:ext cx="1524000" cy="519113"/>
          </a:xfrm>
          <a:prstGeom prst="rect">
            <a:avLst/>
          </a:prstGeom>
          <a:noFill/>
          <a:ln w="9525">
            <a:noFill/>
            <a:miter lim="800000"/>
            <a:headEnd/>
            <a:tailEnd/>
          </a:ln>
        </p:spPr>
        <p:txBody>
          <a:bodyPr>
            <a:spAutoFit/>
          </a:bodyPr>
          <a:lstStyle/>
          <a:p>
            <a:r>
              <a:rPr lang="en-US" sz="2800">
                <a:solidFill>
                  <a:schemeClr val="bg1"/>
                </a:solidFill>
              </a:rPr>
              <a:t>Task 2</a:t>
            </a:r>
          </a:p>
        </p:txBody>
      </p:sp>
      <p:sp>
        <p:nvSpPr>
          <p:cNvPr id="18441" name="Text Box 9"/>
          <p:cNvSpPr txBox="1">
            <a:spLocks noChangeArrowheads="1"/>
          </p:cNvSpPr>
          <p:nvPr/>
        </p:nvSpPr>
        <p:spPr bwMode="auto">
          <a:xfrm>
            <a:off x="3352800" y="2667000"/>
            <a:ext cx="1524000" cy="519113"/>
          </a:xfrm>
          <a:prstGeom prst="rect">
            <a:avLst/>
          </a:prstGeom>
          <a:noFill/>
          <a:ln w="9525">
            <a:noFill/>
            <a:miter lim="800000"/>
            <a:headEnd/>
            <a:tailEnd/>
          </a:ln>
        </p:spPr>
        <p:txBody>
          <a:bodyPr>
            <a:spAutoFit/>
          </a:bodyPr>
          <a:lstStyle/>
          <a:p>
            <a:r>
              <a:rPr lang="en-US" sz="2800">
                <a:solidFill>
                  <a:schemeClr val="bg1"/>
                </a:solidFill>
              </a:rPr>
              <a:t>mailbox</a:t>
            </a:r>
          </a:p>
        </p:txBody>
      </p:sp>
      <p:sp>
        <p:nvSpPr>
          <p:cNvPr id="18442" name="Line 10"/>
          <p:cNvSpPr>
            <a:spLocks noChangeShapeType="1"/>
          </p:cNvSpPr>
          <p:nvPr/>
        </p:nvSpPr>
        <p:spPr bwMode="auto">
          <a:xfrm flipV="1">
            <a:off x="2057400" y="3124200"/>
            <a:ext cx="838200" cy="990600"/>
          </a:xfrm>
          <a:prstGeom prst="line">
            <a:avLst/>
          </a:prstGeom>
          <a:noFill/>
          <a:ln w="9525">
            <a:solidFill>
              <a:schemeClr val="tx1"/>
            </a:solidFill>
            <a:round/>
            <a:headEnd/>
            <a:tailEnd type="triangle" w="med" len="med"/>
          </a:ln>
        </p:spPr>
        <p:txBody>
          <a:bodyPr/>
          <a:lstStyle/>
          <a:p>
            <a:endParaRPr lang="en-US"/>
          </a:p>
        </p:txBody>
      </p:sp>
      <p:sp>
        <p:nvSpPr>
          <p:cNvPr id="18443" name="Line 11"/>
          <p:cNvSpPr>
            <a:spLocks noChangeShapeType="1"/>
          </p:cNvSpPr>
          <p:nvPr/>
        </p:nvSpPr>
        <p:spPr bwMode="auto">
          <a:xfrm>
            <a:off x="5181600" y="3048000"/>
            <a:ext cx="1143000" cy="990600"/>
          </a:xfrm>
          <a:prstGeom prst="line">
            <a:avLst/>
          </a:prstGeom>
          <a:noFill/>
          <a:ln w="9525">
            <a:solidFill>
              <a:schemeClr val="tx1"/>
            </a:solidFill>
            <a:round/>
            <a:headEnd/>
            <a:tailEnd type="triangle" w="med" len="med"/>
          </a:ln>
        </p:spPr>
        <p:txBody>
          <a:bodyPr/>
          <a:lstStyle/>
          <a:p>
            <a:endParaRPr lang="en-US"/>
          </a:p>
        </p:txBody>
      </p:sp>
      <p:sp>
        <p:nvSpPr>
          <p:cNvPr id="18444" name="Text Box 12"/>
          <p:cNvSpPr txBox="1">
            <a:spLocks noChangeArrowheads="1"/>
          </p:cNvSpPr>
          <p:nvPr/>
        </p:nvSpPr>
        <p:spPr bwMode="auto">
          <a:xfrm>
            <a:off x="1447800" y="2940050"/>
            <a:ext cx="1295400" cy="641350"/>
          </a:xfrm>
          <a:prstGeom prst="rect">
            <a:avLst/>
          </a:prstGeom>
          <a:noFill/>
          <a:ln w="9525">
            <a:noFill/>
            <a:miter lim="800000"/>
            <a:headEnd/>
            <a:tailEnd/>
          </a:ln>
        </p:spPr>
        <p:txBody>
          <a:bodyPr>
            <a:spAutoFit/>
          </a:bodyPr>
          <a:lstStyle/>
          <a:p>
            <a:pPr>
              <a:spcBef>
                <a:spcPct val="50000"/>
              </a:spcBef>
            </a:pPr>
            <a:r>
              <a:rPr lang="en-US"/>
              <a:t>Post a message</a:t>
            </a:r>
          </a:p>
        </p:txBody>
      </p:sp>
      <p:sp>
        <p:nvSpPr>
          <p:cNvPr id="18445" name="Text Box 13"/>
          <p:cNvSpPr txBox="1">
            <a:spLocks noChangeArrowheads="1"/>
          </p:cNvSpPr>
          <p:nvPr/>
        </p:nvSpPr>
        <p:spPr bwMode="auto">
          <a:xfrm>
            <a:off x="5791200" y="2895600"/>
            <a:ext cx="1219200" cy="641350"/>
          </a:xfrm>
          <a:prstGeom prst="rect">
            <a:avLst/>
          </a:prstGeom>
          <a:noFill/>
          <a:ln w="9525">
            <a:noFill/>
            <a:miter lim="800000"/>
            <a:headEnd/>
            <a:tailEnd/>
          </a:ln>
        </p:spPr>
        <p:txBody>
          <a:bodyPr>
            <a:spAutoFit/>
          </a:bodyPr>
          <a:lstStyle/>
          <a:p>
            <a:pPr>
              <a:spcBef>
                <a:spcPct val="50000"/>
              </a:spcBef>
            </a:pPr>
            <a:r>
              <a:rPr lang="en-US"/>
              <a:t>Read the message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p:txBody>
          <a:bodyPr>
            <a:normAutofit fontScale="90000"/>
          </a:bodyPr>
          <a:lstStyle/>
          <a:p>
            <a:pPr eaLnBrk="1" hangingPunct="1">
              <a:defRPr/>
            </a:pPr>
            <a:r>
              <a:rPr lang="en-US" sz="3900" dirty="0"/>
              <a:t>Mailbox services provided by the kernel</a:t>
            </a:r>
          </a:p>
        </p:txBody>
      </p:sp>
      <p:sp>
        <p:nvSpPr>
          <p:cNvPr id="12291" name="Rectangle 3"/>
          <p:cNvSpPr>
            <a:spLocks noGrp="1"/>
          </p:cNvSpPr>
          <p:nvPr>
            <p:ph type="body" idx="1"/>
          </p:nvPr>
        </p:nvSpPr>
        <p:spPr>
          <a:xfrm>
            <a:off x="1435608" y="1371600"/>
            <a:ext cx="7498080" cy="5334000"/>
          </a:xfrm>
        </p:spPr>
        <p:txBody>
          <a:bodyPr>
            <a:normAutofit/>
          </a:bodyPr>
          <a:lstStyle/>
          <a:p>
            <a:pPr eaLnBrk="1" hangingPunct="1">
              <a:lnSpc>
                <a:spcPct val="80000"/>
              </a:lnSpc>
              <a:buFont typeface="Wingdings" pitchFamily="2" charset="2"/>
              <a:buChar char="ü"/>
              <a:defRPr/>
            </a:pPr>
            <a:r>
              <a:rPr lang="en-US" sz="2800" dirty="0"/>
              <a:t>Initialize the contents of the mailbox. The mailbox may or may not contain a message.</a:t>
            </a:r>
          </a:p>
          <a:p>
            <a:pPr eaLnBrk="1" hangingPunct="1">
              <a:lnSpc>
                <a:spcPct val="80000"/>
              </a:lnSpc>
              <a:buFont typeface="Wingdings" pitchFamily="2" charset="2"/>
              <a:buChar char="ü"/>
              <a:defRPr/>
            </a:pPr>
            <a:r>
              <a:rPr lang="en-US" sz="2800" dirty="0"/>
              <a:t>Deposit a message into the mailbox (POST)</a:t>
            </a:r>
          </a:p>
          <a:p>
            <a:pPr eaLnBrk="1" hangingPunct="1">
              <a:lnSpc>
                <a:spcPct val="80000"/>
              </a:lnSpc>
              <a:buFont typeface="Wingdings" pitchFamily="2" charset="2"/>
              <a:buChar char="ü"/>
              <a:defRPr/>
            </a:pPr>
            <a:r>
              <a:rPr lang="en-US" sz="2800" dirty="0"/>
              <a:t>Wait for a message to be deposited into the mailbox (PEND)</a:t>
            </a:r>
          </a:p>
          <a:p>
            <a:pPr eaLnBrk="1" hangingPunct="1">
              <a:lnSpc>
                <a:spcPct val="80000"/>
              </a:lnSpc>
              <a:buFont typeface="Wingdings" pitchFamily="2" charset="2"/>
              <a:buChar char="ü"/>
              <a:defRPr/>
            </a:pPr>
            <a:r>
              <a:rPr lang="en-US" sz="2800" dirty="0"/>
              <a:t>Get a message from a mailbox if existing (ACCEPT)</a:t>
            </a:r>
          </a:p>
          <a:p>
            <a:pPr eaLnBrk="1" hangingPunct="1">
              <a:lnSpc>
                <a:spcPct val="80000"/>
              </a:lnSpc>
              <a:buFont typeface="Wingdings" pitchFamily="2" charset="2"/>
              <a:buChar char="ü"/>
              <a:defRPr/>
            </a:pPr>
            <a:r>
              <a:rPr lang="en-US" sz="2800" dirty="0"/>
              <a:t>A provision for one message-write per box and the next message to be accepted only if the previous one is read.</a:t>
            </a:r>
          </a:p>
          <a:p>
            <a:pPr eaLnBrk="1" hangingPunct="1">
              <a:lnSpc>
                <a:spcPct val="80000"/>
              </a:lnSpc>
              <a:buFont typeface="Wingdings" pitchFamily="2" charset="2"/>
              <a:buChar char="ü"/>
              <a:defRPr/>
            </a:pPr>
            <a:r>
              <a:rPr lang="en-US" sz="2800" dirty="0"/>
              <a:t>A mailbox with a provision for only one message per box becomes full with one message.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p:txBody>
          <a:bodyPr/>
          <a:lstStyle/>
          <a:p>
            <a:pPr eaLnBrk="1" hangingPunct="1">
              <a:defRPr/>
            </a:pPr>
            <a:r>
              <a:rPr lang="en-US"/>
              <a:t>Mailbox management functions</a:t>
            </a:r>
          </a:p>
        </p:txBody>
      </p:sp>
      <p:sp>
        <p:nvSpPr>
          <p:cNvPr id="14339" name="Rectangle 3"/>
          <p:cNvSpPr>
            <a:spLocks noGrp="1"/>
          </p:cNvSpPr>
          <p:nvPr>
            <p:ph type="body" idx="1"/>
          </p:nvPr>
        </p:nvSpPr>
        <p:spPr>
          <a:xfrm>
            <a:off x="1295400" y="1600200"/>
            <a:ext cx="7620000" cy="4800600"/>
          </a:xfrm>
        </p:spPr>
        <p:txBody>
          <a:bodyPr/>
          <a:lstStyle/>
          <a:p>
            <a:pPr eaLnBrk="1" hangingPunct="1">
              <a:defRPr/>
            </a:pPr>
            <a:r>
              <a:rPr lang="en-US" dirty="0"/>
              <a:t>Create a mailbox   -- </a:t>
            </a:r>
            <a:r>
              <a:rPr lang="en-US" dirty="0" err="1"/>
              <a:t>RTOS_BoxCreate</a:t>
            </a:r>
            <a:endParaRPr lang="en-US" dirty="0"/>
          </a:p>
          <a:p>
            <a:pPr eaLnBrk="1" hangingPunct="1">
              <a:defRPr/>
            </a:pPr>
            <a:r>
              <a:rPr lang="en-US" dirty="0"/>
              <a:t>Delete a mailbox   -- </a:t>
            </a:r>
            <a:r>
              <a:rPr lang="en-US" dirty="0" err="1"/>
              <a:t>RTOS_BoxDelete</a:t>
            </a:r>
            <a:endParaRPr lang="en-US" dirty="0"/>
          </a:p>
          <a:p>
            <a:pPr eaLnBrk="1" hangingPunct="1">
              <a:defRPr/>
            </a:pPr>
            <a:r>
              <a:rPr lang="en-US" dirty="0"/>
              <a:t>Query a mailbox – </a:t>
            </a:r>
            <a:r>
              <a:rPr lang="en-US" dirty="0" err="1"/>
              <a:t>RTOS_BoxQuery</a:t>
            </a:r>
            <a:endParaRPr lang="en-US" dirty="0"/>
          </a:p>
          <a:p>
            <a:pPr eaLnBrk="1" hangingPunct="1">
              <a:defRPr/>
            </a:pPr>
            <a:r>
              <a:rPr lang="en-US" dirty="0"/>
              <a:t>Wait for a mailbox – </a:t>
            </a:r>
            <a:r>
              <a:rPr lang="en-US" dirty="0" err="1"/>
              <a:t>RTOS_BoxWait</a:t>
            </a:r>
            <a:endParaRPr lang="en-US" dirty="0"/>
          </a:p>
          <a:p>
            <a:pPr eaLnBrk="1" hangingPunct="1">
              <a:defRPr/>
            </a:pPr>
            <a:r>
              <a:rPr lang="en-US" sz="2800" dirty="0"/>
              <a:t>Post a message into the mail box  -- </a:t>
            </a:r>
            <a:r>
              <a:rPr lang="en-US" sz="2800" dirty="0" err="1"/>
              <a:t>RTOS_BoxWrite</a:t>
            </a:r>
            <a:endParaRPr lang="en-US" sz="2800" dirty="0"/>
          </a:p>
          <a:p>
            <a:pPr eaLnBrk="1" hangingPunct="1">
              <a:defRPr/>
            </a:pPr>
            <a:r>
              <a:rPr lang="en-US" sz="2800" dirty="0"/>
              <a:t>Read a message from the mailbox – </a:t>
            </a:r>
            <a:r>
              <a:rPr lang="en-US" sz="2800" dirty="0" err="1"/>
              <a:t>RTOS_BoxAccept</a:t>
            </a:r>
            <a:endParaRPr lang="en-US" sz="2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Slide Number Placeholder 3"/>
          <p:cNvSpPr>
            <a:spLocks noGrp="1"/>
          </p:cNvSpPr>
          <p:nvPr>
            <p:ph type="sldNum" sz="quarter" idx="11"/>
          </p:nvPr>
        </p:nvSpPr>
        <p:spPr/>
        <p:txBody>
          <a:bodyPr/>
          <a:lstStyle/>
          <a:p>
            <a:pPr>
              <a:defRPr/>
            </a:pPr>
            <a:fld id="{3AFF65CE-8A07-4A33-9E32-0466FFBD11FC}" type="slidenum">
              <a:rPr lang="en-US"/>
              <a:pPr>
                <a:defRPr/>
              </a:pPr>
              <a:t>60</a:t>
            </a:fld>
            <a:endParaRPr lang="en-US"/>
          </a:p>
        </p:txBody>
      </p:sp>
      <p:sp>
        <p:nvSpPr>
          <p:cNvPr id="47108" name="Rectangle 2"/>
          <p:cNvSpPr>
            <a:spLocks noGrp="1" noChangeArrowheads="1"/>
          </p:cNvSpPr>
          <p:nvPr>
            <p:ph type="title"/>
          </p:nvPr>
        </p:nvSpPr>
        <p:spPr>
          <a:xfrm>
            <a:off x="457200" y="292100"/>
            <a:ext cx="8229600" cy="774700"/>
          </a:xfrm>
        </p:spPr>
        <p:txBody>
          <a:bodyPr/>
          <a:lstStyle/>
          <a:p>
            <a:pPr eaLnBrk="1" hangingPunct="1">
              <a:defRPr/>
            </a:pPr>
            <a:r>
              <a:rPr lang="en-US" dirty="0"/>
              <a:t>Mailboxes</a:t>
            </a:r>
          </a:p>
        </p:txBody>
      </p:sp>
      <p:sp>
        <p:nvSpPr>
          <p:cNvPr id="24582" name="Text Box 7"/>
          <p:cNvSpPr txBox="1">
            <a:spLocks noChangeArrowheads="1"/>
          </p:cNvSpPr>
          <p:nvPr/>
        </p:nvSpPr>
        <p:spPr bwMode="auto">
          <a:xfrm>
            <a:off x="533400" y="3124200"/>
            <a:ext cx="8077200" cy="369888"/>
          </a:xfrm>
          <a:prstGeom prst="rect">
            <a:avLst/>
          </a:prstGeom>
          <a:noFill/>
          <a:ln w="9525">
            <a:noFill/>
            <a:miter lim="800000"/>
            <a:headEnd/>
            <a:tailEnd/>
          </a:ln>
        </p:spPr>
        <p:txBody>
          <a:bodyPr>
            <a:spAutoFit/>
          </a:bodyPr>
          <a:lstStyle/>
          <a:p>
            <a:pPr algn="ctr">
              <a:spcBef>
                <a:spcPct val="50000"/>
              </a:spcBef>
            </a:pPr>
            <a:r>
              <a:rPr lang="en-US" b="1"/>
              <a:t>Task resource request table.</a:t>
            </a:r>
            <a:r>
              <a:rPr lang="en-US"/>
              <a:t> </a:t>
            </a:r>
          </a:p>
        </p:txBody>
      </p:sp>
      <p:sp>
        <p:nvSpPr>
          <p:cNvPr id="24583" name="Text Box 8"/>
          <p:cNvSpPr txBox="1">
            <a:spLocks noChangeArrowheads="1"/>
          </p:cNvSpPr>
          <p:nvPr/>
        </p:nvSpPr>
        <p:spPr bwMode="auto">
          <a:xfrm>
            <a:off x="1143000" y="5334000"/>
            <a:ext cx="7620000" cy="338138"/>
          </a:xfrm>
          <a:prstGeom prst="rect">
            <a:avLst/>
          </a:prstGeom>
          <a:noFill/>
          <a:ln w="9525">
            <a:noFill/>
            <a:miter lim="800000"/>
            <a:headEnd/>
            <a:tailEnd/>
          </a:ln>
        </p:spPr>
        <p:txBody>
          <a:bodyPr>
            <a:spAutoFit/>
          </a:bodyPr>
          <a:lstStyle/>
          <a:p>
            <a:pPr algn="ctr">
              <a:spcBef>
                <a:spcPct val="50000"/>
              </a:spcBef>
            </a:pPr>
            <a:r>
              <a:rPr lang="en-US" sz="1600" b="1" dirty="0"/>
              <a:t>Resource table used in conjunction with task resource request table.</a:t>
            </a:r>
            <a:r>
              <a:rPr lang="en-US" sz="1600" dirty="0"/>
              <a:t> </a:t>
            </a:r>
          </a:p>
        </p:txBody>
      </p:sp>
      <p:pic>
        <p:nvPicPr>
          <p:cNvPr id="8" name="Picture 5"/>
          <p:cNvPicPr>
            <a:picLocks noChangeAspect="1" noChangeArrowheads="1"/>
          </p:cNvPicPr>
          <p:nvPr/>
        </p:nvPicPr>
        <p:blipFill>
          <a:blip r:embed="rId3" cstate="print"/>
          <a:srcRect/>
          <a:stretch>
            <a:fillRect/>
          </a:stretch>
        </p:blipFill>
        <p:spPr bwMode="auto">
          <a:xfrm>
            <a:off x="1143000" y="1600200"/>
            <a:ext cx="7767637" cy="1320800"/>
          </a:xfrm>
          <a:prstGeom prst="rect">
            <a:avLst/>
          </a:prstGeom>
          <a:noFill/>
          <a:ln w="9525">
            <a:noFill/>
            <a:miter lim="800000"/>
            <a:headEnd/>
            <a:tailEnd/>
          </a:ln>
        </p:spPr>
      </p:pic>
      <p:pic>
        <p:nvPicPr>
          <p:cNvPr id="10" name="Picture 6"/>
          <p:cNvPicPr>
            <a:picLocks noChangeAspect="1" noChangeArrowheads="1"/>
          </p:cNvPicPr>
          <p:nvPr/>
        </p:nvPicPr>
        <p:blipFill>
          <a:blip r:embed="rId4" cstate="print"/>
          <a:srcRect/>
          <a:stretch>
            <a:fillRect/>
          </a:stretch>
        </p:blipFill>
        <p:spPr bwMode="auto">
          <a:xfrm>
            <a:off x="1600200" y="3810000"/>
            <a:ext cx="7083425" cy="1308100"/>
          </a:xfrm>
          <a:prstGeom prst="rect">
            <a:avLst/>
          </a:prstGeom>
          <a:noFill/>
          <a:ln w="9525">
            <a:noFill/>
            <a:miter lim="800000"/>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p:txBody>
          <a:bodyPr/>
          <a:lstStyle/>
          <a:p>
            <a:pPr>
              <a:defRPr/>
            </a:pPr>
            <a:r>
              <a:rPr lang="en-US" sz="4000" b="1" u="sng" dirty="0"/>
              <a:t>4.6.2.2. 2</a:t>
            </a:r>
            <a:r>
              <a:rPr lang="en-US" sz="4000" b="1" dirty="0"/>
              <a:t> </a:t>
            </a:r>
            <a:r>
              <a:rPr lang="en-US" dirty="0"/>
              <a:t>Message queue</a:t>
            </a:r>
          </a:p>
        </p:txBody>
      </p:sp>
      <p:sp>
        <p:nvSpPr>
          <p:cNvPr id="15363" name="Rectangle 3"/>
          <p:cNvSpPr>
            <a:spLocks noGrp="1"/>
          </p:cNvSpPr>
          <p:nvPr>
            <p:ph type="body" idx="1"/>
          </p:nvPr>
        </p:nvSpPr>
        <p:spPr>
          <a:xfrm>
            <a:off x="1435608" y="1447800"/>
            <a:ext cx="7498080" cy="5029200"/>
          </a:xfrm>
        </p:spPr>
        <p:txBody>
          <a:bodyPr/>
          <a:lstStyle/>
          <a:p>
            <a:pPr eaLnBrk="1" hangingPunct="1">
              <a:buFont typeface="Wingdings" pitchFamily="2" charset="2"/>
              <a:buChar char="Ø"/>
              <a:defRPr/>
            </a:pPr>
            <a:r>
              <a:rPr lang="en-US" dirty="0"/>
              <a:t>Message queue is used to send one or more messages to a task.</a:t>
            </a:r>
          </a:p>
          <a:p>
            <a:pPr eaLnBrk="1" hangingPunct="1">
              <a:buFont typeface="Wingdings" pitchFamily="2" charset="2"/>
              <a:buChar char="Ø"/>
              <a:defRPr/>
            </a:pPr>
            <a:r>
              <a:rPr lang="en-US" dirty="0"/>
              <a:t>It is basically an array of mailboxes.</a:t>
            </a:r>
          </a:p>
          <a:p>
            <a:pPr eaLnBrk="1" hangingPunct="1">
              <a:buFont typeface="Wingdings" pitchFamily="2" charset="2"/>
              <a:buChar char="Ø"/>
              <a:defRPr/>
            </a:pPr>
            <a:r>
              <a:rPr lang="en-US" dirty="0"/>
              <a:t>Waiting</a:t>
            </a:r>
          </a:p>
          <a:p>
            <a:pPr eaLnBrk="1" hangingPunct="1">
              <a:buFont typeface="Wingdings" pitchFamily="2" charset="2"/>
              <a:buChar char="Ø"/>
              <a:defRPr/>
            </a:pPr>
            <a:r>
              <a:rPr lang="en-US" dirty="0"/>
              <a:t>Timeout option</a:t>
            </a:r>
          </a:p>
          <a:p>
            <a:pPr eaLnBrk="1" hangingPunct="1">
              <a:buFont typeface="Wingdings" pitchFamily="2" charset="2"/>
              <a:buChar char="Ø"/>
              <a:defRPr/>
            </a:pPr>
            <a:r>
              <a:rPr lang="en-US" sz="2800" dirty="0"/>
              <a:t>Some operating systems support </a:t>
            </a:r>
            <a:r>
              <a:rPr lang="en-US" sz="2800" dirty="0" err="1">
                <a:latin typeface="Courier" pitchFamily="49" charset="0"/>
              </a:rPr>
              <a:t>qpost</a:t>
            </a:r>
            <a:r>
              <a:rPr lang="en-US" sz="2800" dirty="0"/>
              <a:t>, </a:t>
            </a:r>
            <a:r>
              <a:rPr lang="en-US" sz="2800" dirty="0" err="1">
                <a:latin typeface="Courier" pitchFamily="49" charset="0"/>
              </a:rPr>
              <a:t>qpend</a:t>
            </a:r>
            <a:r>
              <a:rPr lang="en-US" sz="2800" dirty="0"/>
              <a:t>, and </a:t>
            </a:r>
            <a:r>
              <a:rPr lang="en-US" sz="2800" dirty="0" err="1">
                <a:latin typeface="Courier" pitchFamily="49" charset="0"/>
              </a:rPr>
              <a:t>qaccept</a:t>
            </a:r>
            <a:r>
              <a:rPr lang="en-US" sz="2800" dirty="0"/>
              <a:t> operations.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p:txBody>
          <a:bodyPr/>
          <a:lstStyle/>
          <a:p>
            <a:pPr eaLnBrk="1" hangingPunct="1">
              <a:defRPr/>
            </a:pPr>
            <a:r>
              <a:rPr lang="en-US"/>
              <a:t>Features of message queues</a:t>
            </a:r>
          </a:p>
        </p:txBody>
      </p:sp>
      <p:sp>
        <p:nvSpPr>
          <p:cNvPr id="16387" name="Rectangle 3"/>
          <p:cNvSpPr>
            <a:spLocks noGrp="1"/>
          </p:cNvSpPr>
          <p:nvPr>
            <p:ph type="body" idx="1"/>
          </p:nvPr>
        </p:nvSpPr>
        <p:spPr/>
        <p:txBody>
          <a:bodyPr/>
          <a:lstStyle/>
          <a:p>
            <a:pPr marL="609600" indent="-609600" eaLnBrk="1" hangingPunct="1">
              <a:buFontTx/>
              <a:buAutoNum type="arabicPeriod"/>
              <a:defRPr/>
            </a:pPr>
            <a:r>
              <a:rPr lang="en-US"/>
              <a:t>Either one process (task) or a set of processes (tasks) can use the queue.</a:t>
            </a:r>
          </a:p>
          <a:p>
            <a:pPr marL="609600" indent="-609600" eaLnBrk="1" hangingPunct="1">
              <a:buFontTx/>
              <a:buAutoNum type="arabicPeriod"/>
              <a:defRPr/>
            </a:pPr>
            <a:r>
              <a:rPr lang="en-US"/>
              <a:t>A read (deletion) operation from a queue is in a FIFO mode.</a:t>
            </a:r>
          </a:p>
          <a:p>
            <a:pPr marL="609600" indent="-609600" eaLnBrk="1" hangingPunct="1">
              <a:buFontTx/>
              <a:buAutoNum type="arabicPeriod"/>
              <a:defRPr/>
            </a:pPr>
            <a:r>
              <a:rPr lang="en-US"/>
              <a:t>Generally the queue is a circular queue and the read is like a ring of bytes in a buffer.</a:t>
            </a:r>
          </a:p>
          <a:p>
            <a:pPr marL="609600" indent="-609600" eaLnBrk="1" hangingPunct="1">
              <a:buFontTx/>
              <a:buAutoNum type="arabicPeriod"/>
              <a:defRPr/>
            </a:pPr>
            <a:r>
              <a:rPr lang="en-US"/>
              <a:t>For reading, one can assign priorities.</a:t>
            </a:r>
          </a:p>
          <a:p>
            <a:pPr marL="609600" indent="-609600" eaLnBrk="1" hangingPunct="1">
              <a:buFontTx/>
              <a:buAutoNum type="arabicPeriod"/>
              <a:defRPr/>
            </a:pPr>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xfrm>
            <a:off x="1435608" y="274638"/>
            <a:ext cx="7498080" cy="639762"/>
          </a:xfrm>
        </p:spPr>
        <p:txBody>
          <a:bodyPr>
            <a:normAutofit fontScale="90000"/>
          </a:bodyPr>
          <a:lstStyle/>
          <a:p>
            <a:pPr eaLnBrk="1" hangingPunct="1">
              <a:defRPr/>
            </a:pPr>
            <a:r>
              <a:rPr lang="en-US" dirty="0"/>
              <a:t>Continued..</a:t>
            </a:r>
          </a:p>
        </p:txBody>
      </p:sp>
      <p:sp>
        <p:nvSpPr>
          <p:cNvPr id="18435" name="Rectangle 3"/>
          <p:cNvSpPr>
            <a:spLocks noGrp="1"/>
          </p:cNvSpPr>
          <p:nvPr>
            <p:ph type="body" idx="1"/>
          </p:nvPr>
        </p:nvSpPr>
        <p:spPr>
          <a:xfrm>
            <a:off x="1143000" y="914400"/>
            <a:ext cx="7790688" cy="5715000"/>
          </a:xfrm>
        </p:spPr>
        <p:txBody>
          <a:bodyPr>
            <a:normAutofit/>
          </a:bodyPr>
          <a:lstStyle/>
          <a:p>
            <a:pPr eaLnBrk="1" hangingPunct="1">
              <a:buNone/>
              <a:defRPr/>
            </a:pPr>
            <a:r>
              <a:rPr lang="en-US" dirty="0"/>
              <a:t>At the time of creating a queue, the queue is given a</a:t>
            </a:r>
          </a:p>
          <a:p>
            <a:pPr lvl="5">
              <a:buFont typeface="Wingdings" pitchFamily="2" charset="2"/>
              <a:buChar char="ü"/>
              <a:defRPr/>
            </a:pPr>
            <a:r>
              <a:rPr lang="en-US" sz="2600" dirty="0"/>
              <a:t>Name or ID</a:t>
            </a:r>
          </a:p>
          <a:p>
            <a:pPr lvl="5">
              <a:buFont typeface="Wingdings" pitchFamily="2" charset="2"/>
              <a:buChar char="ü"/>
              <a:defRPr/>
            </a:pPr>
            <a:r>
              <a:rPr lang="en-US" sz="2600" dirty="0"/>
              <a:t>Queue length</a:t>
            </a:r>
          </a:p>
          <a:p>
            <a:pPr lvl="5">
              <a:buFont typeface="Wingdings" pitchFamily="2" charset="2"/>
              <a:buChar char="ü"/>
              <a:defRPr/>
            </a:pPr>
            <a:r>
              <a:rPr lang="en-US" sz="2600" dirty="0"/>
              <a:t>Sending task waiting list</a:t>
            </a:r>
          </a:p>
          <a:p>
            <a:pPr lvl="5">
              <a:buFont typeface="Wingdings" pitchFamily="2" charset="2"/>
              <a:buChar char="ü"/>
              <a:defRPr/>
            </a:pPr>
            <a:r>
              <a:rPr lang="en-US" sz="2600" dirty="0"/>
              <a:t>Receiving task waiting list</a:t>
            </a:r>
          </a:p>
          <a:p>
            <a:pPr>
              <a:buNone/>
              <a:defRPr/>
            </a:pPr>
            <a:r>
              <a:rPr lang="en-US" dirty="0"/>
              <a:t>Applications of message queues</a:t>
            </a:r>
          </a:p>
          <a:p>
            <a:pPr lvl="1">
              <a:buFont typeface="Wingdings" pitchFamily="2" charset="2"/>
              <a:buChar char="Ø"/>
              <a:defRPr/>
            </a:pPr>
            <a:r>
              <a:rPr lang="en-US" dirty="0"/>
              <a:t>Taking the input from a keyboard</a:t>
            </a:r>
          </a:p>
          <a:p>
            <a:pPr lvl="1">
              <a:buFont typeface="Wingdings" pitchFamily="2" charset="2"/>
              <a:buChar char="Ø"/>
              <a:defRPr/>
            </a:pPr>
            <a:r>
              <a:rPr lang="en-US" dirty="0"/>
              <a:t>To display the output</a:t>
            </a:r>
          </a:p>
          <a:p>
            <a:pPr lvl="1">
              <a:buFont typeface="Wingdings" pitchFamily="2" charset="2"/>
              <a:buChar char="Ø"/>
              <a:defRPr/>
            </a:pPr>
            <a:r>
              <a:rPr lang="en-US" dirty="0"/>
              <a:t>Reading voltages from sensors or transducers</a:t>
            </a:r>
          </a:p>
          <a:p>
            <a:pPr lvl="1">
              <a:buFont typeface="Wingdings" pitchFamily="2" charset="2"/>
              <a:buChar char="Ø"/>
              <a:defRPr/>
            </a:pPr>
            <a:r>
              <a:rPr lang="en-US" dirty="0"/>
              <a:t>Data packet transmission in a network</a:t>
            </a:r>
          </a:p>
          <a:p>
            <a:pPr>
              <a:buNone/>
              <a:defRPr/>
            </a:pP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p:txBody>
          <a:bodyPr/>
          <a:lstStyle/>
          <a:p>
            <a:pPr eaLnBrk="1" hangingPunct="1">
              <a:defRPr/>
            </a:pPr>
            <a:r>
              <a:rPr lang="en-US"/>
              <a:t>Types</a:t>
            </a:r>
          </a:p>
        </p:txBody>
      </p:sp>
      <p:sp>
        <p:nvSpPr>
          <p:cNvPr id="21507" name="Rectangle 3"/>
          <p:cNvSpPr>
            <a:spLocks noGrp="1"/>
          </p:cNvSpPr>
          <p:nvPr>
            <p:ph type="body" idx="1"/>
          </p:nvPr>
        </p:nvSpPr>
        <p:spPr/>
        <p:txBody>
          <a:bodyPr/>
          <a:lstStyle/>
          <a:p>
            <a:pPr eaLnBrk="1" hangingPunct="1">
              <a:defRPr/>
            </a:pPr>
            <a:r>
              <a:rPr lang="en-US" dirty="0"/>
              <a:t>One way comm. With </a:t>
            </a:r>
            <a:r>
              <a:rPr lang="en-US" dirty="0" err="1"/>
              <a:t>Ack</a:t>
            </a:r>
            <a:endParaRPr lang="en-US" dirty="0"/>
          </a:p>
          <a:p>
            <a:pPr eaLnBrk="1" hangingPunct="1">
              <a:defRPr/>
            </a:pPr>
            <a:r>
              <a:rPr lang="en-US" dirty="0"/>
              <a:t>Two-way comm.</a:t>
            </a:r>
          </a:p>
          <a:p>
            <a:pPr eaLnBrk="1" hangingPunct="1">
              <a:defRPr/>
            </a:pPr>
            <a:r>
              <a:rPr lang="en-US" dirty="0"/>
              <a:t>Broadcasting</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a:xfrm>
            <a:off x="1435608" y="274638"/>
            <a:ext cx="7498080" cy="792162"/>
          </a:xfrm>
        </p:spPr>
        <p:txBody>
          <a:bodyPr>
            <a:normAutofit fontScale="90000"/>
          </a:bodyPr>
          <a:lstStyle/>
          <a:p>
            <a:pPr eaLnBrk="1" hangingPunct="1">
              <a:defRPr/>
            </a:pPr>
            <a:r>
              <a:rPr lang="en-US" dirty="0"/>
              <a:t>One way communication with </a:t>
            </a:r>
            <a:r>
              <a:rPr lang="en-US" dirty="0" err="1"/>
              <a:t>ack</a:t>
            </a:r>
            <a:endParaRPr lang="en-US" dirty="0"/>
          </a:p>
        </p:txBody>
      </p:sp>
      <p:sp>
        <p:nvSpPr>
          <p:cNvPr id="22531" name="Rectangle 3"/>
          <p:cNvSpPr>
            <a:spLocks noGrp="1"/>
          </p:cNvSpPr>
          <p:nvPr>
            <p:ph type="body" idx="1"/>
          </p:nvPr>
        </p:nvSpPr>
        <p:spPr>
          <a:xfrm>
            <a:off x="1435608" y="1066800"/>
            <a:ext cx="7498080" cy="5181600"/>
          </a:xfrm>
        </p:spPr>
        <p:txBody>
          <a:bodyPr/>
          <a:lstStyle/>
          <a:p>
            <a:pPr marL="82296" indent="0" eaLnBrk="1" hangingPunct="1">
              <a:buNone/>
              <a:defRPr/>
            </a:pPr>
            <a:r>
              <a:rPr lang="en-US" dirty="0"/>
              <a:t>.</a:t>
            </a:r>
          </a:p>
        </p:txBody>
      </p:sp>
      <p:sp>
        <p:nvSpPr>
          <p:cNvPr id="33796" name="Rectangle 4"/>
          <p:cNvSpPr>
            <a:spLocks noChangeArrowheads="1"/>
          </p:cNvSpPr>
          <p:nvPr/>
        </p:nvSpPr>
        <p:spPr bwMode="auto">
          <a:xfrm>
            <a:off x="3048000" y="1676400"/>
            <a:ext cx="3429000" cy="1524000"/>
          </a:xfrm>
          <a:prstGeom prst="rect">
            <a:avLst/>
          </a:prstGeom>
          <a:solidFill>
            <a:schemeClr val="accent2"/>
          </a:solidFill>
          <a:ln w="9525">
            <a:solidFill>
              <a:schemeClr val="tx1"/>
            </a:solidFill>
            <a:miter lim="800000"/>
            <a:headEnd/>
            <a:tailEnd/>
          </a:ln>
        </p:spPr>
        <p:txBody>
          <a:bodyPr wrap="none" anchor="ctr"/>
          <a:lstStyle/>
          <a:p>
            <a:endParaRPr lang="en-US"/>
          </a:p>
        </p:txBody>
      </p:sp>
      <p:sp>
        <p:nvSpPr>
          <p:cNvPr id="33797" name="Rectangle 5"/>
          <p:cNvSpPr>
            <a:spLocks noChangeArrowheads="1"/>
          </p:cNvSpPr>
          <p:nvPr/>
        </p:nvSpPr>
        <p:spPr bwMode="auto">
          <a:xfrm>
            <a:off x="1143000" y="4191000"/>
            <a:ext cx="1676400" cy="838200"/>
          </a:xfrm>
          <a:prstGeom prst="rect">
            <a:avLst/>
          </a:prstGeom>
          <a:solidFill>
            <a:schemeClr val="accent1"/>
          </a:solidFill>
          <a:ln w="9525">
            <a:solidFill>
              <a:schemeClr val="tx1"/>
            </a:solidFill>
            <a:miter lim="800000"/>
            <a:headEnd/>
            <a:tailEnd/>
          </a:ln>
        </p:spPr>
        <p:txBody>
          <a:bodyPr wrap="none" anchor="ctr"/>
          <a:lstStyle/>
          <a:p>
            <a:pPr algn="ctr"/>
            <a:r>
              <a:rPr lang="en-US"/>
              <a:t>Task 1</a:t>
            </a:r>
          </a:p>
        </p:txBody>
      </p:sp>
      <p:sp>
        <p:nvSpPr>
          <p:cNvPr id="33798" name="Rectangle 6"/>
          <p:cNvSpPr>
            <a:spLocks noChangeArrowheads="1"/>
          </p:cNvSpPr>
          <p:nvPr/>
        </p:nvSpPr>
        <p:spPr bwMode="auto">
          <a:xfrm>
            <a:off x="6477000" y="4191000"/>
            <a:ext cx="1752600" cy="914400"/>
          </a:xfrm>
          <a:prstGeom prst="rect">
            <a:avLst/>
          </a:prstGeom>
          <a:solidFill>
            <a:schemeClr val="accent1"/>
          </a:solidFill>
          <a:ln w="9525">
            <a:solidFill>
              <a:schemeClr val="tx1"/>
            </a:solidFill>
            <a:miter lim="800000"/>
            <a:headEnd/>
            <a:tailEnd/>
          </a:ln>
        </p:spPr>
        <p:txBody>
          <a:bodyPr wrap="none" anchor="ctr"/>
          <a:lstStyle/>
          <a:p>
            <a:pPr algn="ctr"/>
            <a:r>
              <a:rPr lang="en-US" dirty="0"/>
              <a:t>Task 2</a:t>
            </a:r>
          </a:p>
        </p:txBody>
      </p:sp>
      <p:sp>
        <p:nvSpPr>
          <p:cNvPr id="33799" name="Line 7"/>
          <p:cNvSpPr>
            <a:spLocks noChangeShapeType="1"/>
          </p:cNvSpPr>
          <p:nvPr/>
        </p:nvSpPr>
        <p:spPr bwMode="auto">
          <a:xfrm flipV="1">
            <a:off x="1676400" y="2590800"/>
            <a:ext cx="1143000" cy="1371600"/>
          </a:xfrm>
          <a:prstGeom prst="line">
            <a:avLst/>
          </a:prstGeom>
          <a:noFill/>
          <a:ln w="9525">
            <a:solidFill>
              <a:schemeClr val="tx1"/>
            </a:solidFill>
            <a:round/>
            <a:headEnd/>
            <a:tailEnd type="triangle" w="med" len="med"/>
          </a:ln>
        </p:spPr>
        <p:txBody>
          <a:bodyPr/>
          <a:lstStyle/>
          <a:p>
            <a:endParaRPr lang="en-US"/>
          </a:p>
        </p:txBody>
      </p:sp>
      <p:sp>
        <p:nvSpPr>
          <p:cNvPr id="33800" name="Line 8"/>
          <p:cNvSpPr>
            <a:spLocks noChangeShapeType="1"/>
          </p:cNvSpPr>
          <p:nvPr/>
        </p:nvSpPr>
        <p:spPr bwMode="auto">
          <a:xfrm>
            <a:off x="6629400" y="2667000"/>
            <a:ext cx="1143000" cy="1371600"/>
          </a:xfrm>
          <a:prstGeom prst="line">
            <a:avLst/>
          </a:prstGeom>
          <a:noFill/>
          <a:ln w="9525">
            <a:solidFill>
              <a:schemeClr val="tx1"/>
            </a:solidFill>
            <a:round/>
            <a:headEnd/>
            <a:tailEnd type="triangle" w="med" len="med"/>
          </a:ln>
        </p:spPr>
        <p:txBody>
          <a:bodyPr/>
          <a:lstStyle/>
          <a:p>
            <a:endParaRPr lang="en-US"/>
          </a:p>
        </p:txBody>
      </p:sp>
      <p:sp>
        <p:nvSpPr>
          <p:cNvPr id="33801" name="Text Box 9"/>
          <p:cNvSpPr txBox="1">
            <a:spLocks noChangeArrowheads="1"/>
          </p:cNvSpPr>
          <p:nvPr/>
        </p:nvSpPr>
        <p:spPr bwMode="auto">
          <a:xfrm>
            <a:off x="3962400" y="5410200"/>
            <a:ext cx="1447800" cy="641350"/>
          </a:xfrm>
          <a:prstGeom prst="rect">
            <a:avLst/>
          </a:prstGeom>
          <a:noFill/>
          <a:ln w="9525">
            <a:noFill/>
            <a:miter lim="800000"/>
            <a:headEnd/>
            <a:tailEnd/>
          </a:ln>
        </p:spPr>
        <p:txBody>
          <a:bodyPr>
            <a:spAutoFit/>
          </a:bodyPr>
          <a:lstStyle/>
          <a:p>
            <a:pPr>
              <a:spcBef>
                <a:spcPct val="50000"/>
              </a:spcBef>
            </a:pPr>
            <a:r>
              <a:rPr lang="en-US"/>
              <a:t>  semaphore</a:t>
            </a:r>
          </a:p>
        </p:txBody>
      </p:sp>
      <p:sp>
        <p:nvSpPr>
          <p:cNvPr id="33802" name="Line 10"/>
          <p:cNvSpPr>
            <a:spLocks noChangeShapeType="1"/>
          </p:cNvSpPr>
          <p:nvPr/>
        </p:nvSpPr>
        <p:spPr bwMode="auto">
          <a:xfrm flipH="1" flipV="1">
            <a:off x="2209800" y="5181600"/>
            <a:ext cx="1752600" cy="685800"/>
          </a:xfrm>
          <a:prstGeom prst="line">
            <a:avLst/>
          </a:prstGeom>
          <a:noFill/>
          <a:ln w="9525">
            <a:solidFill>
              <a:schemeClr val="tx1"/>
            </a:solidFill>
            <a:round/>
            <a:headEnd/>
            <a:tailEnd type="triangle" w="med" len="med"/>
          </a:ln>
        </p:spPr>
        <p:txBody>
          <a:bodyPr/>
          <a:lstStyle/>
          <a:p>
            <a:endParaRPr lang="en-US"/>
          </a:p>
        </p:txBody>
      </p:sp>
      <p:sp>
        <p:nvSpPr>
          <p:cNvPr id="33803" name="Line 11"/>
          <p:cNvSpPr>
            <a:spLocks noChangeShapeType="1"/>
          </p:cNvSpPr>
          <p:nvPr/>
        </p:nvSpPr>
        <p:spPr bwMode="auto">
          <a:xfrm flipH="1">
            <a:off x="5334000" y="5257800"/>
            <a:ext cx="2133600" cy="609600"/>
          </a:xfrm>
          <a:prstGeom prst="line">
            <a:avLst/>
          </a:prstGeom>
          <a:noFill/>
          <a:ln w="9525">
            <a:solidFill>
              <a:schemeClr val="tx1"/>
            </a:solidFill>
            <a:round/>
            <a:headEnd/>
            <a:tailEnd type="triangle" w="med" len="med"/>
          </a:ln>
        </p:spPr>
        <p:txBody>
          <a:bodyPr/>
          <a:lstStyle/>
          <a:p>
            <a:endParaRPr lang="en-US"/>
          </a:p>
        </p:txBody>
      </p:sp>
      <p:sp>
        <p:nvSpPr>
          <p:cNvPr id="33804" name="Line 12"/>
          <p:cNvSpPr>
            <a:spLocks noChangeShapeType="1"/>
          </p:cNvSpPr>
          <p:nvPr/>
        </p:nvSpPr>
        <p:spPr bwMode="auto">
          <a:xfrm>
            <a:off x="3886200" y="1676400"/>
            <a:ext cx="0" cy="1447800"/>
          </a:xfrm>
          <a:prstGeom prst="line">
            <a:avLst/>
          </a:prstGeom>
          <a:noFill/>
          <a:ln w="9525">
            <a:solidFill>
              <a:schemeClr val="tx1"/>
            </a:solidFill>
            <a:round/>
            <a:headEnd/>
            <a:tailEnd/>
          </a:ln>
        </p:spPr>
        <p:txBody>
          <a:bodyPr/>
          <a:lstStyle/>
          <a:p>
            <a:endParaRPr lang="en-US"/>
          </a:p>
        </p:txBody>
      </p:sp>
      <p:sp>
        <p:nvSpPr>
          <p:cNvPr id="33805" name="Line 13"/>
          <p:cNvSpPr>
            <a:spLocks noChangeShapeType="1"/>
          </p:cNvSpPr>
          <p:nvPr/>
        </p:nvSpPr>
        <p:spPr bwMode="auto">
          <a:xfrm>
            <a:off x="4724400" y="1676400"/>
            <a:ext cx="0" cy="1447800"/>
          </a:xfrm>
          <a:prstGeom prst="line">
            <a:avLst/>
          </a:prstGeom>
          <a:noFill/>
          <a:ln w="9525">
            <a:solidFill>
              <a:schemeClr val="tx1"/>
            </a:solidFill>
            <a:round/>
            <a:headEnd/>
            <a:tailEnd/>
          </a:ln>
        </p:spPr>
        <p:txBody>
          <a:bodyPr/>
          <a:lstStyle/>
          <a:p>
            <a:endParaRPr lang="en-US"/>
          </a:p>
        </p:txBody>
      </p:sp>
      <p:sp>
        <p:nvSpPr>
          <p:cNvPr id="33806" name="Line 14"/>
          <p:cNvSpPr>
            <a:spLocks noChangeShapeType="1"/>
          </p:cNvSpPr>
          <p:nvPr/>
        </p:nvSpPr>
        <p:spPr bwMode="auto">
          <a:xfrm>
            <a:off x="5562600" y="1676400"/>
            <a:ext cx="0" cy="1524000"/>
          </a:xfrm>
          <a:prstGeom prst="line">
            <a:avLst/>
          </a:prstGeom>
          <a:noFill/>
          <a:ln w="9525">
            <a:solidFill>
              <a:schemeClr val="tx1"/>
            </a:solidFill>
            <a:round/>
            <a:headEnd/>
            <a:tailEnd/>
          </a:ln>
        </p:spPr>
        <p:txBody>
          <a:bodyPr/>
          <a:lstStyle/>
          <a:p>
            <a:endParaRPr lang="en-US"/>
          </a:p>
        </p:txBody>
      </p:sp>
      <p:sp>
        <p:nvSpPr>
          <p:cNvPr id="33807" name="Text Box 17"/>
          <p:cNvSpPr txBox="1">
            <a:spLocks noChangeArrowheads="1"/>
          </p:cNvSpPr>
          <p:nvPr/>
        </p:nvSpPr>
        <p:spPr bwMode="auto">
          <a:xfrm>
            <a:off x="3810000" y="3429000"/>
            <a:ext cx="2133600" cy="366713"/>
          </a:xfrm>
          <a:prstGeom prst="rect">
            <a:avLst/>
          </a:prstGeom>
          <a:noFill/>
          <a:ln w="9525">
            <a:noFill/>
            <a:miter lim="800000"/>
            <a:headEnd/>
            <a:tailEnd/>
          </a:ln>
        </p:spPr>
        <p:txBody>
          <a:bodyPr>
            <a:spAutoFit/>
          </a:bodyPr>
          <a:lstStyle/>
          <a:p>
            <a:pPr>
              <a:spcBef>
                <a:spcPct val="50000"/>
              </a:spcBef>
            </a:pPr>
            <a:r>
              <a:rPr lang="en-US"/>
              <a:t>Message queue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p:txBody>
          <a:bodyPr/>
          <a:lstStyle/>
          <a:p>
            <a:pPr eaLnBrk="1" hangingPunct="1">
              <a:defRPr/>
            </a:pPr>
            <a:r>
              <a:rPr lang="en-US"/>
              <a:t>Two way communication</a:t>
            </a:r>
          </a:p>
        </p:txBody>
      </p:sp>
      <p:sp>
        <p:nvSpPr>
          <p:cNvPr id="23555" name="Rectangle 3"/>
          <p:cNvSpPr>
            <a:spLocks noGrp="1"/>
          </p:cNvSpPr>
          <p:nvPr>
            <p:ph type="body" idx="1"/>
          </p:nvPr>
        </p:nvSpPr>
        <p:spPr/>
        <p:txBody>
          <a:bodyPr/>
          <a:lstStyle/>
          <a:p>
            <a:pPr marL="82296" indent="0" eaLnBrk="1" hangingPunct="1">
              <a:buNone/>
              <a:defRPr/>
            </a:pPr>
            <a:r>
              <a:rPr lang="en-US" dirty="0"/>
              <a:t>.</a:t>
            </a:r>
          </a:p>
        </p:txBody>
      </p:sp>
      <p:sp>
        <p:nvSpPr>
          <p:cNvPr id="34820" name="Rectangle 4"/>
          <p:cNvSpPr>
            <a:spLocks noChangeArrowheads="1"/>
          </p:cNvSpPr>
          <p:nvPr/>
        </p:nvSpPr>
        <p:spPr bwMode="auto">
          <a:xfrm>
            <a:off x="3048000" y="1676400"/>
            <a:ext cx="3429000" cy="1524000"/>
          </a:xfrm>
          <a:prstGeom prst="rect">
            <a:avLst/>
          </a:prstGeom>
          <a:solidFill>
            <a:schemeClr val="accent2"/>
          </a:solidFill>
          <a:ln w="9525">
            <a:solidFill>
              <a:schemeClr val="tx1"/>
            </a:solidFill>
            <a:miter lim="800000"/>
            <a:headEnd/>
            <a:tailEnd/>
          </a:ln>
        </p:spPr>
        <p:txBody>
          <a:bodyPr wrap="none" anchor="ctr"/>
          <a:lstStyle/>
          <a:p>
            <a:endParaRPr lang="en-US"/>
          </a:p>
        </p:txBody>
      </p:sp>
      <p:sp>
        <p:nvSpPr>
          <p:cNvPr id="34821" name="Rectangle 5"/>
          <p:cNvSpPr>
            <a:spLocks noChangeArrowheads="1"/>
          </p:cNvSpPr>
          <p:nvPr/>
        </p:nvSpPr>
        <p:spPr bwMode="auto">
          <a:xfrm>
            <a:off x="1143000" y="3505200"/>
            <a:ext cx="1676400" cy="838200"/>
          </a:xfrm>
          <a:prstGeom prst="rect">
            <a:avLst/>
          </a:prstGeom>
          <a:solidFill>
            <a:schemeClr val="accent1"/>
          </a:solidFill>
          <a:ln w="9525">
            <a:solidFill>
              <a:schemeClr val="tx1"/>
            </a:solidFill>
            <a:miter lim="800000"/>
            <a:headEnd/>
            <a:tailEnd/>
          </a:ln>
        </p:spPr>
        <p:txBody>
          <a:bodyPr wrap="none" anchor="ctr"/>
          <a:lstStyle/>
          <a:p>
            <a:pPr algn="ctr"/>
            <a:r>
              <a:rPr lang="en-US"/>
              <a:t>Task 1</a:t>
            </a:r>
          </a:p>
        </p:txBody>
      </p:sp>
      <p:sp>
        <p:nvSpPr>
          <p:cNvPr id="34822" name="Rectangle 6"/>
          <p:cNvSpPr>
            <a:spLocks noChangeArrowheads="1"/>
          </p:cNvSpPr>
          <p:nvPr/>
        </p:nvSpPr>
        <p:spPr bwMode="auto">
          <a:xfrm>
            <a:off x="6477000" y="3505200"/>
            <a:ext cx="1752600" cy="914400"/>
          </a:xfrm>
          <a:prstGeom prst="rect">
            <a:avLst/>
          </a:prstGeom>
          <a:solidFill>
            <a:schemeClr val="accent1"/>
          </a:solidFill>
          <a:ln w="9525">
            <a:solidFill>
              <a:schemeClr val="tx1"/>
            </a:solidFill>
            <a:miter lim="800000"/>
            <a:headEnd/>
            <a:tailEnd/>
          </a:ln>
        </p:spPr>
        <p:txBody>
          <a:bodyPr wrap="none" anchor="ctr"/>
          <a:lstStyle/>
          <a:p>
            <a:pPr algn="ctr"/>
            <a:r>
              <a:rPr lang="en-US"/>
              <a:t>Task 2</a:t>
            </a:r>
          </a:p>
        </p:txBody>
      </p:sp>
      <p:sp>
        <p:nvSpPr>
          <p:cNvPr id="34823" name="Line 7"/>
          <p:cNvSpPr>
            <a:spLocks noChangeShapeType="1"/>
          </p:cNvSpPr>
          <p:nvPr/>
        </p:nvSpPr>
        <p:spPr bwMode="auto">
          <a:xfrm flipV="1">
            <a:off x="2057400" y="2590800"/>
            <a:ext cx="762000" cy="762000"/>
          </a:xfrm>
          <a:prstGeom prst="line">
            <a:avLst/>
          </a:prstGeom>
          <a:noFill/>
          <a:ln w="9525">
            <a:solidFill>
              <a:schemeClr val="tx1"/>
            </a:solidFill>
            <a:round/>
            <a:headEnd/>
            <a:tailEnd type="triangle" w="med" len="med"/>
          </a:ln>
        </p:spPr>
        <p:txBody>
          <a:bodyPr/>
          <a:lstStyle/>
          <a:p>
            <a:endParaRPr lang="en-US"/>
          </a:p>
        </p:txBody>
      </p:sp>
      <p:sp>
        <p:nvSpPr>
          <p:cNvPr id="34824" name="Line 8"/>
          <p:cNvSpPr>
            <a:spLocks noChangeShapeType="1"/>
          </p:cNvSpPr>
          <p:nvPr/>
        </p:nvSpPr>
        <p:spPr bwMode="auto">
          <a:xfrm>
            <a:off x="6629400" y="2667000"/>
            <a:ext cx="609600" cy="762000"/>
          </a:xfrm>
          <a:prstGeom prst="line">
            <a:avLst/>
          </a:prstGeom>
          <a:noFill/>
          <a:ln w="9525">
            <a:solidFill>
              <a:schemeClr val="tx1"/>
            </a:solidFill>
            <a:round/>
            <a:headEnd/>
            <a:tailEnd type="triangle" w="med" len="med"/>
          </a:ln>
        </p:spPr>
        <p:txBody>
          <a:bodyPr/>
          <a:lstStyle/>
          <a:p>
            <a:endParaRPr lang="en-US"/>
          </a:p>
        </p:txBody>
      </p:sp>
      <p:sp>
        <p:nvSpPr>
          <p:cNvPr id="34825" name="Line 10"/>
          <p:cNvSpPr>
            <a:spLocks noChangeShapeType="1"/>
          </p:cNvSpPr>
          <p:nvPr/>
        </p:nvSpPr>
        <p:spPr bwMode="auto">
          <a:xfrm flipH="1" flipV="1">
            <a:off x="2057400" y="4419600"/>
            <a:ext cx="838200" cy="457200"/>
          </a:xfrm>
          <a:prstGeom prst="line">
            <a:avLst/>
          </a:prstGeom>
          <a:noFill/>
          <a:ln w="9525">
            <a:solidFill>
              <a:schemeClr val="tx1"/>
            </a:solidFill>
            <a:round/>
            <a:headEnd/>
            <a:tailEnd type="triangle" w="med" len="med"/>
          </a:ln>
        </p:spPr>
        <p:txBody>
          <a:bodyPr/>
          <a:lstStyle/>
          <a:p>
            <a:endParaRPr lang="en-US"/>
          </a:p>
        </p:txBody>
      </p:sp>
      <p:sp>
        <p:nvSpPr>
          <p:cNvPr id="34826" name="Line 11"/>
          <p:cNvSpPr>
            <a:spLocks noChangeShapeType="1"/>
          </p:cNvSpPr>
          <p:nvPr/>
        </p:nvSpPr>
        <p:spPr bwMode="auto">
          <a:xfrm flipH="1">
            <a:off x="6324600" y="4495800"/>
            <a:ext cx="914400" cy="381000"/>
          </a:xfrm>
          <a:prstGeom prst="line">
            <a:avLst/>
          </a:prstGeom>
          <a:noFill/>
          <a:ln w="9525">
            <a:solidFill>
              <a:schemeClr val="tx1"/>
            </a:solidFill>
            <a:round/>
            <a:headEnd/>
            <a:tailEnd type="triangle" w="med" len="med"/>
          </a:ln>
        </p:spPr>
        <p:txBody>
          <a:bodyPr/>
          <a:lstStyle/>
          <a:p>
            <a:endParaRPr lang="en-US"/>
          </a:p>
        </p:txBody>
      </p:sp>
      <p:sp>
        <p:nvSpPr>
          <p:cNvPr id="34827" name="Line 12"/>
          <p:cNvSpPr>
            <a:spLocks noChangeShapeType="1"/>
          </p:cNvSpPr>
          <p:nvPr/>
        </p:nvSpPr>
        <p:spPr bwMode="auto">
          <a:xfrm>
            <a:off x="3886200" y="1676400"/>
            <a:ext cx="0" cy="1447800"/>
          </a:xfrm>
          <a:prstGeom prst="line">
            <a:avLst/>
          </a:prstGeom>
          <a:noFill/>
          <a:ln w="9525">
            <a:solidFill>
              <a:schemeClr val="tx1"/>
            </a:solidFill>
            <a:round/>
            <a:headEnd/>
            <a:tailEnd/>
          </a:ln>
        </p:spPr>
        <p:txBody>
          <a:bodyPr/>
          <a:lstStyle/>
          <a:p>
            <a:endParaRPr lang="en-US"/>
          </a:p>
        </p:txBody>
      </p:sp>
      <p:sp>
        <p:nvSpPr>
          <p:cNvPr id="34828" name="Line 13"/>
          <p:cNvSpPr>
            <a:spLocks noChangeShapeType="1"/>
          </p:cNvSpPr>
          <p:nvPr/>
        </p:nvSpPr>
        <p:spPr bwMode="auto">
          <a:xfrm>
            <a:off x="4724400" y="1676400"/>
            <a:ext cx="0" cy="1447800"/>
          </a:xfrm>
          <a:prstGeom prst="line">
            <a:avLst/>
          </a:prstGeom>
          <a:noFill/>
          <a:ln w="9525">
            <a:solidFill>
              <a:schemeClr val="tx1"/>
            </a:solidFill>
            <a:round/>
            <a:headEnd/>
            <a:tailEnd/>
          </a:ln>
        </p:spPr>
        <p:txBody>
          <a:bodyPr/>
          <a:lstStyle/>
          <a:p>
            <a:endParaRPr lang="en-US"/>
          </a:p>
        </p:txBody>
      </p:sp>
      <p:sp>
        <p:nvSpPr>
          <p:cNvPr id="34829" name="Line 14"/>
          <p:cNvSpPr>
            <a:spLocks noChangeShapeType="1"/>
          </p:cNvSpPr>
          <p:nvPr/>
        </p:nvSpPr>
        <p:spPr bwMode="auto">
          <a:xfrm>
            <a:off x="5562600" y="1676400"/>
            <a:ext cx="0" cy="1524000"/>
          </a:xfrm>
          <a:prstGeom prst="line">
            <a:avLst/>
          </a:prstGeom>
          <a:noFill/>
          <a:ln w="9525">
            <a:solidFill>
              <a:schemeClr val="tx1"/>
            </a:solidFill>
            <a:round/>
            <a:headEnd/>
            <a:tailEnd/>
          </a:ln>
        </p:spPr>
        <p:txBody>
          <a:bodyPr/>
          <a:lstStyle/>
          <a:p>
            <a:endParaRPr lang="en-US"/>
          </a:p>
        </p:txBody>
      </p:sp>
      <p:sp>
        <p:nvSpPr>
          <p:cNvPr id="34830" name="Text Box 15"/>
          <p:cNvSpPr txBox="1">
            <a:spLocks noChangeArrowheads="1"/>
          </p:cNvSpPr>
          <p:nvPr/>
        </p:nvSpPr>
        <p:spPr bwMode="auto">
          <a:xfrm>
            <a:off x="3810000" y="3429000"/>
            <a:ext cx="2133600" cy="366713"/>
          </a:xfrm>
          <a:prstGeom prst="rect">
            <a:avLst/>
          </a:prstGeom>
          <a:noFill/>
          <a:ln w="9525">
            <a:noFill/>
            <a:miter lim="800000"/>
            <a:headEnd/>
            <a:tailEnd/>
          </a:ln>
        </p:spPr>
        <p:txBody>
          <a:bodyPr>
            <a:spAutoFit/>
          </a:bodyPr>
          <a:lstStyle/>
          <a:p>
            <a:pPr>
              <a:spcBef>
                <a:spcPct val="50000"/>
              </a:spcBef>
            </a:pPr>
            <a:r>
              <a:rPr lang="en-US"/>
              <a:t>Message queue</a:t>
            </a:r>
          </a:p>
        </p:txBody>
      </p:sp>
      <p:sp>
        <p:nvSpPr>
          <p:cNvPr id="34831" name="Rectangle 16"/>
          <p:cNvSpPr>
            <a:spLocks noChangeArrowheads="1"/>
          </p:cNvSpPr>
          <p:nvPr/>
        </p:nvSpPr>
        <p:spPr bwMode="auto">
          <a:xfrm>
            <a:off x="2895600" y="5029200"/>
            <a:ext cx="3429000" cy="1524000"/>
          </a:xfrm>
          <a:prstGeom prst="rect">
            <a:avLst/>
          </a:prstGeom>
          <a:solidFill>
            <a:schemeClr val="accent2"/>
          </a:solidFill>
          <a:ln w="9525">
            <a:solidFill>
              <a:schemeClr val="tx1"/>
            </a:solidFill>
            <a:miter lim="800000"/>
            <a:headEnd/>
            <a:tailEnd/>
          </a:ln>
        </p:spPr>
        <p:txBody>
          <a:bodyPr wrap="none" anchor="ctr"/>
          <a:lstStyle/>
          <a:p>
            <a:endParaRPr lang="en-US"/>
          </a:p>
        </p:txBody>
      </p:sp>
      <p:sp>
        <p:nvSpPr>
          <p:cNvPr id="34832" name="Line 17"/>
          <p:cNvSpPr>
            <a:spLocks noChangeShapeType="1"/>
          </p:cNvSpPr>
          <p:nvPr/>
        </p:nvSpPr>
        <p:spPr bwMode="auto">
          <a:xfrm>
            <a:off x="3810000" y="5029200"/>
            <a:ext cx="0" cy="1447800"/>
          </a:xfrm>
          <a:prstGeom prst="line">
            <a:avLst/>
          </a:prstGeom>
          <a:noFill/>
          <a:ln w="9525">
            <a:solidFill>
              <a:schemeClr val="tx1"/>
            </a:solidFill>
            <a:round/>
            <a:headEnd/>
            <a:tailEnd/>
          </a:ln>
        </p:spPr>
        <p:txBody>
          <a:bodyPr/>
          <a:lstStyle/>
          <a:p>
            <a:endParaRPr lang="en-US"/>
          </a:p>
        </p:txBody>
      </p:sp>
      <p:sp>
        <p:nvSpPr>
          <p:cNvPr id="34833" name="Line 18"/>
          <p:cNvSpPr>
            <a:spLocks noChangeShapeType="1"/>
          </p:cNvSpPr>
          <p:nvPr/>
        </p:nvSpPr>
        <p:spPr bwMode="auto">
          <a:xfrm>
            <a:off x="4724400" y="5029200"/>
            <a:ext cx="0" cy="1447800"/>
          </a:xfrm>
          <a:prstGeom prst="line">
            <a:avLst/>
          </a:prstGeom>
          <a:noFill/>
          <a:ln w="9525">
            <a:solidFill>
              <a:schemeClr val="tx1"/>
            </a:solidFill>
            <a:round/>
            <a:headEnd/>
            <a:tailEnd/>
          </a:ln>
        </p:spPr>
        <p:txBody>
          <a:bodyPr/>
          <a:lstStyle/>
          <a:p>
            <a:endParaRPr lang="en-US"/>
          </a:p>
        </p:txBody>
      </p:sp>
      <p:sp>
        <p:nvSpPr>
          <p:cNvPr id="34834" name="Line 19"/>
          <p:cNvSpPr>
            <a:spLocks noChangeShapeType="1"/>
          </p:cNvSpPr>
          <p:nvPr/>
        </p:nvSpPr>
        <p:spPr bwMode="auto">
          <a:xfrm>
            <a:off x="5562600" y="5029200"/>
            <a:ext cx="0" cy="1447800"/>
          </a:xfrm>
          <a:prstGeom prst="line">
            <a:avLst/>
          </a:prstGeom>
          <a:noFill/>
          <a:ln w="9525">
            <a:solidFill>
              <a:schemeClr val="tx1"/>
            </a:solidFill>
            <a:round/>
            <a:headEnd/>
            <a:tailEnd/>
          </a:ln>
        </p:spPr>
        <p:txBody>
          <a:bodyPr/>
          <a:lstStyle/>
          <a:p>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p:txBody>
          <a:bodyPr/>
          <a:lstStyle/>
          <a:p>
            <a:pPr eaLnBrk="1" hangingPunct="1">
              <a:defRPr/>
            </a:pPr>
            <a:r>
              <a:rPr lang="en-US"/>
              <a:t>Broadcasting</a:t>
            </a:r>
          </a:p>
        </p:txBody>
      </p:sp>
      <p:sp>
        <p:nvSpPr>
          <p:cNvPr id="24579" name="Rectangle 3"/>
          <p:cNvSpPr>
            <a:spLocks noGrp="1"/>
          </p:cNvSpPr>
          <p:nvPr>
            <p:ph type="body" idx="1"/>
          </p:nvPr>
        </p:nvSpPr>
        <p:spPr/>
        <p:txBody>
          <a:bodyPr/>
          <a:lstStyle/>
          <a:p>
            <a:pPr marL="82296" indent="0" eaLnBrk="1" hangingPunct="1">
              <a:buNone/>
              <a:defRPr/>
            </a:pPr>
            <a:r>
              <a:rPr lang="en-US" dirty="0"/>
              <a:t>.</a:t>
            </a:r>
          </a:p>
        </p:txBody>
      </p:sp>
      <p:sp>
        <p:nvSpPr>
          <p:cNvPr id="35844" name="Rectangle 4"/>
          <p:cNvSpPr>
            <a:spLocks noChangeArrowheads="1"/>
          </p:cNvSpPr>
          <p:nvPr/>
        </p:nvSpPr>
        <p:spPr bwMode="auto">
          <a:xfrm>
            <a:off x="3048000" y="1676400"/>
            <a:ext cx="3429000" cy="1524000"/>
          </a:xfrm>
          <a:prstGeom prst="rect">
            <a:avLst/>
          </a:prstGeom>
          <a:solidFill>
            <a:schemeClr val="accent2"/>
          </a:solidFill>
          <a:ln w="9525">
            <a:solidFill>
              <a:schemeClr val="tx1"/>
            </a:solidFill>
            <a:miter lim="800000"/>
            <a:headEnd/>
            <a:tailEnd/>
          </a:ln>
        </p:spPr>
        <p:txBody>
          <a:bodyPr wrap="none" anchor="ctr"/>
          <a:lstStyle/>
          <a:p>
            <a:endParaRPr lang="en-US"/>
          </a:p>
        </p:txBody>
      </p:sp>
      <p:sp>
        <p:nvSpPr>
          <p:cNvPr id="35845" name="Rectangle 5"/>
          <p:cNvSpPr>
            <a:spLocks noChangeArrowheads="1"/>
          </p:cNvSpPr>
          <p:nvPr/>
        </p:nvSpPr>
        <p:spPr bwMode="auto">
          <a:xfrm>
            <a:off x="1143000" y="4191000"/>
            <a:ext cx="1676400" cy="838200"/>
          </a:xfrm>
          <a:prstGeom prst="rect">
            <a:avLst/>
          </a:prstGeom>
          <a:solidFill>
            <a:schemeClr val="accent1"/>
          </a:solidFill>
          <a:ln w="9525">
            <a:solidFill>
              <a:schemeClr val="tx1"/>
            </a:solidFill>
            <a:miter lim="800000"/>
            <a:headEnd/>
            <a:tailEnd/>
          </a:ln>
        </p:spPr>
        <p:txBody>
          <a:bodyPr wrap="none" anchor="ctr"/>
          <a:lstStyle/>
          <a:p>
            <a:pPr algn="ctr"/>
            <a:r>
              <a:rPr lang="en-US"/>
              <a:t>Task </a:t>
            </a:r>
          </a:p>
        </p:txBody>
      </p:sp>
      <p:sp>
        <p:nvSpPr>
          <p:cNvPr id="35846" name="Rectangle 6"/>
          <p:cNvSpPr>
            <a:spLocks noChangeArrowheads="1"/>
          </p:cNvSpPr>
          <p:nvPr/>
        </p:nvSpPr>
        <p:spPr bwMode="auto">
          <a:xfrm>
            <a:off x="6629400" y="3581400"/>
            <a:ext cx="1676400" cy="609600"/>
          </a:xfrm>
          <a:prstGeom prst="rect">
            <a:avLst/>
          </a:prstGeom>
          <a:solidFill>
            <a:schemeClr val="accent1"/>
          </a:solidFill>
          <a:ln w="9525">
            <a:solidFill>
              <a:schemeClr val="tx1"/>
            </a:solidFill>
            <a:miter lim="800000"/>
            <a:headEnd/>
            <a:tailEnd/>
          </a:ln>
        </p:spPr>
        <p:txBody>
          <a:bodyPr wrap="none" anchor="ctr"/>
          <a:lstStyle/>
          <a:p>
            <a:pPr algn="ctr"/>
            <a:r>
              <a:rPr lang="en-US"/>
              <a:t>Task </a:t>
            </a:r>
          </a:p>
        </p:txBody>
      </p:sp>
      <p:sp>
        <p:nvSpPr>
          <p:cNvPr id="35847" name="Line 7"/>
          <p:cNvSpPr>
            <a:spLocks noChangeShapeType="1"/>
          </p:cNvSpPr>
          <p:nvPr/>
        </p:nvSpPr>
        <p:spPr bwMode="auto">
          <a:xfrm flipV="1">
            <a:off x="1676400" y="2590800"/>
            <a:ext cx="1143000" cy="1371600"/>
          </a:xfrm>
          <a:prstGeom prst="line">
            <a:avLst/>
          </a:prstGeom>
          <a:noFill/>
          <a:ln w="9525">
            <a:solidFill>
              <a:schemeClr val="tx1"/>
            </a:solidFill>
            <a:round/>
            <a:headEnd/>
            <a:tailEnd type="triangle" w="med" len="med"/>
          </a:ln>
        </p:spPr>
        <p:txBody>
          <a:bodyPr/>
          <a:lstStyle/>
          <a:p>
            <a:endParaRPr lang="en-US"/>
          </a:p>
        </p:txBody>
      </p:sp>
      <p:sp>
        <p:nvSpPr>
          <p:cNvPr id="35848" name="Line 8"/>
          <p:cNvSpPr>
            <a:spLocks noChangeShapeType="1"/>
          </p:cNvSpPr>
          <p:nvPr/>
        </p:nvSpPr>
        <p:spPr bwMode="auto">
          <a:xfrm>
            <a:off x="6553200" y="2362200"/>
            <a:ext cx="914400" cy="1066800"/>
          </a:xfrm>
          <a:prstGeom prst="line">
            <a:avLst/>
          </a:prstGeom>
          <a:noFill/>
          <a:ln w="9525">
            <a:solidFill>
              <a:schemeClr val="tx1"/>
            </a:solidFill>
            <a:round/>
            <a:headEnd/>
            <a:tailEnd type="triangle" w="med" len="med"/>
          </a:ln>
        </p:spPr>
        <p:txBody>
          <a:bodyPr/>
          <a:lstStyle/>
          <a:p>
            <a:endParaRPr lang="en-US"/>
          </a:p>
        </p:txBody>
      </p:sp>
      <p:sp>
        <p:nvSpPr>
          <p:cNvPr id="35849" name="Line 12"/>
          <p:cNvSpPr>
            <a:spLocks noChangeShapeType="1"/>
          </p:cNvSpPr>
          <p:nvPr/>
        </p:nvSpPr>
        <p:spPr bwMode="auto">
          <a:xfrm>
            <a:off x="3886200" y="1676400"/>
            <a:ext cx="0" cy="1447800"/>
          </a:xfrm>
          <a:prstGeom prst="line">
            <a:avLst/>
          </a:prstGeom>
          <a:noFill/>
          <a:ln w="9525">
            <a:solidFill>
              <a:schemeClr val="tx1"/>
            </a:solidFill>
            <a:round/>
            <a:headEnd/>
            <a:tailEnd/>
          </a:ln>
        </p:spPr>
        <p:txBody>
          <a:bodyPr/>
          <a:lstStyle/>
          <a:p>
            <a:endParaRPr lang="en-US"/>
          </a:p>
        </p:txBody>
      </p:sp>
      <p:sp>
        <p:nvSpPr>
          <p:cNvPr id="35850" name="Line 13"/>
          <p:cNvSpPr>
            <a:spLocks noChangeShapeType="1"/>
          </p:cNvSpPr>
          <p:nvPr/>
        </p:nvSpPr>
        <p:spPr bwMode="auto">
          <a:xfrm>
            <a:off x="4724400" y="1676400"/>
            <a:ext cx="0" cy="1447800"/>
          </a:xfrm>
          <a:prstGeom prst="line">
            <a:avLst/>
          </a:prstGeom>
          <a:noFill/>
          <a:ln w="9525">
            <a:solidFill>
              <a:schemeClr val="tx1"/>
            </a:solidFill>
            <a:round/>
            <a:headEnd/>
            <a:tailEnd/>
          </a:ln>
        </p:spPr>
        <p:txBody>
          <a:bodyPr/>
          <a:lstStyle/>
          <a:p>
            <a:endParaRPr lang="en-US"/>
          </a:p>
        </p:txBody>
      </p:sp>
      <p:sp>
        <p:nvSpPr>
          <p:cNvPr id="35851" name="Line 14"/>
          <p:cNvSpPr>
            <a:spLocks noChangeShapeType="1"/>
          </p:cNvSpPr>
          <p:nvPr/>
        </p:nvSpPr>
        <p:spPr bwMode="auto">
          <a:xfrm>
            <a:off x="5562600" y="1676400"/>
            <a:ext cx="0" cy="1524000"/>
          </a:xfrm>
          <a:prstGeom prst="line">
            <a:avLst/>
          </a:prstGeom>
          <a:noFill/>
          <a:ln w="9525">
            <a:solidFill>
              <a:schemeClr val="tx1"/>
            </a:solidFill>
            <a:round/>
            <a:headEnd/>
            <a:tailEnd/>
          </a:ln>
        </p:spPr>
        <p:txBody>
          <a:bodyPr/>
          <a:lstStyle/>
          <a:p>
            <a:endParaRPr lang="en-US"/>
          </a:p>
        </p:txBody>
      </p:sp>
      <p:sp>
        <p:nvSpPr>
          <p:cNvPr id="35852" name="Text Box 15"/>
          <p:cNvSpPr txBox="1">
            <a:spLocks noChangeArrowheads="1"/>
          </p:cNvSpPr>
          <p:nvPr/>
        </p:nvSpPr>
        <p:spPr bwMode="auto">
          <a:xfrm>
            <a:off x="3810000" y="3429000"/>
            <a:ext cx="2133600" cy="366713"/>
          </a:xfrm>
          <a:prstGeom prst="rect">
            <a:avLst/>
          </a:prstGeom>
          <a:noFill/>
          <a:ln w="9525">
            <a:noFill/>
            <a:miter lim="800000"/>
            <a:headEnd/>
            <a:tailEnd/>
          </a:ln>
        </p:spPr>
        <p:txBody>
          <a:bodyPr>
            <a:spAutoFit/>
          </a:bodyPr>
          <a:lstStyle/>
          <a:p>
            <a:pPr>
              <a:spcBef>
                <a:spcPct val="50000"/>
              </a:spcBef>
            </a:pPr>
            <a:r>
              <a:rPr lang="en-US"/>
              <a:t>Message queue</a:t>
            </a:r>
          </a:p>
        </p:txBody>
      </p:sp>
      <p:sp>
        <p:nvSpPr>
          <p:cNvPr id="35853" name="Rectangle 16"/>
          <p:cNvSpPr>
            <a:spLocks noChangeArrowheads="1"/>
          </p:cNvSpPr>
          <p:nvPr/>
        </p:nvSpPr>
        <p:spPr bwMode="auto">
          <a:xfrm>
            <a:off x="6629400" y="4495800"/>
            <a:ext cx="1676400" cy="609600"/>
          </a:xfrm>
          <a:prstGeom prst="rect">
            <a:avLst/>
          </a:prstGeom>
          <a:solidFill>
            <a:schemeClr val="accent1"/>
          </a:solidFill>
          <a:ln w="9525">
            <a:solidFill>
              <a:schemeClr val="tx1"/>
            </a:solidFill>
            <a:miter lim="800000"/>
            <a:headEnd/>
            <a:tailEnd/>
          </a:ln>
        </p:spPr>
        <p:txBody>
          <a:bodyPr wrap="none" anchor="ctr"/>
          <a:lstStyle/>
          <a:p>
            <a:pPr algn="ctr"/>
            <a:r>
              <a:rPr lang="en-US"/>
              <a:t>Task </a:t>
            </a:r>
          </a:p>
        </p:txBody>
      </p:sp>
      <p:sp>
        <p:nvSpPr>
          <p:cNvPr id="35854" name="Rectangle 17"/>
          <p:cNvSpPr>
            <a:spLocks noChangeArrowheads="1"/>
          </p:cNvSpPr>
          <p:nvPr/>
        </p:nvSpPr>
        <p:spPr bwMode="auto">
          <a:xfrm>
            <a:off x="6629400" y="5334000"/>
            <a:ext cx="1676400" cy="609600"/>
          </a:xfrm>
          <a:prstGeom prst="rect">
            <a:avLst/>
          </a:prstGeom>
          <a:solidFill>
            <a:schemeClr val="accent1"/>
          </a:solidFill>
          <a:ln w="9525">
            <a:solidFill>
              <a:schemeClr val="tx1"/>
            </a:solidFill>
            <a:miter lim="800000"/>
            <a:headEnd/>
            <a:tailEnd/>
          </a:ln>
        </p:spPr>
        <p:txBody>
          <a:bodyPr wrap="none" anchor="ctr"/>
          <a:lstStyle/>
          <a:p>
            <a:pPr algn="ctr"/>
            <a:r>
              <a:rPr lang="en-US"/>
              <a:t>Task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p:txBody>
          <a:bodyPr/>
          <a:lstStyle/>
          <a:p>
            <a:pPr eaLnBrk="1" hangingPunct="1">
              <a:defRPr/>
            </a:pPr>
            <a:r>
              <a:rPr lang="en-US"/>
              <a:t>Kernel message queue services</a:t>
            </a:r>
          </a:p>
        </p:txBody>
      </p:sp>
      <p:sp>
        <p:nvSpPr>
          <p:cNvPr id="25603" name="Rectangle 3"/>
          <p:cNvSpPr>
            <a:spLocks noGrp="1"/>
          </p:cNvSpPr>
          <p:nvPr>
            <p:ph type="body" idx="1"/>
          </p:nvPr>
        </p:nvSpPr>
        <p:spPr/>
        <p:txBody>
          <a:bodyPr/>
          <a:lstStyle/>
          <a:p>
            <a:pPr eaLnBrk="1" hangingPunct="1">
              <a:defRPr/>
            </a:pPr>
            <a:r>
              <a:rPr lang="en-US"/>
              <a:t>Initialize a queue. It is always assumed to be empty after initialization.</a:t>
            </a:r>
          </a:p>
          <a:p>
            <a:pPr eaLnBrk="1" hangingPunct="1">
              <a:defRPr/>
            </a:pPr>
            <a:r>
              <a:rPr lang="en-US"/>
              <a:t>Deposit a message into the queue (POST) </a:t>
            </a:r>
          </a:p>
          <a:p>
            <a:pPr eaLnBrk="1" hangingPunct="1">
              <a:defRPr/>
            </a:pPr>
            <a:r>
              <a:rPr lang="en-US"/>
              <a:t>Wait for a message to be deposited into the queue (PEND)</a:t>
            </a:r>
          </a:p>
          <a:p>
            <a:pPr eaLnBrk="1" hangingPunct="1">
              <a:defRPr/>
            </a:pPr>
            <a:r>
              <a:rPr lang="en-US"/>
              <a:t>Get a message from a queue (ACCEPT)</a:t>
            </a:r>
          </a:p>
          <a:p>
            <a:pPr eaLnBrk="1" hangingPunct="1">
              <a:defRPr/>
            </a:pPr>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p:txBody>
          <a:bodyPr>
            <a:normAutofit fontScale="90000"/>
          </a:bodyPr>
          <a:lstStyle/>
          <a:p>
            <a:pPr eaLnBrk="1" hangingPunct="1">
              <a:defRPr/>
            </a:pPr>
            <a:r>
              <a:rPr lang="en-US" sz="4000"/>
              <a:t>Message queue management functions</a:t>
            </a:r>
          </a:p>
        </p:txBody>
      </p:sp>
      <p:sp>
        <p:nvSpPr>
          <p:cNvPr id="26627" name="Rectangle 3"/>
          <p:cNvSpPr>
            <a:spLocks noGrp="1"/>
          </p:cNvSpPr>
          <p:nvPr>
            <p:ph type="body" idx="1"/>
          </p:nvPr>
        </p:nvSpPr>
        <p:spPr/>
        <p:txBody>
          <a:bodyPr/>
          <a:lstStyle/>
          <a:p>
            <a:pPr eaLnBrk="1" hangingPunct="1">
              <a:lnSpc>
                <a:spcPct val="90000"/>
              </a:lnSpc>
              <a:defRPr/>
            </a:pPr>
            <a:r>
              <a:rPr lang="en-US" sz="2800" dirty="0"/>
              <a:t>Create a queue -- </a:t>
            </a:r>
            <a:r>
              <a:rPr lang="en-US" sz="2800" dirty="0" err="1"/>
              <a:t>RTOS_Qcreate</a:t>
            </a:r>
            <a:endParaRPr lang="en-US" sz="2800" dirty="0"/>
          </a:p>
          <a:p>
            <a:pPr eaLnBrk="1" hangingPunct="1">
              <a:lnSpc>
                <a:spcPct val="90000"/>
              </a:lnSpc>
              <a:defRPr/>
            </a:pPr>
            <a:r>
              <a:rPr lang="en-US" sz="2800" dirty="0"/>
              <a:t>Delete a queue </a:t>
            </a:r>
          </a:p>
          <a:p>
            <a:pPr eaLnBrk="1" hangingPunct="1">
              <a:lnSpc>
                <a:spcPct val="90000"/>
              </a:lnSpc>
              <a:defRPr/>
            </a:pPr>
            <a:r>
              <a:rPr lang="en-US" sz="2800" dirty="0"/>
              <a:t>Flush a queue --</a:t>
            </a:r>
            <a:r>
              <a:rPr lang="en-US" sz="2800" dirty="0" err="1"/>
              <a:t>RTOS_Qflush</a:t>
            </a:r>
            <a:endParaRPr lang="en-US" sz="2800" dirty="0"/>
          </a:p>
          <a:p>
            <a:pPr eaLnBrk="1" hangingPunct="1">
              <a:lnSpc>
                <a:spcPct val="90000"/>
              </a:lnSpc>
              <a:defRPr/>
            </a:pPr>
            <a:r>
              <a:rPr lang="en-US" sz="2800" dirty="0"/>
              <a:t>Post a message in queue  – </a:t>
            </a:r>
            <a:r>
              <a:rPr lang="en-US" sz="2800" dirty="0" err="1"/>
              <a:t>RTOS_Qwrite</a:t>
            </a:r>
            <a:endParaRPr lang="en-US" sz="2800" dirty="0"/>
          </a:p>
          <a:p>
            <a:pPr eaLnBrk="1" hangingPunct="1">
              <a:lnSpc>
                <a:spcPct val="90000"/>
              </a:lnSpc>
              <a:defRPr/>
            </a:pPr>
            <a:r>
              <a:rPr lang="en-US" sz="2800" dirty="0"/>
              <a:t>Post a message in front of queue -- </a:t>
            </a:r>
            <a:r>
              <a:rPr lang="en-US" sz="2800" dirty="0" err="1"/>
              <a:t>RTOS_Qpostfront</a:t>
            </a:r>
            <a:endParaRPr lang="en-US" sz="2800" dirty="0"/>
          </a:p>
          <a:p>
            <a:pPr eaLnBrk="1" hangingPunct="1">
              <a:lnSpc>
                <a:spcPct val="90000"/>
              </a:lnSpc>
              <a:defRPr/>
            </a:pPr>
            <a:r>
              <a:rPr lang="en-US" sz="2800" dirty="0"/>
              <a:t>Read message from queue -- </a:t>
            </a:r>
            <a:r>
              <a:rPr lang="en-US" sz="2800" dirty="0" err="1"/>
              <a:t>RTOS_Qaccept</a:t>
            </a:r>
            <a:endParaRPr lang="en-US" sz="2800" dirty="0"/>
          </a:p>
          <a:p>
            <a:pPr eaLnBrk="1" hangingPunct="1">
              <a:lnSpc>
                <a:spcPct val="90000"/>
              </a:lnSpc>
              <a:defRPr/>
            </a:pPr>
            <a:r>
              <a:rPr lang="en-US" sz="2800" dirty="0"/>
              <a:t>Broadcast a message</a:t>
            </a:r>
          </a:p>
          <a:p>
            <a:pPr eaLnBrk="1" hangingPunct="1">
              <a:lnSpc>
                <a:spcPct val="90000"/>
              </a:lnSpc>
              <a:defRPr/>
            </a:pPr>
            <a:r>
              <a:rPr lang="en-US" sz="2800" dirty="0"/>
              <a:t>Show queue information</a:t>
            </a:r>
          </a:p>
          <a:p>
            <a:pPr eaLnBrk="1" hangingPunct="1">
              <a:lnSpc>
                <a:spcPct val="90000"/>
              </a:lnSpc>
              <a:defRPr/>
            </a:pPr>
            <a:r>
              <a:rPr lang="en-US" sz="2800" dirty="0"/>
              <a:t>Show queue waiting list – </a:t>
            </a:r>
            <a:r>
              <a:rPr lang="en-US" sz="2800" dirty="0" err="1"/>
              <a:t>RTOS_Qwait</a:t>
            </a:r>
            <a:endParaRPr lang="en-US" sz="2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Slide Number Placeholder 4"/>
          <p:cNvSpPr>
            <a:spLocks noGrp="1"/>
          </p:cNvSpPr>
          <p:nvPr>
            <p:ph type="sldNum" sz="quarter" idx="11"/>
          </p:nvPr>
        </p:nvSpPr>
        <p:spPr/>
        <p:txBody>
          <a:bodyPr/>
          <a:lstStyle/>
          <a:p>
            <a:pPr>
              <a:defRPr/>
            </a:pPr>
            <a:fld id="{D2F96AFE-9D84-49A1-B4B9-5087D6A0737B}" type="slidenum">
              <a:rPr lang="en-US"/>
              <a:pPr>
                <a:defRPr/>
              </a:pPr>
              <a:t>70</a:t>
            </a:fld>
            <a:endParaRPr lang="en-US"/>
          </a:p>
        </p:txBody>
      </p:sp>
      <p:sp>
        <p:nvSpPr>
          <p:cNvPr id="39940" name="Rectangle 2"/>
          <p:cNvSpPr>
            <a:spLocks noGrp="1" noChangeArrowheads="1"/>
          </p:cNvSpPr>
          <p:nvPr>
            <p:ph type="title"/>
          </p:nvPr>
        </p:nvSpPr>
        <p:spPr>
          <a:xfrm>
            <a:off x="1143000" y="76200"/>
            <a:ext cx="7543800" cy="762000"/>
          </a:xfrm>
        </p:spPr>
        <p:txBody>
          <a:bodyPr/>
          <a:lstStyle/>
          <a:p>
            <a:pPr eaLnBrk="1" hangingPunct="1">
              <a:defRPr/>
            </a:pPr>
            <a:r>
              <a:rPr lang="en-US" dirty="0"/>
              <a:t>Buffering data</a:t>
            </a:r>
          </a:p>
        </p:txBody>
      </p:sp>
      <p:sp>
        <p:nvSpPr>
          <p:cNvPr id="39941" name="Rectangle 3"/>
          <p:cNvSpPr>
            <a:spLocks noGrp="1" noChangeArrowheads="1"/>
          </p:cNvSpPr>
          <p:nvPr>
            <p:ph type="body" idx="1"/>
          </p:nvPr>
        </p:nvSpPr>
        <p:spPr>
          <a:xfrm>
            <a:off x="990600" y="838200"/>
            <a:ext cx="7848600" cy="5867400"/>
          </a:xfrm>
        </p:spPr>
        <p:txBody>
          <a:bodyPr>
            <a:normAutofit lnSpcReduction="10000"/>
          </a:bodyPr>
          <a:lstStyle/>
          <a:p>
            <a:pPr eaLnBrk="1" hangingPunct="1">
              <a:lnSpc>
                <a:spcPct val="80000"/>
              </a:lnSpc>
              <a:defRPr/>
            </a:pPr>
            <a:r>
              <a:rPr lang="en-US" sz="2400" dirty="0"/>
              <a:t>Mechanisms are needed to pass data between tasks in a multitasking system when production and consumption rates are unequal.</a:t>
            </a:r>
          </a:p>
          <a:p>
            <a:pPr eaLnBrk="1" hangingPunct="1">
              <a:lnSpc>
                <a:spcPct val="80000"/>
              </a:lnSpc>
              <a:defRPr/>
            </a:pPr>
            <a:r>
              <a:rPr lang="en-US" sz="2400" dirty="0"/>
              <a:t>Example, one task may produce data at a constant 100 units per second, whereas another may consume these data at a rate less than 100 units per second. </a:t>
            </a:r>
          </a:p>
          <a:p>
            <a:pPr lvl="1" eaLnBrk="1" hangingPunct="1">
              <a:lnSpc>
                <a:spcPct val="80000"/>
              </a:lnSpc>
              <a:defRPr/>
            </a:pPr>
            <a:r>
              <a:rPr lang="en-US" sz="2400" dirty="0"/>
              <a:t>Assuming that the production interval is finite (and relatively short), the slower consumption rate can be accommodated if the producer fills a storage buffer with the data.  </a:t>
            </a:r>
          </a:p>
          <a:p>
            <a:pPr lvl="1" eaLnBrk="1" hangingPunct="1">
              <a:lnSpc>
                <a:spcPct val="80000"/>
              </a:lnSpc>
              <a:defRPr/>
            </a:pPr>
            <a:r>
              <a:rPr lang="en-US" sz="2400" dirty="0"/>
              <a:t>The buffer holds the excess data until the consumer task can catch up. </a:t>
            </a:r>
          </a:p>
          <a:p>
            <a:pPr lvl="1" eaLnBrk="1" hangingPunct="1">
              <a:lnSpc>
                <a:spcPct val="80000"/>
              </a:lnSpc>
              <a:defRPr/>
            </a:pPr>
            <a:r>
              <a:rPr lang="en-US" sz="2400" dirty="0"/>
              <a:t>The buffer can be a queue or other data structure, including an unorganized mass of variables.  </a:t>
            </a:r>
          </a:p>
          <a:p>
            <a:pPr lvl="1" eaLnBrk="1" hangingPunct="1">
              <a:lnSpc>
                <a:spcPct val="80000"/>
              </a:lnSpc>
              <a:defRPr/>
            </a:pPr>
            <a:r>
              <a:rPr lang="en-US" sz="2400" dirty="0"/>
              <a:t>If consumer task consumes this information faster than it can be produced, or if the consumer cannot keep up with the producer, problems occur.  </a:t>
            </a:r>
          </a:p>
          <a:p>
            <a:pPr eaLnBrk="1" hangingPunct="1">
              <a:lnSpc>
                <a:spcPct val="80000"/>
              </a:lnSpc>
              <a:defRPr/>
            </a:pPr>
            <a:r>
              <a:rPr lang="en-US" sz="2400" dirty="0"/>
              <a:t>Selection of the appropriate size buffer and synchronization mechanisms is critical in reducing or eliminating these problems.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a:xfrm>
            <a:off x="1143000" y="152400"/>
            <a:ext cx="7790688" cy="762000"/>
          </a:xfrm>
        </p:spPr>
        <p:txBody>
          <a:bodyPr>
            <a:normAutofit/>
          </a:bodyPr>
          <a:lstStyle/>
          <a:p>
            <a:pPr eaLnBrk="1" hangingPunct="1">
              <a:defRPr/>
            </a:pPr>
            <a:r>
              <a:rPr lang="en-US" dirty="0"/>
              <a:t>Pipes</a:t>
            </a:r>
          </a:p>
        </p:txBody>
      </p:sp>
      <p:sp>
        <p:nvSpPr>
          <p:cNvPr id="27651" name="Rectangle 3"/>
          <p:cNvSpPr>
            <a:spLocks noGrp="1"/>
          </p:cNvSpPr>
          <p:nvPr>
            <p:ph type="body" idx="1"/>
          </p:nvPr>
        </p:nvSpPr>
        <p:spPr>
          <a:xfrm>
            <a:off x="1143000" y="990600"/>
            <a:ext cx="7790688" cy="5638800"/>
          </a:xfrm>
        </p:spPr>
        <p:txBody>
          <a:bodyPr>
            <a:normAutofit/>
          </a:bodyPr>
          <a:lstStyle/>
          <a:p>
            <a:pPr eaLnBrk="1" hangingPunct="1">
              <a:lnSpc>
                <a:spcPct val="90000"/>
              </a:lnSpc>
              <a:buFont typeface="Wingdings" pitchFamily="2" charset="2"/>
              <a:buChar char="v"/>
              <a:defRPr/>
            </a:pPr>
            <a:r>
              <a:rPr lang="en-US" sz="2400" dirty="0"/>
              <a:t>Pipes are like message-queue functions.</a:t>
            </a:r>
          </a:p>
          <a:p>
            <a:pPr eaLnBrk="1" hangingPunct="1">
              <a:lnSpc>
                <a:spcPct val="90000"/>
              </a:lnSpc>
              <a:buFont typeface="Wingdings" pitchFamily="2" charset="2"/>
              <a:buChar char="v"/>
              <a:defRPr/>
            </a:pPr>
            <a:r>
              <a:rPr lang="en-US" sz="2400" dirty="0"/>
              <a:t>A message pipe or simply pipe in strict sense is an IPC queue between two given inter-connected tasks or two sets of tasks.</a:t>
            </a:r>
          </a:p>
          <a:p>
            <a:pPr eaLnBrk="1" hangingPunct="1">
              <a:lnSpc>
                <a:spcPct val="90000"/>
              </a:lnSpc>
              <a:buFont typeface="Wingdings" pitchFamily="2" charset="2"/>
              <a:buChar char="v"/>
              <a:defRPr/>
            </a:pPr>
            <a:r>
              <a:rPr lang="en-US" sz="2400" dirty="0"/>
              <a:t>Unlike queues and mailboxes, pipes have unlimited size.</a:t>
            </a:r>
          </a:p>
          <a:p>
            <a:pPr eaLnBrk="1" hangingPunct="1">
              <a:lnSpc>
                <a:spcPct val="90000"/>
              </a:lnSpc>
              <a:buFont typeface="Wingdings" pitchFamily="2" charset="2"/>
              <a:buChar char="v"/>
              <a:defRPr/>
            </a:pPr>
            <a:r>
              <a:rPr lang="en-US" sz="2400" dirty="0"/>
              <a:t>In a pipe there may be no fixed number of bytes per message.</a:t>
            </a:r>
          </a:p>
          <a:p>
            <a:pPr eaLnBrk="1" hangingPunct="1">
              <a:lnSpc>
                <a:spcPct val="90000"/>
              </a:lnSpc>
              <a:buNone/>
              <a:defRPr/>
            </a:pPr>
            <a:r>
              <a:rPr lang="en-US" sz="2400" dirty="0"/>
              <a:t>Example: client-server network.</a:t>
            </a:r>
          </a:p>
          <a:p>
            <a:pPr lvl="1">
              <a:lnSpc>
                <a:spcPct val="90000"/>
              </a:lnSpc>
              <a:buFont typeface="Wingdings" pitchFamily="2" charset="2"/>
              <a:buChar char="ü"/>
              <a:defRPr/>
            </a:pPr>
            <a:r>
              <a:rPr lang="en-US" sz="2400" dirty="0"/>
              <a:t>Task-to-task and ISR-to-task data transfer can take place using pipes.</a:t>
            </a:r>
          </a:p>
          <a:p>
            <a:pPr eaLnBrk="1" hangingPunct="1">
              <a:lnSpc>
                <a:spcPct val="90000"/>
              </a:lnSpc>
              <a:buNone/>
              <a:defRPr/>
            </a:pPr>
            <a:endParaRPr lang="en-US" dirty="0"/>
          </a:p>
          <a:p>
            <a:pPr eaLnBrk="1" hangingPunct="1">
              <a:lnSpc>
                <a:spcPct val="90000"/>
              </a:lnSpc>
              <a:buFont typeface="Arial" charset="0"/>
              <a:buNone/>
              <a:defRPr/>
            </a:pPr>
            <a:endParaRPr lang="en-US" dirty="0"/>
          </a:p>
        </p:txBody>
      </p:sp>
      <p:sp>
        <p:nvSpPr>
          <p:cNvPr id="4" name="AutoShape 5"/>
          <p:cNvSpPr>
            <a:spLocks noChangeArrowheads="1"/>
          </p:cNvSpPr>
          <p:nvPr/>
        </p:nvSpPr>
        <p:spPr bwMode="auto">
          <a:xfrm>
            <a:off x="3581400" y="5181600"/>
            <a:ext cx="3581400" cy="533400"/>
          </a:xfrm>
          <a:prstGeom prst="flowChartTerminator">
            <a:avLst/>
          </a:prstGeom>
          <a:solidFill>
            <a:schemeClr val="accent1"/>
          </a:solidFill>
          <a:ln w="9525">
            <a:solidFill>
              <a:schemeClr val="tx1"/>
            </a:solidFill>
            <a:miter lim="800000"/>
            <a:headEnd/>
            <a:tailEnd/>
          </a:ln>
        </p:spPr>
        <p:txBody>
          <a:bodyPr wrap="none" anchor="ctr"/>
          <a:lstStyle/>
          <a:p>
            <a:endParaRPr lang="en-US"/>
          </a:p>
        </p:txBody>
      </p:sp>
      <p:sp>
        <p:nvSpPr>
          <p:cNvPr id="5" name="Rectangle 6"/>
          <p:cNvSpPr>
            <a:spLocks noChangeArrowheads="1"/>
          </p:cNvSpPr>
          <p:nvPr/>
        </p:nvSpPr>
        <p:spPr bwMode="auto">
          <a:xfrm>
            <a:off x="7543800" y="5105400"/>
            <a:ext cx="1295400" cy="762000"/>
          </a:xfrm>
          <a:prstGeom prst="rect">
            <a:avLst/>
          </a:prstGeom>
          <a:gradFill rotWithShape="1">
            <a:gsLst>
              <a:gs pos="0">
                <a:schemeClr val="accent2"/>
              </a:gs>
              <a:gs pos="100000">
                <a:schemeClr val="bg1"/>
              </a:gs>
            </a:gsLst>
            <a:lin ang="5400000" scaled="1"/>
          </a:gradFill>
          <a:ln w="9525">
            <a:solidFill>
              <a:schemeClr val="tx1"/>
            </a:solidFill>
            <a:miter lim="800000"/>
            <a:headEnd/>
            <a:tailEnd/>
          </a:ln>
        </p:spPr>
        <p:txBody>
          <a:bodyPr wrap="none" anchor="ctr"/>
          <a:lstStyle/>
          <a:p>
            <a:pPr algn="ctr"/>
            <a:r>
              <a:rPr lang="en-US" dirty="0"/>
              <a:t>Task</a:t>
            </a:r>
          </a:p>
        </p:txBody>
      </p:sp>
      <p:sp>
        <p:nvSpPr>
          <p:cNvPr id="6" name="Line 7"/>
          <p:cNvSpPr>
            <a:spLocks noChangeShapeType="1"/>
          </p:cNvSpPr>
          <p:nvPr/>
        </p:nvSpPr>
        <p:spPr bwMode="auto">
          <a:xfrm>
            <a:off x="2895600" y="5486400"/>
            <a:ext cx="685800" cy="0"/>
          </a:xfrm>
          <a:prstGeom prst="line">
            <a:avLst/>
          </a:prstGeom>
          <a:noFill/>
          <a:ln w="9525">
            <a:solidFill>
              <a:schemeClr val="tx1"/>
            </a:solidFill>
            <a:round/>
            <a:headEnd/>
            <a:tailEnd type="triangle" w="med" len="med"/>
          </a:ln>
        </p:spPr>
        <p:txBody>
          <a:bodyPr/>
          <a:lstStyle/>
          <a:p>
            <a:endParaRPr lang="en-US"/>
          </a:p>
        </p:txBody>
      </p:sp>
      <p:sp>
        <p:nvSpPr>
          <p:cNvPr id="7" name="Line 8"/>
          <p:cNvSpPr>
            <a:spLocks noChangeShapeType="1"/>
          </p:cNvSpPr>
          <p:nvPr/>
        </p:nvSpPr>
        <p:spPr bwMode="auto">
          <a:xfrm>
            <a:off x="7162800" y="5410200"/>
            <a:ext cx="381000" cy="0"/>
          </a:xfrm>
          <a:prstGeom prst="line">
            <a:avLst/>
          </a:prstGeom>
          <a:noFill/>
          <a:ln w="9525">
            <a:solidFill>
              <a:schemeClr val="tx1"/>
            </a:solidFill>
            <a:round/>
            <a:headEnd/>
            <a:tailEnd type="triangle" w="med" len="med"/>
          </a:ln>
        </p:spPr>
        <p:txBody>
          <a:bodyPr/>
          <a:lstStyle/>
          <a:p>
            <a:endParaRPr lang="en-US"/>
          </a:p>
        </p:txBody>
      </p:sp>
      <p:sp>
        <p:nvSpPr>
          <p:cNvPr id="8" name="Text Box 9"/>
          <p:cNvSpPr txBox="1">
            <a:spLocks noChangeArrowheads="1"/>
          </p:cNvSpPr>
          <p:nvPr/>
        </p:nvSpPr>
        <p:spPr bwMode="auto">
          <a:xfrm>
            <a:off x="4327525" y="5791200"/>
            <a:ext cx="1905000" cy="366713"/>
          </a:xfrm>
          <a:prstGeom prst="rect">
            <a:avLst/>
          </a:prstGeom>
          <a:noFill/>
          <a:ln w="9525">
            <a:noFill/>
            <a:miter lim="800000"/>
            <a:headEnd/>
            <a:tailEnd/>
          </a:ln>
        </p:spPr>
        <p:txBody>
          <a:bodyPr>
            <a:spAutoFit/>
          </a:bodyPr>
          <a:lstStyle/>
          <a:p>
            <a:pPr>
              <a:spcBef>
                <a:spcPct val="50000"/>
              </a:spcBef>
            </a:pPr>
            <a:r>
              <a:rPr lang="en-US"/>
              <a:t>          Pipe</a:t>
            </a:r>
          </a:p>
        </p:txBody>
      </p:sp>
      <p:sp>
        <p:nvSpPr>
          <p:cNvPr id="9" name="Text Box 10"/>
          <p:cNvSpPr txBox="1">
            <a:spLocks noChangeArrowheads="1"/>
          </p:cNvSpPr>
          <p:nvPr/>
        </p:nvSpPr>
        <p:spPr bwMode="auto">
          <a:xfrm>
            <a:off x="1736725" y="5195888"/>
            <a:ext cx="685800" cy="366712"/>
          </a:xfrm>
          <a:prstGeom prst="rect">
            <a:avLst/>
          </a:prstGeom>
          <a:noFill/>
          <a:ln w="9525">
            <a:noFill/>
            <a:miter lim="800000"/>
            <a:headEnd/>
            <a:tailEnd/>
          </a:ln>
        </p:spPr>
        <p:txBody>
          <a:bodyPr>
            <a:spAutoFit/>
          </a:bodyPr>
          <a:lstStyle/>
          <a:p>
            <a:pPr>
              <a:spcBef>
                <a:spcPct val="50000"/>
              </a:spcBef>
            </a:pPr>
            <a:r>
              <a:rPr lang="en-US"/>
              <a:t>Task</a:t>
            </a:r>
          </a:p>
        </p:txBody>
      </p:sp>
      <p:sp>
        <p:nvSpPr>
          <p:cNvPr id="10" name="Text Box 12"/>
          <p:cNvSpPr txBox="1">
            <a:spLocks noChangeArrowheads="1"/>
          </p:cNvSpPr>
          <p:nvPr/>
        </p:nvSpPr>
        <p:spPr bwMode="auto">
          <a:xfrm>
            <a:off x="1752600" y="5980113"/>
            <a:ext cx="1447800" cy="646331"/>
          </a:xfrm>
          <a:prstGeom prst="rect">
            <a:avLst/>
          </a:prstGeom>
          <a:noFill/>
          <a:ln w="9525">
            <a:noFill/>
            <a:miter lim="800000"/>
            <a:headEnd/>
            <a:tailEnd/>
          </a:ln>
        </p:spPr>
        <p:txBody>
          <a:bodyPr wrap="square">
            <a:spAutoFit/>
          </a:bodyPr>
          <a:lstStyle/>
          <a:p>
            <a:r>
              <a:rPr lang="en-US" dirty="0"/>
              <a:t>Write data to pipe</a:t>
            </a:r>
          </a:p>
        </p:txBody>
      </p:sp>
      <p:sp>
        <p:nvSpPr>
          <p:cNvPr id="11" name="Text Box 13"/>
          <p:cNvSpPr txBox="1">
            <a:spLocks noChangeArrowheads="1"/>
          </p:cNvSpPr>
          <p:nvPr/>
        </p:nvSpPr>
        <p:spPr bwMode="auto">
          <a:xfrm>
            <a:off x="7680325" y="5943600"/>
            <a:ext cx="1463675" cy="641350"/>
          </a:xfrm>
          <a:prstGeom prst="rect">
            <a:avLst/>
          </a:prstGeom>
          <a:noFill/>
          <a:ln w="9525">
            <a:noFill/>
            <a:miter lim="800000"/>
            <a:headEnd/>
            <a:tailEnd/>
          </a:ln>
        </p:spPr>
        <p:txBody>
          <a:bodyPr>
            <a:spAutoFit/>
          </a:bodyPr>
          <a:lstStyle/>
          <a:p>
            <a:r>
              <a:rPr lang="en-US" dirty="0"/>
              <a:t>Reads data from pipe</a:t>
            </a:r>
          </a:p>
        </p:txBody>
      </p:sp>
      <p:sp>
        <p:nvSpPr>
          <p:cNvPr id="13" name="Rectangle 6"/>
          <p:cNvSpPr>
            <a:spLocks noChangeArrowheads="1"/>
          </p:cNvSpPr>
          <p:nvPr/>
        </p:nvSpPr>
        <p:spPr bwMode="auto">
          <a:xfrm>
            <a:off x="1600200" y="5105400"/>
            <a:ext cx="1295400" cy="762000"/>
          </a:xfrm>
          <a:prstGeom prst="rect">
            <a:avLst/>
          </a:prstGeom>
          <a:gradFill rotWithShape="1">
            <a:gsLst>
              <a:gs pos="0">
                <a:schemeClr val="accent2"/>
              </a:gs>
              <a:gs pos="100000">
                <a:schemeClr val="bg1"/>
              </a:gs>
            </a:gsLst>
            <a:lin ang="5400000" scaled="1"/>
          </a:gradFill>
          <a:ln w="9525">
            <a:solidFill>
              <a:schemeClr val="tx1"/>
            </a:solidFill>
            <a:miter lim="800000"/>
            <a:headEnd/>
            <a:tailEnd/>
          </a:ln>
        </p:spPr>
        <p:txBody>
          <a:bodyPr wrap="none" anchor="ctr"/>
          <a:lstStyle/>
          <a:p>
            <a:pPr algn="ctr"/>
            <a:r>
              <a:rPr lang="en-US" dirty="0"/>
              <a:t>Task</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a:xfrm>
            <a:off x="1435608" y="274638"/>
            <a:ext cx="7498080" cy="715962"/>
          </a:xfrm>
        </p:spPr>
        <p:txBody>
          <a:bodyPr>
            <a:normAutofit fontScale="90000"/>
          </a:bodyPr>
          <a:lstStyle/>
          <a:p>
            <a:pPr eaLnBrk="1" hangingPunct="1">
              <a:defRPr/>
            </a:pPr>
            <a:r>
              <a:rPr lang="en-US" sz="4000" dirty="0"/>
              <a:t>Pipes for inter-process communication</a:t>
            </a:r>
          </a:p>
        </p:txBody>
      </p:sp>
      <p:sp>
        <p:nvSpPr>
          <p:cNvPr id="29699" name="Rectangle 3"/>
          <p:cNvSpPr>
            <a:spLocks noGrp="1"/>
          </p:cNvSpPr>
          <p:nvPr>
            <p:ph type="body" idx="1"/>
          </p:nvPr>
        </p:nvSpPr>
        <p:spPr>
          <a:xfrm>
            <a:off x="1066800" y="914400"/>
            <a:ext cx="7866888" cy="5715000"/>
          </a:xfrm>
        </p:spPr>
        <p:txBody>
          <a:bodyPr>
            <a:normAutofit fontScale="92500" lnSpcReduction="10000"/>
          </a:bodyPr>
          <a:lstStyle/>
          <a:p>
            <a:pPr eaLnBrk="1" hangingPunct="1">
              <a:defRPr/>
            </a:pPr>
            <a:endParaRPr lang="en-US" sz="2800" dirty="0"/>
          </a:p>
          <a:p>
            <a:pPr eaLnBrk="1" hangingPunct="1">
              <a:defRPr/>
            </a:pPr>
            <a:endParaRPr lang="en-US" sz="2800" dirty="0"/>
          </a:p>
          <a:p>
            <a:pPr eaLnBrk="1" hangingPunct="1">
              <a:defRPr/>
            </a:pPr>
            <a:endParaRPr lang="en-US" sz="2800" dirty="0"/>
          </a:p>
          <a:p>
            <a:pPr eaLnBrk="1" hangingPunct="1">
              <a:defRPr/>
            </a:pPr>
            <a:endParaRPr lang="en-US" sz="2800" dirty="0"/>
          </a:p>
          <a:p>
            <a:pPr eaLnBrk="1" hangingPunct="1">
              <a:defRPr/>
            </a:pPr>
            <a:r>
              <a:rPr lang="en-US" sz="2800" dirty="0"/>
              <a:t>Pipes can be used for inter-process communication.</a:t>
            </a:r>
          </a:p>
          <a:p>
            <a:pPr eaLnBrk="1" hangingPunct="1">
              <a:defRPr/>
            </a:pPr>
            <a:r>
              <a:rPr lang="en-US" sz="2800" dirty="0"/>
              <a:t>One task may send the data packets through one pipe and the other task may send acknowledgements through the other</a:t>
            </a:r>
          </a:p>
          <a:p>
            <a:pPr marL="609600" indent="-609600">
              <a:buNone/>
              <a:defRPr/>
            </a:pPr>
            <a:r>
              <a:rPr lang="en-US" sz="2400" b="1" dirty="0"/>
              <a:t>While using a pipe </a:t>
            </a:r>
            <a:r>
              <a:rPr lang="en-US" sz="2800" b="1" dirty="0"/>
              <a:t>you have to define</a:t>
            </a:r>
          </a:p>
          <a:p>
            <a:pPr marL="1542288" lvl="4" indent="-609600">
              <a:buFontTx/>
              <a:buAutoNum type="arabicPeriod"/>
              <a:defRPr/>
            </a:pPr>
            <a:r>
              <a:rPr lang="en-US" sz="2800" dirty="0"/>
              <a:t>Pipe ID</a:t>
            </a:r>
          </a:p>
          <a:p>
            <a:pPr marL="1542288" lvl="4" indent="-609600">
              <a:buFontTx/>
              <a:buAutoNum type="arabicPeriod"/>
              <a:defRPr/>
            </a:pPr>
            <a:r>
              <a:rPr lang="en-US" sz="2800" dirty="0"/>
              <a:t>Length</a:t>
            </a:r>
          </a:p>
          <a:p>
            <a:pPr marL="1542288" lvl="4" indent="-609600">
              <a:buFontTx/>
              <a:buAutoNum type="arabicPeriod"/>
              <a:defRPr/>
            </a:pPr>
            <a:r>
              <a:rPr lang="en-US" sz="2800" dirty="0"/>
              <a:t>Maximum length (not defined in some RTOS)</a:t>
            </a:r>
          </a:p>
          <a:p>
            <a:pPr marL="1542288" lvl="4" indent="-609600">
              <a:buFontTx/>
              <a:buAutoNum type="arabicPeriod"/>
              <a:defRPr/>
            </a:pPr>
            <a:r>
              <a:rPr lang="en-US" sz="2800" dirty="0"/>
              <a:t>Initial values</a:t>
            </a:r>
          </a:p>
        </p:txBody>
      </p:sp>
      <p:sp>
        <p:nvSpPr>
          <p:cNvPr id="46084" name="Rectangle 4"/>
          <p:cNvSpPr>
            <a:spLocks noChangeArrowheads="1"/>
          </p:cNvSpPr>
          <p:nvPr/>
        </p:nvSpPr>
        <p:spPr bwMode="auto">
          <a:xfrm>
            <a:off x="1143000" y="990600"/>
            <a:ext cx="1219200" cy="1524000"/>
          </a:xfrm>
          <a:prstGeom prst="rect">
            <a:avLst/>
          </a:prstGeom>
          <a:gradFill rotWithShape="1">
            <a:gsLst>
              <a:gs pos="0">
                <a:schemeClr val="accent2"/>
              </a:gs>
              <a:gs pos="100000">
                <a:schemeClr val="bg1"/>
              </a:gs>
            </a:gsLst>
            <a:lin ang="5400000" scaled="1"/>
          </a:gradFill>
          <a:ln w="9525">
            <a:solidFill>
              <a:srgbClr val="FF9900"/>
            </a:solidFill>
            <a:miter lim="800000"/>
            <a:headEnd/>
            <a:tailEnd/>
          </a:ln>
        </p:spPr>
        <p:txBody>
          <a:bodyPr wrap="none" anchor="ctr"/>
          <a:lstStyle/>
          <a:p>
            <a:pPr algn="ctr"/>
            <a:endParaRPr lang="en-US">
              <a:solidFill>
                <a:schemeClr val="bg1"/>
              </a:solidFill>
            </a:endParaRPr>
          </a:p>
        </p:txBody>
      </p:sp>
      <p:sp>
        <p:nvSpPr>
          <p:cNvPr id="46085" name="AutoShape 5"/>
          <p:cNvSpPr>
            <a:spLocks noChangeArrowheads="1"/>
          </p:cNvSpPr>
          <p:nvPr/>
        </p:nvSpPr>
        <p:spPr bwMode="auto">
          <a:xfrm>
            <a:off x="3048000" y="1219200"/>
            <a:ext cx="3581400" cy="533400"/>
          </a:xfrm>
          <a:prstGeom prst="flowChartTerminator">
            <a:avLst/>
          </a:prstGeom>
          <a:solidFill>
            <a:schemeClr val="accent1"/>
          </a:solidFill>
          <a:ln w="9525">
            <a:solidFill>
              <a:schemeClr val="tx1"/>
            </a:solidFill>
            <a:miter lim="800000"/>
            <a:headEnd/>
            <a:tailEnd/>
          </a:ln>
        </p:spPr>
        <p:txBody>
          <a:bodyPr wrap="none" anchor="ctr"/>
          <a:lstStyle/>
          <a:p>
            <a:endParaRPr lang="en-US"/>
          </a:p>
        </p:txBody>
      </p:sp>
      <p:sp>
        <p:nvSpPr>
          <p:cNvPr id="46086" name="Rectangle 6"/>
          <p:cNvSpPr>
            <a:spLocks noChangeArrowheads="1"/>
          </p:cNvSpPr>
          <p:nvPr/>
        </p:nvSpPr>
        <p:spPr bwMode="auto">
          <a:xfrm>
            <a:off x="7239000" y="1143000"/>
            <a:ext cx="1295400" cy="1524000"/>
          </a:xfrm>
          <a:prstGeom prst="rect">
            <a:avLst/>
          </a:prstGeom>
          <a:gradFill rotWithShape="1">
            <a:gsLst>
              <a:gs pos="0">
                <a:schemeClr val="accent2"/>
              </a:gs>
              <a:gs pos="100000">
                <a:schemeClr val="bg1"/>
              </a:gs>
            </a:gsLst>
            <a:lin ang="5400000" scaled="1"/>
          </a:gradFill>
          <a:ln w="9525">
            <a:solidFill>
              <a:schemeClr val="tx1"/>
            </a:solidFill>
            <a:miter lim="800000"/>
            <a:headEnd/>
            <a:tailEnd/>
          </a:ln>
        </p:spPr>
        <p:txBody>
          <a:bodyPr wrap="none" anchor="ctr"/>
          <a:lstStyle/>
          <a:p>
            <a:pPr algn="ctr"/>
            <a:r>
              <a:rPr lang="en-US"/>
              <a:t>Task</a:t>
            </a:r>
          </a:p>
        </p:txBody>
      </p:sp>
      <p:sp>
        <p:nvSpPr>
          <p:cNvPr id="46087" name="Line 7"/>
          <p:cNvSpPr>
            <a:spLocks noChangeShapeType="1"/>
          </p:cNvSpPr>
          <p:nvPr/>
        </p:nvSpPr>
        <p:spPr bwMode="auto">
          <a:xfrm>
            <a:off x="2209800" y="1524000"/>
            <a:ext cx="914400" cy="0"/>
          </a:xfrm>
          <a:prstGeom prst="line">
            <a:avLst/>
          </a:prstGeom>
          <a:noFill/>
          <a:ln w="9525">
            <a:solidFill>
              <a:schemeClr val="tx1"/>
            </a:solidFill>
            <a:round/>
            <a:headEnd/>
            <a:tailEnd type="triangle" w="med" len="med"/>
          </a:ln>
        </p:spPr>
        <p:txBody>
          <a:bodyPr/>
          <a:lstStyle/>
          <a:p>
            <a:endParaRPr lang="en-US"/>
          </a:p>
        </p:txBody>
      </p:sp>
      <p:sp>
        <p:nvSpPr>
          <p:cNvPr id="46088" name="Line 8"/>
          <p:cNvSpPr>
            <a:spLocks noChangeShapeType="1"/>
          </p:cNvSpPr>
          <p:nvPr/>
        </p:nvSpPr>
        <p:spPr bwMode="auto">
          <a:xfrm>
            <a:off x="6629400" y="1524000"/>
            <a:ext cx="609600" cy="0"/>
          </a:xfrm>
          <a:prstGeom prst="line">
            <a:avLst/>
          </a:prstGeom>
          <a:noFill/>
          <a:ln w="9525">
            <a:solidFill>
              <a:schemeClr val="tx1"/>
            </a:solidFill>
            <a:round/>
            <a:headEnd/>
            <a:tailEnd type="triangle" w="med" len="med"/>
          </a:ln>
        </p:spPr>
        <p:txBody>
          <a:bodyPr/>
          <a:lstStyle/>
          <a:p>
            <a:endParaRPr lang="en-US"/>
          </a:p>
        </p:txBody>
      </p:sp>
      <p:sp>
        <p:nvSpPr>
          <p:cNvPr id="46089" name="Text Box 10"/>
          <p:cNvSpPr txBox="1">
            <a:spLocks noChangeArrowheads="1"/>
          </p:cNvSpPr>
          <p:nvPr/>
        </p:nvSpPr>
        <p:spPr bwMode="auto">
          <a:xfrm>
            <a:off x="1143000" y="1600200"/>
            <a:ext cx="685800" cy="784830"/>
          </a:xfrm>
          <a:prstGeom prst="rect">
            <a:avLst/>
          </a:prstGeom>
          <a:noFill/>
          <a:ln w="9525">
            <a:noFill/>
            <a:miter lim="800000"/>
            <a:headEnd/>
            <a:tailEnd/>
          </a:ln>
        </p:spPr>
        <p:txBody>
          <a:bodyPr wrap="square">
            <a:spAutoFit/>
          </a:bodyPr>
          <a:lstStyle/>
          <a:p>
            <a:pPr>
              <a:spcBef>
                <a:spcPct val="50000"/>
              </a:spcBef>
            </a:pPr>
            <a:endParaRPr lang="en-US"/>
          </a:p>
          <a:p>
            <a:pPr>
              <a:spcBef>
                <a:spcPct val="50000"/>
              </a:spcBef>
            </a:pPr>
            <a:r>
              <a:rPr lang="en-US"/>
              <a:t>Task</a:t>
            </a:r>
          </a:p>
        </p:txBody>
      </p:sp>
      <p:sp>
        <p:nvSpPr>
          <p:cNvPr id="46090" name="AutoShape 13"/>
          <p:cNvSpPr>
            <a:spLocks noChangeArrowheads="1"/>
          </p:cNvSpPr>
          <p:nvPr/>
        </p:nvSpPr>
        <p:spPr bwMode="auto">
          <a:xfrm>
            <a:off x="3124200" y="2057400"/>
            <a:ext cx="3581400" cy="533400"/>
          </a:xfrm>
          <a:prstGeom prst="flowChartTerminator">
            <a:avLst/>
          </a:prstGeom>
          <a:solidFill>
            <a:schemeClr val="accent1"/>
          </a:solidFill>
          <a:ln w="9525">
            <a:solidFill>
              <a:schemeClr val="tx1"/>
            </a:solidFill>
            <a:miter lim="800000"/>
            <a:headEnd/>
            <a:tailEnd/>
          </a:ln>
        </p:spPr>
        <p:txBody>
          <a:bodyPr wrap="none" anchor="ctr"/>
          <a:lstStyle/>
          <a:p>
            <a:endParaRPr lang="en-US"/>
          </a:p>
        </p:txBody>
      </p:sp>
      <p:sp>
        <p:nvSpPr>
          <p:cNvPr id="46091" name="Line 14"/>
          <p:cNvSpPr>
            <a:spLocks noChangeShapeType="1"/>
          </p:cNvSpPr>
          <p:nvPr/>
        </p:nvSpPr>
        <p:spPr bwMode="auto">
          <a:xfrm flipH="1">
            <a:off x="2362200" y="2286000"/>
            <a:ext cx="762000" cy="0"/>
          </a:xfrm>
          <a:prstGeom prst="line">
            <a:avLst/>
          </a:prstGeom>
          <a:noFill/>
          <a:ln w="9525">
            <a:solidFill>
              <a:schemeClr val="tx1"/>
            </a:solidFill>
            <a:round/>
            <a:headEnd/>
            <a:tailEnd type="triangle" w="med" len="med"/>
          </a:ln>
        </p:spPr>
        <p:txBody>
          <a:bodyPr/>
          <a:lstStyle/>
          <a:p>
            <a:endParaRPr lang="en-US"/>
          </a:p>
        </p:txBody>
      </p:sp>
      <p:sp>
        <p:nvSpPr>
          <p:cNvPr id="46092" name="Line 15"/>
          <p:cNvSpPr>
            <a:spLocks noChangeShapeType="1"/>
          </p:cNvSpPr>
          <p:nvPr/>
        </p:nvSpPr>
        <p:spPr bwMode="auto">
          <a:xfrm flipH="1">
            <a:off x="6705600" y="2362200"/>
            <a:ext cx="533400" cy="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228600"/>
            <a:ext cx="5410200" cy="609600"/>
          </a:xfrm>
        </p:spPr>
        <p:txBody>
          <a:bodyPr>
            <a:normAutofit fontScale="90000"/>
          </a:bodyPr>
          <a:lstStyle/>
          <a:p>
            <a:pPr>
              <a:defRPr/>
            </a:pPr>
            <a:r>
              <a:rPr lang="en-US" dirty="0"/>
              <a:t>Memory Management</a:t>
            </a:r>
          </a:p>
        </p:txBody>
      </p:sp>
      <p:sp>
        <p:nvSpPr>
          <p:cNvPr id="3" name="Subtitle 2"/>
          <p:cNvSpPr>
            <a:spLocks noGrp="1"/>
          </p:cNvSpPr>
          <p:nvPr>
            <p:ph type="subTitle" idx="1"/>
          </p:nvPr>
        </p:nvSpPr>
        <p:spPr>
          <a:xfrm>
            <a:off x="990600" y="990600"/>
            <a:ext cx="8153400" cy="5638800"/>
          </a:xfrm>
        </p:spPr>
        <p:txBody>
          <a:bodyPr>
            <a:noAutofit/>
          </a:bodyPr>
          <a:lstStyle/>
          <a:p>
            <a:pPr algn="l">
              <a:buFont typeface="Wingdings" pitchFamily="2" charset="2"/>
              <a:buChar char="Ø"/>
              <a:defRPr/>
            </a:pPr>
            <a:r>
              <a:rPr lang="en-US" dirty="0"/>
              <a:t>some embedded systems are locked away and </a:t>
            </a:r>
            <a:r>
              <a:rPr lang="en-US" sz="3000" dirty="0"/>
              <a:t>expected to run for years on end without being rebooted. </a:t>
            </a:r>
          </a:p>
          <a:p>
            <a:pPr algn="l">
              <a:buFont typeface="Wingdings" pitchFamily="2" charset="2"/>
              <a:buChar char="Ø"/>
              <a:defRPr/>
            </a:pPr>
            <a:r>
              <a:rPr lang="en-US" dirty="0"/>
              <a:t>If we use conventional memory-management schemes to control memory allocation, we can end up with fragmented memory which can take valuable time to defragment and really is a major problem for tasks that are </a:t>
            </a:r>
            <a:r>
              <a:rPr lang="en-US" dirty="0">
                <a:solidFill>
                  <a:srgbClr val="FF0000"/>
                </a:solidFill>
              </a:rPr>
              <a:t>time-sensitive.</a:t>
            </a:r>
            <a:r>
              <a:rPr lang="en-US" dirty="0"/>
              <a:t> </a:t>
            </a:r>
          </a:p>
          <a:p>
            <a:pPr algn="l">
              <a:buFont typeface="Wingdings" pitchFamily="2" charset="2"/>
              <a:buChar char="Ø"/>
              <a:defRPr/>
            </a:pPr>
            <a:r>
              <a:rPr lang="en-US" dirty="0"/>
              <a:t>There are a variety of ways to deal with memory:</a:t>
            </a:r>
          </a:p>
          <a:p>
            <a:pPr algn="l">
              <a:defRPr/>
            </a:pPr>
            <a:r>
              <a:rPr lang="en-US" dirty="0"/>
              <a:t>Some systems never do a </a:t>
            </a:r>
            <a:r>
              <a:rPr lang="en-US" b="1" dirty="0" err="1"/>
              <a:t>malloc</a:t>
            </a:r>
            <a:r>
              <a:rPr lang="en-US" b="1" dirty="0"/>
              <a:t>() or free() -- </a:t>
            </a:r>
            <a:r>
              <a:rPr lang="en-US" dirty="0"/>
              <a:t>all memory is allocated at compile time.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52400"/>
            <a:ext cx="7497763" cy="838200"/>
          </a:xfrm>
        </p:spPr>
        <p:txBody>
          <a:bodyPr/>
          <a:lstStyle/>
          <a:p>
            <a:pPr>
              <a:defRPr/>
            </a:pPr>
            <a:r>
              <a:rPr lang="en-US" dirty="0"/>
              <a:t>Others</a:t>
            </a:r>
          </a:p>
        </p:txBody>
      </p:sp>
      <p:sp>
        <p:nvSpPr>
          <p:cNvPr id="3" name="Content Placeholder 2"/>
          <p:cNvSpPr>
            <a:spLocks noGrp="1"/>
          </p:cNvSpPr>
          <p:nvPr>
            <p:ph idx="1"/>
          </p:nvPr>
        </p:nvSpPr>
        <p:spPr>
          <a:xfrm>
            <a:off x="990600" y="914400"/>
            <a:ext cx="7802880" cy="5562600"/>
          </a:xfrm>
        </p:spPr>
        <p:txBody>
          <a:bodyPr>
            <a:normAutofit fontScale="70000" lnSpcReduction="20000"/>
          </a:bodyPr>
          <a:lstStyle/>
          <a:p>
            <a:pPr>
              <a:defRPr/>
            </a:pPr>
            <a:r>
              <a:rPr lang="en-US" dirty="0"/>
              <a:t>In addition to kernel services, many RTOSs offer a number of optional add-on operating system components for such </a:t>
            </a:r>
            <a:br>
              <a:rPr lang="en-US" dirty="0"/>
            </a:br>
            <a:r>
              <a:rPr lang="en-US" dirty="0"/>
              <a:t>high-level services as:</a:t>
            </a:r>
          </a:p>
          <a:p>
            <a:pPr lvl="6">
              <a:buFont typeface="Wingdings" pitchFamily="2" charset="2"/>
              <a:buChar char="ü"/>
              <a:defRPr/>
            </a:pPr>
            <a:r>
              <a:rPr lang="en-US" sz="3100" dirty="0"/>
              <a:t> file system organization,</a:t>
            </a:r>
            <a:r>
              <a:rPr lang="en-US" dirty="0"/>
              <a:t> </a:t>
            </a:r>
          </a:p>
          <a:p>
            <a:pPr lvl="6">
              <a:buFont typeface="Wingdings" pitchFamily="2" charset="2"/>
              <a:buChar char="ü"/>
              <a:defRPr/>
            </a:pPr>
            <a:r>
              <a:rPr lang="en-US" sz="3100" dirty="0"/>
              <a:t>network communication,</a:t>
            </a:r>
          </a:p>
          <a:p>
            <a:pPr lvl="6">
              <a:buFont typeface="Wingdings" pitchFamily="2" charset="2"/>
              <a:buChar char="ü"/>
              <a:defRPr/>
            </a:pPr>
            <a:r>
              <a:rPr lang="en-US" sz="3100" dirty="0"/>
              <a:t> network management, </a:t>
            </a:r>
          </a:p>
          <a:p>
            <a:pPr lvl="6">
              <a:buFont typeface="Wingdings" pitchFamily="2" charset="2"/>
              <a:buChar char="ü"/>
              <a:defRPr/>
            </a:pPr>
            <a:r>
              <a:rPr lang="en-US" sz="3100" dirty="0"/>
              <a:t>database management, </a:t>
            </a:r>
          </a:p>
          <a:p>
            <a:pPr lvl="6">
              <a:buFont typeface="Wingdings" pitchFamily="2" charset="2"/>
              <a:buChar char="ü"/>
              <a:defRPr/>
            </a:pPr>
            <a:r>
              <a:rPr lang="en-US" sz="3100" dirty="0"/>
              <a:t>user-interface graphics, etc. </a:t>
            </a:r>
          </a:p>
          <a:p>
            <a:pPr>
              <a:buFont typeface="Arial" pitchFamily="34" charset="0"/>
              <a:buChar char="•"/>
              <a:defRPr/>
            </a:pPr>
            <a:r>
              <a:rPr lang="en-US" dirty="0"/>
              <a:t> Although many of these add-on components are much larger and much more complex than the RTOS kernel, they rely on the presence of the RTOS kernel and take advantage of its basic services. </a:t>
            </a:r>
          </a:p>
          <a:p>
            <a:pPr>
              <a:buFont typeface="Arial" pitchFamily="34" charset="0"/>
              <a:buChar char="•"/>
              <a:defRPr/>
            </a:pPr>
            <a:r>
              <a:rPr lang="en-US" dirty="0"/>
              <a:t> Each of these add-on components is included in an embedded system only if its services are needed for implementing the embedded application, in order to keep program memory consumption to a minimum.</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1673</TotalTime>
  <Words>4793</Words>
  <Application>Microsoft Office PowerPoint</Application>
  <PresentationFormat>On-screen Show (4:3)</PresentationFormat>
  <Paragraphs>640</Paragraphs>
  <Slides>74</Slides>
  <Notes>67</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74</vt:i4>
      </vt:variant>
    </vt:vector>
  </HeadingPairs>
  <TitlesOfParts>
    <vt:vector size="86" baseType="lpstr">
      <vt:lpstr>Courier</vt:lpstr>
      <vt:lpstr>굴림</vt:lpstr>
      <vt:lpstr>宋体</vt:lpstr>
      <vt:lpstr>Arial</vt:lpstr>
      <vt:lpstr>Calibri</vt:lpstr>
      <vt:lpstr>Gill Sans MT</vt:lpstr>
      <vt:lpstr>Times New Roman</vt:lpstr>
      <vt:lpstr>Verdana</vt:lpstr>
      <vt:lpstr>Wingdings</vt:lpstr>
      <vt:lpstr>Wingdings 2</vt:lpstr>
      <vt:lpstr>Solstice</vt:lpstr>
      <vt:lpstr>Visio</vt:lpstr>
      <vt:lpstr>By: Gemmachis Teshite (Ass. Prof) CCI </vt:lpstr>
      <vt:lpstr>Outline</vt:lpstr>
      <vt:lpstr>4.1: Introduction</vt:lpstr>
      <vt:lpstr>4.1 Introduction - What is an Operating System?</vt:lpstr>
      <vt:lpstr>4.1 Introduction - What is an Operating System?</vt:lpstr>
      <vt:lpstr>Real Time System</vt:lpstr>
      <vt:lpstr>Types of Real Time Systems</vt:lpstr>
      <vt:lpstr>Definition- Real Time Operating System</vt:lpstr>
      <vt:lpstr>Types of RTOS</vt:lpstr>
      <vt:lpstr>Role of an OS in Real Time Systems</vt:lpstr>
      <vt:lpstr>RTOS and Embedded Systems</vt:lpstr>
      <vt:lpstr>When to use RTOS</vt:lpstr>
      <vt:lpstr>Contd.</vt:lpstr>
      <vt:lpstr>4.2: Context switching Mechanisms </vt:lpstr>
      <vt:lpstr>4.2 Context switching Mechanisms 4.2.1 What is Context Switching?</vt:lpstr>
      <vt:lpstr>Context Switching…</vt:lpstr>
      <vt:lpstr>Context switching….</vt:lpstr>
      <vt:lpstr>Context switching….</vt:lpstr>
      <vt:lpstr>4.2.2 When to switch?</vt:lpstr>
      <vt:lpstr>When to switch?</vt:lpstr>
      <vt:lpstr>When to switch?</vt:lpstr>
      <vt:lpstr>4.2.3 Interrupt service routines(ISR)</vt:lpstr>
      <vt:lpstr>4.2.4 Tasks and Task States</vt:lpstr>
      <vt:lpstr>Tasks and Task States…</vt:lpstr>
      <vt:lpstr>PowerPoint Presentation</vt:lpstr>
      <vt:lpstr>Contd.</vt:lpstr>
      <vt:lpstr>Contd.</vt:lpstr>
      <vt:lpstr>The task control block model</vt:lpstr>
      <vt:lpstr>The task control block model</vt:lpstr>
      <vt:lpstr>4.3. RTOS Kernel </vt:lpstr>
      <vt:lpstr>4.3 RTOS Kernel</vt:lpstr>
      <vt:lpstr>4.3.1    RTOS Kernel Functions</vt:lpstr>
      <vt:lpstr>4.3.1.1 Task Management</vt:lpstr>
      <vt:lpstr>4.3.1.1 Task Management</vt:lpstr>
      <vt:lpstr>Task Scheduling</vt:lpstr>
      <vt:lpstr>Real-Time Task</vt:lpstr>
      <vt:lpstr>4.4. Scheduling Policies </vt:lpstr>
      <vt:lpstr>4.4 Scheduling Policies</vt:lpstr>
      <vt:lpstr>4.4.1 Scheduling Parameters</vt:lpstr>
      <vt:lpstr>4.4.2 Scheduling Algorithms in RTOS</vt:lpstr>
      <vt:lpstr>1. Clock Driven </vt:lpstr>
      <vt:lpstr>2. Weighted Round Robin</vt:lpstr>
      <vt:lpstr>3. Priority Scheduling </vt:lpstr>
      <vt:lpstr>4.5. Message passing and shared memory   communications (RTOS Events) </vt:lpstr>
      <vt:lpstr>4.5 Message passing and shared memory   communications (RTOS Events)</vt:lpstr>
      <vt:lpstr>4.5.1 Signal Event Based Communication</vt:lpstr>
      <vt:lpstr>Contd.</vt:lpstr>
      <vt:lpstr>4.5.2 Message Event Based Communication</vt:lpstr>
      <vt:lpstr>4.5.3 Semaphores</vt:lpstr>
      <vt:lpstr>Semaphores…</vt:lpstr>
      <vt:lpstr>4.5.4 Task Interrupts</vt:lpstr>
      <vt:lpstr>4.6. Inter-process communication(IPC) </vt:lpstr>
      <vt:lpstr>4.6 Inter-process communication(IPC) 4.6.1 What is IPC?</vt:lpstr>
      <vt:lpstr>4.6.2 Two ways for IPC</vt:lpstr>
      <vt:lpstr>4.6.2.2. 1 Mailboxes</vt:lpstr>
      <vt:lpstr>Mailboxes…</vt:lpstr>
      <vt:lpstr>Mailboxes</vt:lpstr>
      <vt:lpstr>Mailbox services provided by the kernel</vt:lpstr>
      <vt:lpstr>Mailbox management functions</vt:lpstr>
      <vt:lpstr>Mailboxes</vt:lpstr>
      <vt:lpstr>4.6.2.2. 2 Message queue</vt:lpstr>
      <vt:lpstr>Features of message queues</vt:lpstr>
      <vt:lpstr>Continued..</vt:lpstr>
      <vt:lpstr>Types</vt:lpstr>
      <vt:lpstr>One way communication with ack</vt:lpstr>
      <vt:lpstr>Two way communication</vt:lpstr>
      <vt:lpstr>Broadcasting</vt:lpstr>
      <vt:lpstr>Kernel message queue services</vt:lpstr>
      <vt:lpstr>Message queue management functions</vt:lpstr>
      <vt:lpstr>Buffering data</vt:lpstr>
      <vt:lpstr>Pipes</vt:lpstr>
      <vt:lpstr>Pipes for inter-process communication</vt:lpstr>
      <vt:lpstr>Memory Management</vt:lpstr>
      <vt:lpstr>Others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 Time System</dc:title>
  <dc:creator>Tsigabu T</dc:creator>
  <cp:lastModifiedBy>Gemmachis Teshite</cp:lastModifiedBy>
  <cp:revision>163</cp:revision>
  <dcterms:created xsi:type="dcterms:W3CDTF">2012-04-27T06:57:12Z</dcterms:created>
  <dcterms:modified xsi:type="dcterms:W3CDTF">2025-05-21T10:40:50Z</dcterms:modified>
</cp:coreProperties>
</file>